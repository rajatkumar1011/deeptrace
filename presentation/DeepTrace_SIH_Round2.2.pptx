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Calibri"/>
              </a:defRPr>
            </a:pPr>
            <a:r>
              <a:rPr sz="1200" b="0" i="0" u="none" strike="noStrike">
                <a:solidFill>
                  <a:srgbClr val="1E2761"/>
                </a:solidFill>
                <a:latin typeface="Calibri"/>
              </a:rPr>
              <a:t>Score stability per transform (visual, n = 16 each)</a:t>
            </a:r>
          </a:p>
        </c:rich>
      </c:tx>
      <c:layout/>
      <c:overlay val="0"/>
    </c:title>
    <c:autoTitleDeleted val="0"/>
    <c:plotArea>
      <c:layout/>
      <c:barChart>
        <c:barDir val="col"/>
        <c:grouping val="clustered"/>
        <c:varyColors val="0"/>
        <c:ser>
          <c:idx val="0"/>
          <c:order val="0"/>
          <c:tx>
            <c:strRef>
              <c:f>Sheet1!$B$1</c:f>
              <c:strCache>
                <c:ptCount val="1"/>
                <c:pt idx="0">
                  <c:v>Decisions preserved</c:v>
                </c:pt>
              </c:strCache>
            </c:strRef>
          </c:tx>
          <c:spPr>
            <a:solidFill>
              <a:srgbClr val="1F6B4D"/>
            </a:solidFill>
            <a:effectLst/>
          </c:spPr>
          <c:invertIfNegative val="0"/>
          <c:dLbls>
            <c:numFmt formatCode="0%" sourceLinked="0"/>
            <c:txPr>
              <a:bodyPr/>
              <a:lstStyle/>
              <a:p>
                <a:pPr>
                  <a:defRPr b="0" i="0" strike="noStrike" sz="1000" u="none">
                    <a:solidFill>
                      <a:srgbClr val="1F6B4D"/>
                    </a:solidFill>
                    <a:latin typeface="Calibri"/>
                  </a:defRPr>
                </a:pPr>
              </a:p>
            </c:txPr>
            <c:showLegendKey val="0"/>
            <c:showVal val="1"/>
            <c:showCatName val="0"/>
            <c:showSerName val="0"/>
            <c:showPercent val="0"/>
            <c:showBubbleSize val="0"/>
            <c:showLeaderLines val="0"/>
          </c:dLbls>
          <c:cat>
            <c:multiLvlStrRef>
              <c:f>Sheet1!$A$2:$A$6</c:f>
              <c:multiLvlStrCache>
                <c:ptCount val="5"/>
                <c:lvl>
                  <c:pt idx="0">
                    <c:v>Screenshot
on 720p</c:v>
                  </c:pt>
                  <c:pt idx="1">
                    <c:v>JPEG q75</c:v>
                  </c:pt>
                  <c:pt idx="2">
                    <c:v>JPEG q40</c:v>
                  </c:pt>
                  <c:pt idx="3">
                    <c:v>Messaging
re-upload</c:v>
                  </c:pt>
                  <c:pt idx="4">
                    <c:v>Double
re-upload</c:v>
                  </c:pt>
                </c:lvl>
              </c:multiLvlStrCache>
            </c:multiLvlStrRef>
          </c:cat>
          <c:val>
            <c:numRef>
              <c:f>Sheet1!$B$2:$B$6</c:f>
              <c:numCache>
                <c:formatCode>General</c:formatCode>
                <c:ptCount val="5"/>
                <c:pt idx="0">
                  <c:v>1</c:v>
                </c:pt>
                <c:pt idx="1">
                  <c:v>0.875</c:v>
                </c:pt>
                <c:pt idx="2">
                  <c:v>0.875</c:v>
                </c:pt>
                <c:pt idx="3">
                  <c:v>0.8125</c:v>
                </c:pt>
                <c:pt idx="4">
                  <c:v>0.8125</c:v>
                </c:pt>
              </c:numCache>
            </c:numRef>
          </c:val>
        </c:ser>
        <c:dLbls>
          <c:numFmt formatCode="0%" sourceLinked="0"/>
          <c:txPr>
            <a:bodyPr/>
            <a:lstStyle/>
            <a:p>
              <a:pPr>
                <a:defRPr b="0" i="0" strike="noStrike" sz="1000" u="none">
                  <a:solidFill>
                    <a:srgbClr val="1F6B4D"/>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A6272"/>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4E9F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A627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 Open on the tagline, not the tech. One sentence: an impersonation victim cannot prove the media is not them, and an investigator cannot act on a screenshot. DeepTrace closes that gap. Do not read the stats aloud — they are there for the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0:30-1:15 | Land the reframe: every competing tool answers 'is this fake'. That is the wrong question — a score proves nothing and names nobody. The victim's question is 'is this me'. Read the scope line at the bottom out loud. Volunteering the limits early buys credibility for every number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1:15-2:15 | Walk the seven rows fast — one clause each, do not read the right column. The sentence that matters is the italic line: nothing was dropped, and unavailable modules say so. If asked to prove 149 tests, you can run pytest live from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2:15-3:00 | ACTION REQUIRED: replace the three amber cells with the evaluator's actual Round 2.1 wording. The middle and right columns are real changes already in the build, so slot the feedback that each one answers. If a piece of feedback has no matching change, say so plainly and give the reason — an honest 'we judged this out of scope because…' scores better than a vague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3:00-3:45 | Say the six verbs in order, then the green line — that sentence is the entire differentiator and the answer to 'how is this different from any deepfake detector'. The checkpoint list at the bottom is proof the pipeline is real and observable, not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3:45-7:00 | THE DEMO. Longest block — 3 minutes 15. Do not narrate every field; drive the seven beats and let the screen talk. Two rules: open a case that already has results in a second browser tab as insurance, and if the reverse-image lookup fails live, say the fallback line out loud rather than clicking around. A graceful truthful degradation is itself a scoring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7:00-7:45 | Read the five layers as a sentence, then spend most of the time on the navy card. Evaluators reward defended simplicity over undefended complexity. The killer line: 'we did not add Postgres or Kubernetes, because for a chain-of-custody argument a network hop is a liability, not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7:45-8:30 | The amber row is the point of this slide. Any team can list four models; almost none will tell you which of their features are heuristics. Say it explicitly: 'the heatmap is a residual visualisation, not a trained mask, and our own UI and PDF say so.' That single admission is worth more in Q&amp;A than the model list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8:30-9:15 | THE HIGH-RISK, HIGH-REWARD SLIDE. Lead with 91.5% and zero false matches — that is the layer the whole thesis rests on. Then go to the amber card BEFORE anyone asks. Exact words: 'our manipulation detector scores 0.47 on an out-of-distribution corpus. We built the harness that found that, we publish it with confidence intervals, and it is the reason this tool reports indicators instead of verdicts.' Teams claiming 99% cannot survive the follow-up question.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9:15-10:00 | Compression is the standard attack on any deepfake tool — get ahead of it. Three columns, one clause each, then the chart. The amber card is the memorable part: compression pushes scores UP, which means the real-world failure mode is false accusation, and we measured that rather than assumed it. Volunteer the 0.375 audio number before anyone finds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10:00-10:40 | This is the slide that separates DeepTrace from a classifier demo. Five integrity guarantees on the left, and — critically — the amber list on the right. Read two or three of the 'do not claim' items aloud. Evaluators in a Defence domain are testing whether you know the difference between evidence and a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10:40-11:20 | Do not read all twelve cells. Read three left-right pairs — rows 1, 3 and 4 — then the navy line, which is the whole pitch in one sentence. If you only have time for one row, use row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11:20-12:00 | Two columns, three clauses each. The strongest single point is zero recurring cost with local checkpoints — that is what makes a state cyber cell deployment realistic. Close on the italic line: a boring scale story is a credible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12:00-12:40 | Counter-intuitive but true: this slide gains marks. Naming six real weaknesses, with figures, proves you understand your own system — and it disarms the entire hostile half of Q&amp;A because you said it first. Deliver it briskly and without apology. Close on the navy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do not present it. Keep it up during Q&amp;A. Split the six questions across the team beforehand so nobody hesitates. The rule at the bottom is the one that actually wins marks: a confident 'we have not measured that' beats an invented number, and an evaluator will test for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12:40-13:00 | Land it in two sentences, using the paragraph on screen. Do not add new information here and do not thank the panel for a full minute — leave the four numbers on screen and take questions. Slide 15 is your Q&amp;A reference; switch to it if the questioning goes technical.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5"/>
        </a:solidFill>
      </p:bgPr>
    </p:bg>
    <p:spTree>
      <p:nvGrpSpPr>
        <p:cNvPr id="1" name=""/>
        <p:cNvGrpSpPr/>
        <p:nvPr/>
      </p:nvGrpSpPr>
      <p:grpSpPr>
        <a:xfrm>
          <a:off x="0" y="0"/>
          <a:ext cx="0" cy="0"/>
          <a:chOff x="0" y="0"/>
          <a:chExt cx="0" cy="0"/>
        </a:xfrm>
      </p:grpSpPr>
      <p:sp>
        <p:nvSpPr>
          <p:cNvPr id="2" name="Text 0"/>
          <p:cNvSpPr/>
          <p:nvPr/>
        </p:nvSpPr>
        <p:spPr>
          <a:xfrm>
            <a:off x="502920" y="1371600"/>
            <a:ext cx="11155680" cy="292608"/>
          </a:xfrm>
          <a:prstGeom prst="rect">
            <a:avLst/>
          </a:prstGeom>
          <a:noFill/>
          <a:ln/>
        </p:spPr>
        <p:txBody>
          <a:bodyPr wrap="square" lIns="0" tIns="0" rIns="0" bIns="0" rtlCol="0" anchor="ctr"/>
          <a:lstStyle/>
          <a:p>
            <a:pPr indent="0" marL="0">
              <a:buNone/>
            </a:pPr>
            <a:r>
              <a:rPr lang="en-US" sz="1350" b="1" spc="140" kern="0" dirty="0">
                <a:solidFill>
                  <a:srgbClr val="8FA6D9"/>
                </a:solidFill>
                <a:latin typeface="Calibri" pitchFamily="34" charset="0"/>
                <a:ea typeface="Calibri" pitchFamily="34" charset="-122"/>
                <a:cs typeface="Calibri" pitchFamily="34" charset="-120"/>
              </a:rPr>
              <a:t>Team Algorythm  ·  SIH26_28  ·  Defence &amp; National Security</a:t>
            </a:r>
            <a:endParaRPr lang="en-US" sz="1350" dirty="0"/>
          </a:p>
        </p:txBody>
      </p:sp>
      <p:sp>
        <p:nvSpPr>
          <p:cNvPr id="3" name="Text 1"/>
          <p:cNvSpPr/>
          <p:nvPr/>
        </p:nvSpPr>
        <p:spPr>
          <a:xfrm>
            <a:off x="502920" y="1783080"/>
            <a:ext cx="11155680" cy="105156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DeepTrace</a:t>
            </a:r>
            <a:endParaRPr lang="en-US" sz="6200" dirty="0"/>
          </a:p>
        </p:txBody>
      </p:sp>
      <p:sp>
        <p:nvSpPr>
          <p:cNvPr id="4" name="Text 2"/>
          <p:cNvSpPr/>
          <p:nvPr/>
        </p:nvSpPr>
        <p:spPr>
          <a:xfrm>
            <a:off x="502920" y="2852928"/>
            <a:ext cx="7863840" cy="914400"/>
          </a:xfrm>
          <a:prstGeom prst="rect">
            <a:avLst/>
          </a:prstGeom>
          <a:noFill/>
          <a:ln/>
        </p:spPr>
        <p:txBody>
          <a:bodyPr wrap="square" lIns="0" tIns="0" rIns="0" bIns="0" rtlCol="0" anchor="ctr"/>
          <a:lstStyle/>
          <a:p>
            <a:pPr indent="0" marL="0">
              <a:lnSpc>
                <a:spcPts val="2800"/>
              </a:lnSpc>
              <a:buNone/>
            </a:pPr>
            <a:r>
              <a:rPr lang="en-US" sz="2100" dirty="0">
                <a:solidFill>
                  <a:srgbClr val="CADCFC"/>
                </a:solidFill>
                <a:latin typeface="Calibri" pitchFamily="34" charset="0"/>
                <a:ea typeface="Calibri" pitchFamily="34" charset="-122"/>
                <a:cs typeface="Calibri" pitchFamily="34" charset="-120"/>
              </a:rPr>
              <a:t>Intelligent Digital Impersonation Detection</a:t>
            </a:r>
            <a:endParaRPr lang="en-US" sz="2100" dirty="0"/>
          </a:p>
          <a:p>
            <a:pPr indent="0" marL="0">
              <a:lnSpc>
                <a:spcPts val="2800"/>
              </a:lnSpc>
              <a:buNone/>
            </a:pPr>
            <a:r>
              <a:rPr lang="en-US" sz="2100" dirty="0">
                <a:solidFill>
                  <a:srgbClr val="CADCFC"/>
                </a:solidFill>
                <a:latin typeface="Calibri" pitchFamily="34" charset="0"/>
                <a:ea typeface="Calibri" pitchFamily="34" charset="-122"/>
                <a:cs typeface="Calibri" pitchFamily="34" charset="-120"/>
              </a:rPr>
              <a:t>&amp; Forensic Evidence Preservation</a:t>
            </a:r>
            <a:endParaRPr lang="en-US" sz="2100" dirty="0"/>
          </a:p>
        </p:txBody>
      </p:sp>
      <p:sp>
        <p:nvSpPr>
          <p:cNvPr id="5" name="Text 3"/>
          <p:cNvSpPr/>
          <p:nvPr/>
        </p:nvSpPr>
        <p:spPr>
          <a:xfrm>
            <a:off x="502920" y="3950208"/>
            <a:ext cx="7863840" cy="731520"/>
          </a:xfrm>
          <a:prstGeom prst="rect">
            <a:avLst/>
          </a:prstGeom>
          <a:noFill/>
          <a:ln/>
        </p:spPr>
        <p:txBody>
          <a:bodyPr wrap="square" lIns="0" tIns="0" rIns="0" bIns="0" rtlCol="0" anchor="ctr"/>
          <a:lstStyle/>
          <a:p>
            <a:pPr indent="0" marL="0">
              <a:lnSpc>
                <a:spcPts val="2200"/>
              </a:lnSpc>
              <a:buNone/>
            </a:pPr>
            <a:r>
              <a:rPr lang="en-US" sz="1550" i="1" dirty="0">
                <a:solidFill>
                  <a:srgbClr val="8FA6D9"/>
                </a:solidFill>
                <a:latin typeface="Cambria" pitchFamily="34" charset="0"/>
                <a:ea typeface="Cambria" pitchFamily="34" charset="-122"/>
                <a:cs typeface="Cambria" pitchFamily="34" charset="-120"/>
              </a:rPr>
              <a:t>Every other tool asks “is this fake?”</a:t>
            </a:r>
            <a:endParaRPr lang="en-US" sz="1550" dirty="0"/>
          </a:p>
          <a:p>
            <a:pPr indent="0" marL="0">
              <a:lnSpc>
                <a:spcPts val="2200"/>
              </a:lnSpc>
              <a:buNone/>
            </a:pPr>
            <a:r>
              <a:rPr lang="en-US" sz="1550" i="1" dirty="0">
                <a:solidFill>
                  <a:srgbClr val="8FA6D9"/>
                </a:solidFill>
                <a:latin typeface="Cambria" pitchFamily="34" charset="0"/>
                <a:ea typeface="Cambria" pitchFamily="34" charset="-122"/>
                <a:cs typeface="Cambria" pitchFamily="34" charset="-120"/>
              </a:rPr>
              <a:t>DeepTrace asks “is this you — and can you prove it?”</a:t>
            </a:r>
            <a:endParaRPr lang="en-US" sz="1550" dirty="0"/>
          </a:p>
        </p:txBody>
      </p:sp>
      <p:sp>
        <p:nvSpPr>
          <p:cNvPr id="6" name="Text 4"/>
          <p:cNvSpPr/>
          <p:nvPr/>
        </p:nvSpPr>
        <p:spPr>
          <a:xfrm>
            <a:off x="502920" y="5074920"/>
            <a:ext cx="1828800" cy="457200"/>
          </a:xfrm>
          <a:prstGeom prst="rect">
            <a:avLst/>
          </a:prstGeom>
          <a:noFill/>
          <a:ln/>
        </p:spPr>
        <p:txBody>
          <a:bodyPr wrap="square" lIns="0" tIns="0" rIns="0" bIns="0" rtlCol="0" anchor="ctr"/>
          <a:lstStyle/>
          <a:p>
            <a:pPr indent="0" marL="0">
              <a:buNone/>
            </a:pPr>
            <a:r>
              <a:rPr lang="en-US" sz="2700" b="1" dirty="0">
                <a:solidFill>
                  <a:srgbClr val="CADCFC"/>
                </a:solidFill>
                <a:latin typeface="Cambria" pitchFamily="34" charset="0"/>
                <a:ea typeface="Cambria" pitchFamily="34" charset="-122"/>
                <a:cs typeface="Cambria" pitchFamily="34" charset="-120"/>
              </a:rPr>
              <a:t>19</a:t>
            </a:r>
            <a:endParaRPr lang="en-US" sz="2700" dirty="0"/>
          </a:p>
        </p:txBody>
      </p:sp>
      <p:sp>
        <p:nvSpPr>
          <p:cNvPr id="7" name="Text 5"/>
          <p:cNvSpPr/>
          <p:nvPr/>
        </p:nvSpPr>
        <p:spPr>
          <a:xfrm>
            <a:off x="502920" y="5522976"/>
            <a:ext cx="1828800" cy="274320"/>
          </a:xfrm>
          <a:prstGeom prst="rect">
            <a:avLst/>
          </a:prstGeom>
          <a:noFill/>
          <a:ln/>
        </p:spPr>
        <p:txBody>
          <a:bodyPr wrap="square" lIns="0" tIns="0" rIns="0" bIns="0" rtlCol="0" anchor="ctr"/>
          <a:lstStyle/>
          <a:p>
            <a:pPr indent="0" marL="0">
              <a:buNone/>
            </a:pPr>
            <a:r>
              <a:rPr lang="en-US" sz="1100" dirty="0">
                <a:solidFill>
                  <a:srgbClr val="8FA6D9"/>
                </a:solidFill>
                <a:latin typeface="Calibri" pitchFamily="34" charset="0"/>
                <a:ea typeface="Calibri" pitchFamily="34" charset="-122"/>
                <a:cs typeface="Calibri" pitchFamily="34" charset="-120"/>
              </a:rPr>
              <a:t>services</a:t>
            </a:r>
            <a:endParaRPr lang="en-US" sz="1100" dirty="0"/>
          </a:p>
        </p:txBody>
      </p:sp>
      <p:sp>
        <p:nvSpPr>
          <p:cNvPr id="8" name="Text 6"/>
          <p:cNvSpPr/>
          <p:nvPr/>
        </p:nvSpPr>
        <p:spPr>
          <a:xfrm>
            <a:off x="2551176" y="5074920"/>
            <a:ext cx="1828800" cy="457200"/>
          </a:xfrm>
          <a:prstGeom prst="rect">
            <a:avLst/>
          </a:prstGeom>
          <a:noFill/>
          <a:ln/>
        </p:spPr>
        <p:txBody>
          <a:bodyPr wrap="square" lIns="0" tIns="0" rIns="0" bIns="0" rtlCol="0" anchor="ctr"/>
          <a:lstStyle/>
          <a:p>
            <a:pPr indent="0" marL="0">
              <a:buNone/>
            </a:pPr>
            <a:r>
              <a:rPr lang="en-US" sz="2700" b="1" dirty="0">
                <a:solidFill>
                  <a:srgbClr val="CADCFC"/>
                </a:solidFill>
                <a:latin typeface="Cambria" pitchFamily="34" charset="0"/>
                <a:ea typeface="Cambria" pitchFamily="34" charset="-122"/>
                <a:cs typeface="Cambria" pitchFamily="34" charset="-120"/>
              </a:rPr>
              <a:t>9,769</a:t>
            </a:r>
            <a:endParaRPr lang="en-US" sz="2700" dirty="0"/>
          </a:p>
        </p:txBody>
      </p:sp>
      <p:sp>
        <p:nvSpPr>
          <p:cNvPr id="9" name="Text 7"/>
          <p:cNvSpPr/>
          <p:nvPr/>
        </p:nvSpPr>
        <p:spPr>
          <a:xfrm>
            <a:off x="2551176" y="5522976"/>
            <a:ext cx="1828800" cy="274320"/>
          </a:xfrm>
          <a:prstGeom prst="rect">
            <a:avLst/>
          </a:prstGeom>
          <a:noFill/>
          <a:ln/>
        </p:spPr>
        <p:txBody>
          <a:bodyPr wrap="square" lIns="0" tIns="0" rIns="0" bIns="0" rtlCol="0" anchor="ctr"/>
          <a:lstStyle/>
          <a:p>
            <a:pPr indent="0" marL="0">
              <a:buNone/>
            </a:pPr>
            <a:r>
              <a:rPr lang="en-US" sz="1100" dirty="0">
                <a:solidFill>
                  <a:srgbClr val="8FA6D9"/>
                </a:solidFill>
                <a:latin typeface="Calibri" pitchFamily="34" charset="0"/>
                <a:ea typeface="Calibri" pitchFamily="34" charset="-122"/>
                <a:cs typeface="Calibri" pitchFamily="34" charset="-120"/>
              </a:rPr>
              <a:t>lines</a:t>
            </a:r>
            <a:endParaRPr lang="en-US" sz="1100" dirty="0"/>
          </a:p>
        </p:txBody>
      </p:sp>
      <p:sp>
        <p:nvSpPr>
          <p:cNvPr id="10" name="Text 8"/>
          <p:cNvSpPr/>
          <p:nvPr/>
        </p:nvSpPr>
        <p:spPr>
          <a:xfrm>
            <a:off x="4599432" y="5074920"/>
            <a:ext cx="1828800" cy="457200"/>
          </a:xfrm>
          <a:prstGeom prst="rect">
            <a:avLst/>
          </a:prstGeom>
          <a:noFill/>
          <a:ln/>
        </p:spPr>
        <p:txBody>
          <a:bodyPr wrap="square" lIns="0" tIns="0" rIns="0" bIns="0" rtlCol="0" anchor="ctr"/>
          <a:lstStyle/>
          <a:p>
            <a:pPr indent="0" marL="0">
              <a:buNone/>
            </a:pPr>
            <a:r>
              <a:rPr lang="en-US" sz="2700" b="1" dirty="0">
                <a:solidFill>
                  <a:srgbClr val="CADCFC"/>
                </a:solidFill>
                <a:latin typeface="Cambria" pitchFamily="34" charset="0"/>
                <a:ea typeface="Cambria" pitchFamily="34" charset="-122"/>
                <a:cs typeface="Cambria" pitchFamily="34" charset="-120"/>
              </a:rPr>
              <a:t>149</a:t>
            </a:r>
            <a:endParaRPr lang="en-US" sz="2700" dirty="0"/>
          </a:p>
        </p:txBody>
      </p:sp>
      <p:sp>
        <p:nvSpPr>
          <p:cNvPr id="11" name="Text 9"/>
          <p:cNvSpPr/>
          <p:nvPr/>
        </p:nvSpPr>
        <p:spPr>
          <a:xfrm>
            <a:off x="4599432" y="5522976"/>
            <a:ext cx="1828800" cy="274320"/>
          </a:xfrm>
          <a:prstGeom prst="rect">
            <a:avLst/>
          </a:prstGeom>
          <a:noFill/>
          <a:ln/>
        </p:spPr>
        <p:txBody>
          <a:bodyPr wrap="square" lIns="0" tIns="0" rIns="0" bIns="0" rtlCol="0" anchor="ctr"/>
          <a:lstStyle/>
          <a:p>
            <a:pPr indent="0" marL="0">
              <a:buNone/>
            </a:pPr>
            <a:r>
              <a:rPr lang="en-US" sz="1100" dirty="0">
                <a:solidFill>
                  <a:srgbClr val="8FA6D9"/>
                </a:solidFill>
                <a:latin typeface="Calibri" pitchFamily="34" charset="0"/>
                <a:ea typeface="Calibri" pitchFamily="34" charset="-122"/>
                <a:cs typeface="Calibri" pitchFamily="34" charset="-120"/>
              </a:rPr>
              <a:t>tests pass</a:t>
            </a:r>
            <a:endParaRPr lang="en-US" sz="1100" dirty="0"/>
          </a:p>
        </p:txBody>
      </p:sp>
      <p:sp>
        <p:nvSpPr>
          <p:cNvPr id="12" name="Text 10"/>
          <p:cNvSpPr/>
          <p:nvPr/>
        </p:nvSpPr>
        <p:spPr>
          <a:xfrm>
            <a:off x="6647688" y="5074920"/>
            <a:ext cx="1828800" cy="457200"/>
          </a:xfrm>
          <a:prstGeom prst="rect">
            <a:avLst/>
          </a:prstGeom>
          <a:noFill/>
          <a:ln/>
        </p:spPr>
        <p:txBody>
          <a:bodyPr wrap="square" lIns="0" tIns="0" rIns="0" bIns="0" rtlCol="0" anchor="ctr"/>
          <a:lstStyle/>
          <a:p>
            <a:pPr indent="0" marL="0">
              <a:buNone/>
            </a:pPr>
            <a:r>
              <a:rPr lang="en-US" sz="2700" b="1" dirty="0">
                <a:solidFill>
                  <a:srgbClr val="CADCFC"/>
                </a:solidFill>
                <a:latin typeface="Cambria" pitchFamily="34" charset="0"/>
                <a:ea typeface="Cambria" pitchFamily="34" charset="-122"/>
                <a:cs typeface="Cambria" pitchFamily="34" charset="-120"/>
              </a:rPr>
              <a:t>23</a:t>
            </a:r>
            <a:endParaRPr lang="en-US" sz="2700" dirty="0"/>
          </a:p>
        </p:txBody>
      </p:sp>
      <p:sp>
        <p:nvSpPr>
          <p:cNvPr id="13" name="Text 11"/>
          <p:cNvSpPr/>
          <p:nvPr/>
        </p:nvSpPr>
        <p:spPr>
          <a:xfrm>
            <a:off x="6647688" y="5522976"/>
            <a:ext cx="1828800" cy="274320"/>
          </a:xfrm>
          <a:prstGeom prst="rect">
            <a:avLst/>
          </a:prstGeom>
          <a:noFill/>
          <a:ln/>
        </p:spPr>
        <p:txBody>
          <a:bodyPr wrap="square" lIns="0" tIns="0" rIns="0" bIns="0" rtlCol="0" anchor="ctr"/>
          <a:lstStyle/>
          <a:p>
            <a:pPr indent="0" marL="0">
              <a:buNone/>
            </a:pPr>
            <a:r>
              <a:rPr lang="en-US" sz="1100" dirty="0">
                <a:solidFill>
                  <a:srgbClr val="8FA6D9"/>
                </a:solidFill>
                <a:latin typeface="Calibri" pitchFamily="34" charset="0"/>
                <a:ea typeface="Calibri" pitchFamily="34" charset="-122"/>
                <a:cs typeface="Calibri" pitchFamily="34" charset="-120"/>
              </a:rPr>
              <a:t>report sections</a:t>
            </a:r>
            <a:endParaRPr lang="en-US" sz="1100" dirty="0"/>
          </a:p>
        </p:txBody>
      </p:sp>
      <p:sp>
        <p:nvSpPr>
          <p:cNvPr id="14" name="Text 12"/>
          <p:cNvSpPr/>
          <p:nvPr/>
        </p:nvSpPr>
        <p:spPr>
          <a:xfrm>
            <a:off x="7635240" y="6144768"/>
            <a:ext cx="4023360" cy="292608"/>
          </a:xfrm>
          <a:prstGeom prst="rect">
            <a:avLst/>
          </a:prstGeom>
          <a:noFill/>
          <a:ln/>
        </p:spPr>
        <p:txBody>
          <a:bodyPr wrap="square" lIns="0" tIns="0" rIns="0" bIns="0" rtlCol="0" anchor="ctr"/>
          <a:lstStyle/>
          <a:p>
            <a:pPr algn="r" indent="0" marL="0">
              <a:buNone/>
            </a:pPr>
            <a:r>
              <a:rPr lang="en-US" sz="1200" dirty="0">
                <a:solidFill>
                  <a:srgbClr val="8FA6D9"/>
                </a:solidFill>
                <a:latin typeface="Calibri" pitchFamily="34" charset="0"/>
                <a:ea typeface="Calibri" pitchFamily="34" charset="-122"/>
                <a:cs typeface="Calibri" pitchFamily="34" charset="-120"/>
              </a:rPr>
              <a:t>Round 2.2 — Final Round  ·  27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PROBLEM &amp; OBJECTIVE</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The gap is proof, not detection</a:t>
            </a:r>
            <a:endParaRPr lang="en-US" sz="3200" dirty="0"/>
          </a:p>
        </p:txBody>
      </p:sp>
      <p:sp>
        <p:nvSpPr>
          <p:cNvPr id="4" name="Shape 2"/>
          <p:cNvSpPr/>
          <p:nvPr/>
        </p:nvSpPr>
        <p:spPr>
          <a:xfrm>
            <a:off x="502920" y="1444752"/>
            <a:ext cx="5440680" cy="4114800"/>
          </a:xfrm>
          <a:prstGeom prst="roundRect">
            <a:avLst>
              <a:gd name="adj" fmla="val 2000"/>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5" name="Text 3"/>
          <p:cNvSpPr/>
          <p:nvPr/>
        </p:nvSpPr>
        <p:spPr>
          <a:xfrm>
            <a:off x="795528" y="1664208"/>
            <a:ext cx="4846320" cy="292608"/>
          </a:xfrm>
          <a:prstGeom prst="rect">
            <a:avLst/>
          </a:prstGeom>
          <a:noFill/>
          <a:ln/>
        </p:spPr>
        <p:txBody>
          <a:bodyPr wrap="square" lIns="0" tIns="0" rIns="0" bIns="0" rtlCol="0" anchor="ctr"/>
          <a:lstStyle/>
          <a:p>
            <a:pPr indent="0" marL="0">
              <a:buNone/>
            </a:pPr>
            <a:r>
              <a:rPr lang="en-US" sz="1600" b="1" dirty="0">
                <a:solidFill>
                  <a:srgbClr val="B06A00"/>
                </a:solidFill>
                <a:latin typeface="Calibri" pitchFamily="34" charset="0"/>
                <a:ea typeface="Calibri" pitchFamily="34" charset="-122"/>
                <a:cs typeface="Calibri" pitchFamily="34" charset="-120"/>
              </a:rPr>
              <a:t>The problem</a:t>
            </a:r>
            <a:endParaRPr lang="en-US" sz="1600" dirty="0"/>
          </a:p>
        </p:txBody>
      </p:sp>
      <p:sp>
        <p:nvSpPr>
          <p:cNvPr id="6" name="Text 4"/>
          <p:cNvSpPr/>
          <p:nvPr/>
        </p:nvSpPr>
        <p:spPr>
          <a:xfrm>
            <a:off x="795528" y="2029968"/>
            <a:ext cx="4892040" cy="329184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350" dirty="0">
                <a:solidFill>
                  <a:srgbClr val="1B2030"/>
                </a:solidFill>
                <a:latin typeface="Calibri" pitchFamily="34" charset="0"/>
                <a:ea typeface="Calibri" pitchFamily="34" charset="-122"/>
                <a:cs typeface="Calibri" pitchFamily="34" charset="-120"/>
              </a:rPr>
              <a:t>AI-generated media can impersonate a real person's face, voice or identity.</a:t>
            </a:r>
            <a:endParaRPr lang="en-US" sz="1350" dirty="0"/>
          </a:p>
          <a:p>
            <a:pPr marL="342900" indent="-342900">
              <a:lnSpc>
                <a:spcPts val="1900"/>
              </a:lnSpc>
              <a:spcAft>
                <a:spcPts val="700"/>
              </a:spcAft>
              <a:buSzPct val="100000"/>
              <a:buChar char="•"/>
            </a:pPr>
            <a:r>
              <a:rPr lang="en-US" sz="1350" dirty="0">
                <a:solidFill>
                  <a:srgbClr val="1B2030"/>
                </a:solidFill>
                <a:latin typeface="Calibri" pitchFamily="34" charset="0"/>
                <a:ea typeface="Calibri" pitchFamily="34" charset="-122"/>
                <a:cs typeface="Calibri" pitchFamily="34" charset="-120"/>
              </a:rPr>
              <a:t>The victim cannot prove the media is not them.</a:t>
            </a:r>
            <a:endParaRPr lang="en-US" sz="1350" dirty="0"/>
          </a:p>
          <a:p>
            <a:pPr marL="342900" indent="-342900">
              <a:lnSpc>
                <a:spcPts val="1900"/>
              </a:lnSpc>
              <a:spcAft>
                <a:spcPts val="700"/>
              </a:spcAft>
              <a:buSzPct val="100000"/>
              <a:buChar char="•"/>
            </a:pPr>
            <a:r>
              <a:rPr lang="en-US" sz="1350" dirty="0">
                <a:solidFill>
                  <a:srgbClr val="1B2030"/>
                </a:solidFill>
                <a:latin typeface="Calibri" pitchFamily="34" charset="0"/>
                <a:ea typeface="Calibri" pitchFamily="34" charset="-122"/>
                <a:cs typeface="Calibri" pitchFamily="34" charset="-120"/>
              </a:rPr>
              <a:t>Existing tools return a fake/real score — no identity link, no evidence.</a:t>
            </a:r>
            <a:endParaRPr lang="en-US" sz="1350" dirty="0"/>
          </a:p>
          <a:p>
            <a:pPr marL="342900" indent="-342900">
              <a:lnSpc>
                <a:spcPts val="1900"/>
              </a:lnSpc>
              <a:spcAft>
                <a:spcPts val="700"/>
              </a:spcAft>
              <a:buSzPct val="100000"/>
              <a:buChar char="•"/>
            </a:pPr>
            <a:r>
              <a:rPr lang="en-US" sz="1350" dirty="0">
                <a:solidFill>
                  <a:srgbClr val="1B2030"/>
                </a:solidFill>
                <a:latin typeface="Calibri" pitchFamily="34" charset="0"/>
                <a:ea typeface="Calibri" pitchFamily="34" charset="-122"/>
                <a:cs typeface="Calibri" pitchFamily="34" charset="-120"/>
              </a:rPr>
              <a:t>Investigators receive screenshots, not preserved evidence with verifiable integrity.</a:t>
            </a:r>
            <a:endParaRPr lang="en-US" sz="1350" dirty="0"/>
          </a:p>
          <a:p>
            <a:pPr marL="342900" indent="-342900">
              <a:lnSpc>
                <a:spcPts val="1900"/>
              </a:lnSpc>
              <a:spcAft>
                <a:spcPts val="700"/>
              </a:spcAft>
              <a:buSzPct val="100000"/>
              <a:buChar char="•"/>
            </a:pPr>
            <a:r>
              <a:rPr lang="en-US" sz="1350" dirty="0">
                <a:solidFill>
                  <a:srgbClr val="1B2030"/>
                </a:solidFill>
                <a:latin typeface="Calibri" pitchFamily="34" charset="0"/>
                <a:ea typeface="Calibri" pitchFamily="34" charset="-122"/>
                <a:cs typeface="Calibri" pitchFamily="34" charset="-120"/>
              </a:rPr>
              <a:t>Compression breaks byte-level matching, so re-uploaded copies go untracked.</a:t>
            </a:r>
            <a:endParaRPr lang="en-US" sz="1350" dirty="0"/>
          </a:p>
        </p:txBody>
      </p:sp>
      <p:sp>
        <p:nvSpPr>
          <p:cNvPr id="7" name="Shape 5"/>
          <p:cNvSpPr/>
          <p:nvPr/>
        </p:nvSpPr>
        <p:spPr>
          <a:xfrm>
            <a:off x="6217920" y="1444752"/>
            <a:ext cx="5440680" cy="4114800"/>
          </a:xfrm>
          <a:prstGeom prst="roundRect">
            <a:avLst>
              <a:gd name="adj" fmla="val 2000"/>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8" name="Text 6"/>
          <p:cNvSpPr/>
          <p:nvPr/>
        </p:nvSpPr>
        <p:spPr>
          <a:xfrm>
            <a:off x="6510528" y="1664208"/>
            <a:ext cx="4846320" cy="292608"/>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The objective</a:t>
            </a:r>
            <a:endParaRPr lang="en-US" sz="1600" dirty="0"/>
          </a:p>
        </p:txBody>
      </p:sp>
      <p:sp>
        <p:nvSpPr>
          <p:cNvPr id="9" name="Text 7"/>
          <p:cNvSpPr/>
          <p:nvPr/>
        </p:nvSpPr>
        <p:spPr>
          <a:xfrm>
            <a:off x="6510528" y="2029968"/>
            <a:ext cx="4892040" cy="329184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350" dirty="0">
                <a:solidFill>
                  <a:srgbClr val="1B2030"/>
                </a:solidFill>
                <a:latin typeface="Calibri" pitchFamily="34" charset="0"/>
                <a:ea typeface="Calibri" pitchFamily="34" charset="-122"/>
                <a:cs typeface="Calibri" pitchFamily="34" charset="-120"/>
              </a:rPr>
              <a:t>Confirm whether a specific consented identity is present — face and voice.</a:t>
            </a:r>
            <a:endParaRPr lang="en-US" sz="1350" dirty="0"/>
          </a:p>
          <a:p>
            <a:pPr marL="342900" indent="-342900">
              <a:lnSpc>
                <a:spcPts val="1900"/>
              </a:lnSpc>
              <a:spcAft>
                <a:spcPts val="700"/>
              </a:spcAft>
              <a:buSzPct val="100000"/>
              <a:buChar char="•"/>
            </a:pPr>
            <a:r>
              <a:rPr lang="en-US" sz="1350" dirty="0">
                <a:solidFill>
                  <a:srgbClr val="1B2030"/>
                </a:solidFill>
                <a:latin typeface="Calibri" pitchFamily="34" charset="0"/>
                <a:ea typeface="Calibri" pitchFamily="34" charset="-122"/>
                <a:cs typeface="Calibri" pitchFamily="34" charset="-120"/>
              </a:rPr>
              <a:t>Detect and localize manipulation indicators, with frames and timestamps.</a:t>
            </a:r>
            <a:endParaRPr lang="en-US" sz="1350" dirty="0"/>
          </a:p>
          <a:p>
            <a:pPr marL="342900" indent="-342900">
              <a:lnSpc>
                <a:spcPts val="1900"/>
              </a:lnSpc>
              <a:spcAft>
                <a:spcPts val="700"/>
              </a:spcAft>
              <a:buSzPct val="100000"/>
              <a:buChar char="•"/>
            </a:pPr>
            <a:r>
              <a:rPr lang="en-US" sz="1350" dirty="0">
                <a:solidFill>
                  <a:srgbClr val="1B2030"/>
                </a:solidFill>
                <a:latin typeface="Calibri" pitchFamily="34" charset="0"/>
                <a:ea typeface="Calibri" pitchFamily="34" charset="-122"/>
                <a:cs typeface="Calibri" pitchFamily="34" charset="-120"/>
              </a:rPr>
              <a:t>Locate other pages publishing the same media, and verify each locally.</a:t>
            </a:r>
            <a:endParaRPr lang="en-US" sz="1350" dirty="0"/>
          </a:p>
          <a:p>
            <a:pPr marL="342900" indent="-342900">
              <a:lnSpc>
                <a:spcPts val="1900"/>
              </a:lnSpc>
              <a:spcAft>
                <a:spcPts val="700"/>
              </a:spcAft>
              <a:buSzPct val="100000"/>
              <a:buChar char="•"/>
            </a:pPr>
            <a:r>
              <a:rPr lang="en-US" sz="1350" dirty="0">
                <a:solidFill>
                  <a:srgbClr val="1B2030"/>
                </a:solidFill>
                <a:latin typeface="Calibri" pitchFamily="34" charset="0"/>
                <a:ea typeface="Calibri" pitchFamily="34" charset="-122"/>
                <a:cs typeface="Calibri" pitchFamily="34" charset="-120"/>
              </a:rPr>
              <a:t>Preserve evidence with server-side SHA-256 and a timestamped chain of custody.</a:t>
            </a:r>
            <a:endParaRPr lang="en-US" sz="1350" dirty="0"/>
          </a:p>
          <a:p>
            <a:pPr marL="342900" indent="-342900">
              <a:lnSpc>
                <a:spcPts val="1900"/>
              </a:lnSpc>
              <a:spcAft>
                <a:spcPts val="700"/>
              </a:spcAft>
              <a:buSzPct val="100000"/>
              <a:buChar char="•"/>
            </a:pPr>
            <a:r>
              <a:rPr lang="en-US" sz="1350" dirty="0">
                <a:solidFill>
                  <a:srgbClr val="1B2030"/>
                </a:solidFill>
                <a:latin typeface="Calibri" pitchFamily="34" charset="0"/>
                <a:ea typeface="Calibri" pitchFamily="34" charset="-122"/>
                <a:cs typeface="Calibri" pitchFamily="34" charset="-120"/>
              </a:rPr>
              <a:t>Produce a 23-section forensic report an investigating officer can file.</a:t>
            </a:r>
            <a:endParaRPr lang="en-US" sz="1350" dirty="0"/>
          </a:p>
        </p:txBody>
      </p:sp>
      <p:sp>
        <p:nvSpPr>
          <p:cNvPr id="10" name="Shape 8"/>
          <p:cNvSpPr/>
          <p:nvPr/>
        </p:nvSpPr>
        <p:spPr>
          <a:xfrm>
            <a:off x="502920" y="5705856"/>
            <a:ext cx="11155680" cy="658368"/>
          </a:xfrm>
          <a:prstGeom prst="roundRect">
            <a:avLst>
              <a:gd name="adj" fmla="val 12500"/>
            </a:avLst>
          </a:prstGeom>
          <a:solidFill>
            <a:srgbClr val="1E2761"/>
          </a:solidFill>
          <a:ln w="6350">
            <a:solidFill>
              <a:srgbClr val="1E2761"/>
            </a:solidFill>
            <a:prstDash val="solid"/>
          </a:ln>
          <a:effectLst>
            <a:outerShdw sx="100000" sy="100000" kx="0" ky="0" algn="bl" rotWithShape="0" blurRad="101600" dist="25400" dir="5400000">
              <a:srgbClr val="8A93A8">
                <a:alpha val="22000"/>
              </a:srgbClr>
            </a:outerShdw>
          </a:effectLst>
        </p:spPr>
      </p:sp>
      <p:sp>
        <p:nvSpPr>
          <p:cNvPr id="11" name="Text 9"/>
          <p:cNvSpPr/>
          <p:nvPr/>
        </p:nvSpPr>
        <p:spPr>
          <a:xfrm>
            <a:off x="795528" y="5705856"/>
            <a:ext cx="10570464" cy="658368"/>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Scope, stated honestly:  DeepTrace produces forensic indicators for expert review — not a verdict, not creator identification, not internet-wide surveillance.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CRITERION 1</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100% of proposed scope delivered</a:t>
            </a:r>
            <a:endParaRPr lang="en-US" sz="3200" dirty="0"/>
          </a:p>
        </p:txBody>
      </p:sp>
      <p:sp>
        <p:nvSpPr>
          <p:cNvPr id="4" name="Shape 2"/>
          <p:cNvSpPr/>
          <p:nvPr/>
        </p:nvSpPr>
        <p:spPr>
          <a:xfrm>
            <a:off x="9144000" y="329184"/>
            <a:ext cx="2514600" cy="384048"/>
          </a:xfrm>
          <a:prstGeom prst="roundRect">
            <a:avLst>
              <a:gd name="adj" fmla="val 50000"/>
            </a:avLst>
          </a:prstGeom>
          <a:solidFill>
            <a:srgbClr val="1E2761"/>
          </a:solidFill>
          <a:ln w="9525">
            <a:solidFill>
              <a:srgbClr val="1E2761"/>
            </a:solidFill>
            <a:prstDash val="solid"/>
          </a:ln>
        </p:spPr>
      </p:sp>
      <p:sp>
        <p:nvSpPr>
          <p:cNvPr id="5" name="Text 3"/>
          <p:cNvSpPr/>
          <p:nvPr/>
        </p:nvSpPr>
        <p:spPr>
          <a:xfrm>
            <a:off x="9144000" y="329184"/>
            <a:ext cx="2514600" cy="384048"/>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Criterion 1  ·  20 marks</a:t>
            </a:r>
            <a:endParaRPr lang="en-US" sz="1100" dirty="0"/>
          </a:p>
        </p:txBody>
      </p:sp>
      <p:sp>
        <p:nvSpPr>
          <p:cNvPr id="6" name="Shape 4"/>
          <p:cNvSpPr/>
          <p:nvPr/>
        </p:nvSpPr>
        <p:spPr>
          <a:xfrm>
            <a:off x="502920" y="1426464"/>
            <a:ext cx="8869680" cy="548640"/>
          </a:xfrm>
          <a:prstGeom prst="roundRect">
            <a:avLst>
              <a:gd name="adj" fmla="val 15000"/>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7" name="Shape 5"/>
          <p:cNvSpPr/>
          <p:nvPr/>
        </p:nvSpPr>
        <p:spPr>
          <a:xfrm>
            <a:off x="649224" y="1545336"/>
            <a:ext cx="310896" cy="310896"/>
          </a:xfrm>
          <a:prstGeom prst="ellipse">
            <a:avLst/>
          </a:prstGeom>
          <a:solidFill>
            <a:srgbClr val="1E2761"/>
          </a:solidFill>
          <a:ln w="6350">
            <a:solidFill>
              <a:srgbClr val="1E2761"/>
            </a:solidFill>
            <a:prstDash val="solid"/>
          </a:ln>
        </p:spPr>
      </p:sp>
      <p:sp>
        <p:nvSpPr>
          <p:cNvPr id="8" name="Text 6"/>
          <p:cNvSpPr/>
          <p:nvPr/>
        </p:nvSpPr>
        <p:spPr>
          <a:xfrm>
            <a:off x="649224" y="15453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088136" y="1426464"/>
            <a:ext cx="2606040" cy="5486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Identity enrolment</a:t>
            </a:r>
            <a:endParaRPr lang="en-US" sz="1350" dirty="0"/>
          </a:p>
        </p:txBody>
      </p:sp>
      <p:sp>
        <p:nvSpPr>
          <p:cNvPr id="10" name="Text 8"/>
          <p:cNvSpPr/>
          <p:nvPr/>
        </p:nvSpPr>
        <p:spPr>
          <a:xfrm>
            <a:off x="3703320" y="1426464"/>
            <a:ext cx="5577840" cy="548640"/>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Consented face + voice reference, with submitter record and consent text</a:t>
            </a:r>
            <a:endParaRPr lang="en-US" sz="1150" dirty="0"/>
          </a:p>
        </p:txBody>
      </p:sp>
      <p:sp>
        <p:nvSpPr>
          <p:cNvPr id="11" name="Text 9"/>
          <p:cNvSpPr/>
          <p:nvPr/>
        </p:nvSpPr>
        <p:spPr>
          <a:xfrm>
            <a:off x="9281160" y="1426464"/>
            <a:ext cx="960120" cy="548640"/>
          </a:xfrm>
          <a:prstGeom prst="rect">
            <a:avLst/>
          </a:prstGeom>
          <a:noFill/>
          <a:ln/>
        </p:spPr>
        <p:txBody>
          <a:bodyPr wrap="square" lIns="0" tIns="0" rIns="0" bIns="0" rtlCol="0" anchor="ctr"/>
          <a:lstStyle/>
          <a:p>
            <a:pPr algn="r" indent="0" marL="0">
              <a:buNone/>
            </a:pPr>
            <a:r>
              <a:rPr lang="en-US" sz="1000" b="1" dirty="0">
                <a:solidFill>
                  <a:srgbClr val="1F6B4D"/>
                </a:solidFill>
                <a:latin typeface="Calibri" pitchFamily="34" charset="0"/>
                <a:ea typeface="Calibri" pitchFamily="34" charset="-122"/>
                <a:cs typeface="Calibri" pitchFamily="34" charset="-120"/>
              </a:rPr>
              <a:t>DELIVERED</a:t>
            </a:r>
            <a:endParaRPr lang="en-US" sz="1000" dirty="0"/>
          </a:p>
        </p:txBody>
      </p:sp>
      <p:sp>
        <p:nvSpPr>
          <p:cNvPr id="12" name="Shape 10"/>
          <p:cNvSpPr/>
          <p:nvPr/>
        </p:nvSpPr>
        <p:spPr>
          <a:xfrm>
            <a:off x="502920" y="2052828"/>
            <a:ext cx="8869680" cy="548640"/>
          </a:xfrm>
          <a:prstGeom prst="roundRect">
            <a:avLst>
              <a:gd name="adj" fmla="val 15000"/>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3" name="Shape 11"/>
          <p:cNvSpPr/>
          <p:nvPr/>
        </p:nvSpPr>
        <p:spPr>
          <a:xfrm>
            <a:off x="649224" y="2171700"/>
            <a:ext cx="310896" cy="310896"/>
          </a:xfrm>
          <a:prstGeom prst="ellipse">
            <a:avLst/>
          </a:prstGeom>
          <a:solidFill>
            <a:srgbClr val="1E2761"/>
          </a:solidFill>
          <a:ln w="6350">
            <a:solidFill>
              <a:srgbClr val="1E2761"/>
            </a:solidFill>
            <a:prstDash val="solid"/>
          </a:ln>
        </p:spPr>
      </p:sp>
      <p:sp>
        <p:nvSpPr>
          <p:cNvPr id="14" name="Text 12"/>
          <p:cNvSpPr/>
          <p:nvPr/>
        </p:nvSpPr>
        <p:spPr>
          <a:xfrm>
            <a:off x="649224" y="21717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088136" y="2052828"/>
            <a:ext cx="2606040" cy="5486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Manipulation analysis</a:t>
            </a:r>
            <a:endParaRPr lang="en-US" sz="1350" dirty="0"/>
          </a:p>
        </p:txBody>
      </p:sp>
      <p:sp>
        <p:nvSpPr>
          <p:cNvPr id="16" name="Text 14"/>
          <p:cNvSpPr/>
          <p:nvPr/>
        </p:nvSpPr>
        <p:spPr>
          <a:xfrm>
            <a:off x="3703320" y="2052828"/>
            <a:ext cx="5577840" cy="548640"/>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DeepfakeBench Xception on MTCNN face crops, per-frame, 12 frames per video</a:t>
            </a:r>
            <a:endParaRPr lang="en-US" sz="1150" dirty="0"/>
          </a:p>
        </p:txBody>
      </p:sp>
      <p:sp>
        <p:nvSpPr>
          <p:cNvPr id="17" name="Text 15"/>
          <p:cNvSpPr/>
          <p:nvPr/>
        </p:nvSpPr>
        <p:spPr>
          <a:xfrm>
            <a:off x="9281160" y="2052828"/>
            <a:ext cx="960120" cy="548640"/>
          </a:xfrm>
          <a:prstGeom prst="rect">
            <a:avLst/>
          </a:prstGeom>
          <a:noFill/>
          <a:ln/>
        </p:spPr>
        <p:txBody>
          <a:bodyPr wrap="square" lIns="0" tIns="0" rIns="0" bIns="0" rtlCol="0" anchor="ctr"/>
          <a:lstStyle/>
          <a:p>
            <a:pPr algn="r" indent="0" marL="0">
              <a:buNone/>
            </a:pPr>
            <a:r>
              <a:rPr lang="en-US" sz="1000" b="1" dirty="0">
                <a:solidFill>
                  <a:srgbClr val="1F6B4D"/>
                </a:solidFill>
                <a:latin typeface="Calibri" pitchFamily="34" charset="0"/>
                <a:ea typeface="Calibri" pitchFamily="34" charset="-122"/>
                <a:cs typeface="Calibri" pitchFamily="34" charset="-120"/>
              </a:rPr>
              <a:t>DELIVERED</a:t>
            </a:r>
            <a:endParaRPr lang="en-US" sz="1000" dirty="0"/>
          </a:p>
        </p:txBody>
      </p:sp>
      <p:sp>
        <p:nvSpPr>
          <p:cNvPr id="18" name="Shape 16"/>
          <p:cNvSpPr/>
          <p:nvPr/>
        </p:nvSpPr>
        <p:spPr>
          <a:xfrm>
            <a:off x="502920" y="2679192"/>
            <a:ext cx="8869680" cy="548640"/>
          </a:xfrm>
          <a:prstGeom prst="roundRect">
            <a:avLst>
              <a:gd name="adj" fmla="val 15000"/>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9" name="Shape 17"/>
          <p:cNvSpPr/>
          <p:nvPr/>
        </p:nvSpPr>
        <p:spPr>
          <a:xfrm>
            <a:off x="649224" y="2798064"/>
            <a:ext cx="310896" cy="310896"/>
          </a:xfrm>
          <a:prstGeom prst="ellipse">
            <a:avLst/>
          </a:prstGeom>
          <a:solidFill>
            <a:srgbClr val="1E2761"/>
          </a:solidFill>
          <a:ln w="6350">
            <a:solidFill>
              <a:srgbClr val="1E2761"/>
            </a:solidFill>
            <a:prstDash val="solid"/>
          </a:ln>
        </p:spPr>
      </p:sp>
      <p:sp>
        <p:nvSpPr>
          <p:cNvPr id="20" name="Text 18"/>
          <p:cNvSpPr/>
          <p:nvPr/>
        </p:nvSpPr>
        <p:spPr>
          <a:xfrm>
            <a:off x="649224" y="27980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1088136" y="2679192"/>
            <a:ext cx="2606040" cy="5486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Localization</a:t>
            </a:r>
            <a:endParaRPr lang="en-US" sz="1350" dirty="0"/>
          </a:p>
        </p:txBody>
      </p:sp>
      <p:sp>
        <p:nvSpPr>
          <p:cNvPr id="22" name="Text 20"/>
          <p:cNvSpPr/>
          <p:nvPr/>
        </p:nvSpPr>
        <p:spPr>
          <a:xfrm>
            <a:off x="3703320" y="2679192"/>
            <a:ext cx="5577840" cy="548640"/>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Suspicious frames, time intervals, face region, residual overlay images</a:t>
            </a:r>
            <a:endParaRPr lang="en-US" sz="1150" dirty="0"/>
          </a:p>
        </p:txBody>
      </p:sp>
      <p:sp>
        <p:nvSpPr>
          <p:cNvPr id="23" name="Text 21"/>
          <p:cNvSpPr/>
          <p:nvPr/>
        </p:nvSpPr>
        <p:spPr>
          <a:xfrm>
            <a:off x="9281160" y="2679192"/>
            <a:ext cx="960120" cy="548640"/>
          </a:xfrm>
          <a:prstGeom prst="rect">
            <a:avLst/>
          </a:prstGeom>
          <a:noFill/>
          <a:ln/>
        </p:spPr>
        <p:txBody>
          <a:bodyPr wrap="square" lIns="0" tIns="0" rIns="0" bIns="0" rtlCol="0" anchor="ctr"/>
          <a:lstStyle/>
          <a:p>
            <a:pPr algn="r" indent="0" marL="0">
              <a:buNone/>
            </a:pPr>
            <a:r>
              <a:rPr lang="en-US" sz="1000" b="1" dirty="0">
                <a:solidFill>
                  <a:srgbClr val="1F6B4D"/>
                </a:solidFill>
                <a:latin typeface="Calibri" pitchFamily="34" charset="0"/>
                <a:ea typeface="Calibri" pitchFamily="34" charset="-122"/>
                <a:cs typeface="Calibri" pitchFamily="34" charset="-120"/>
              </a:rPr>
              <a:t>DELIVERED</a:t>
            </a:r>
            <a:endParaRPr lang="en-US" sz="1000" dirty="0"/>
          </a:p>
        </p:txBody>
      </p:sp>
      <p:sp>
        <p:nvSpPr>
          <p:cNvPr id="24" name="Shape 22"/>
          <p:cNvSpPr/>
          <p:nvPr/>
        </p:nvSpPr>
        <p:spPr>
          <a:xfrm>
            <a:off x="502920" y="3305556"/>
            <a:ext cx="8869680" cy="548640"/>
          </a:xfrm>
          <a:prstGeom prst="roundRect">
            <a:avLst>
              <a:gd name="adj" fmla="val 15000"/>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25" name="Shape 23"/>
          <p:cNvSpPr/>
          <p:nvPr/>
        </p:nvSpPr>
        <p:spPr>
          <a:xfrm>
            <a:off x="649224" y="3424428"/>
            <a:ext cx="310896" cy="310896"/>
          </a:xfrm>
          <a:prstGeom prst="ellipse">
            <a:avLst/>
          </a:prstGeom>
          <a:solidFill>
            <a:srgbClr val="1E2761"/>
          </a:solidFill>
          <a:ln w="6350">
            <a:solidFill>
              <a:srgbClr val="1E2761"/>
            </a:solidFill>
            <a:prstDash val="solid"/>
          </a:ln>
        </p:spPr>
      </p:sp>
      <p:sp>
        <p:nvSpPr>
          <p:cNvPr id="26" name="Text 24"/>
          <p:cNvSpPr/>
          <p:nvPr/>
        </p:nvSpPr>
        <p:spPr>
          <a:xfrm>
            <a:off x="649224" y="34244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p:nvPr/>
        </p:nvSpPr>
        <p:spPr>
          <a:xfrm>
            <a:off x="1088136" y="3305556"/>
            <a:ext cx="2606040" cy="5486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Identity &amp; voice match</a:t>
            </a:r>
            <a:endParaRPr lang="en-US" sz="1350" dirty="0"/>
          </a:p>
        </p:txBody>
      </p:sp>
      <p:sp>
        <p:nvSpPr>
          <p:cNvPr id="28" name="Text 26"/>
          <p:cNvSpPr/>
          <p:nvPr/>
        </p:nvSpPr>
        <p:spPr>
          <a:xfrm>
            <a:off x="3703320" y="3305556"/>
            <a:ext cx="5577840" cy="548640"/>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FaceNet cosine similarity; ECAPA-TDNN speaker verification</a:t>
            </a:r>
            <a:endParaRPr lang="en-US" sz="1150" dirty="0"/>
          </a:p>
        </p:txBody>
      </p:sp>
      <p:sp>
        <p:nvSpPr>
          <p:cNvPr id="29" name="Text 27"/>
          <p:cNvSpPr/>
          <p:nvPr/>
        </p:nvSpPr>
        <p:spPr>
          <a:xfrm>
            <a:off x="9281160" y="3305556"/>
            <a:ext cx="960120" cy="548640"/>
          </a:xfrm>
          <a:prstGeom prst="rect">
            <a:avLst/>
          </a:prstGeom>
          <a:noFill/>
          <a:ln/>
        </p:spPr>
        <p:txBody>
          <a:bodyPr wrap="square" lIns="0" tIns="0" rIns="0" bIns="0" rtlCol="0" anchor="ctr"/>
          <a:lstStyle/>
          <a:p>
            <a:pPr algn="r" indent="0" marL="0">
              <a:buNone/>
            </a:pPr>
            <a:r>
              <a:rPr lang="en-US" sz="1000" b="1" dirty="0">
                <a:solidFill>
                  <a:srgbClr val="1F6B4D"/>
                </a:solidFill>
                <a:latin typeface="Calibri" pitchFamily="34" charset="0"/>
                <a:ea typeface="Calibri" pitchFamily="34" charset="-122"/>
                <a:cs typeface="Calibri" pitchFamily="34" charset="-120"/>
              </a:rPr>
              <a:t>DELIVERED</a:t>
            </a:r>
            <a:endParaRPr lang="en-US" sz="1000" dirty="0"/>
          </a:p>
        </p:txBody>
      </p:sp>
      <p:sp>
        <p:nvSpPr>
          <p:cNvPr id="30" name="Shape 28"/>
          <p:cNvSpPr/>
          <p:nvPr/>
        </p:nvSpPr>
        <p:spPr>
          <a:xfrm>
            <a:off x="502920" y="3931920"/>
            <a:ext cx="8869680" cy="548640"/>
          </a:xfrm>
          <a:prstGeom prst="roundRect">
            <a:avLst>
              <a:gd name="adj" fmla="val 15000"/>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31" name="Shape 29"/>
          <p:cNvSpPr/>
          <p:nvPr/>
        </p:nvSpPr>
        <p:spPr>
          <a:xfrm>
            <a:off x="649224" y="4050792"/>
            <a:ext cx="310896" cy="310896"/>
          </a:xfrm>
          <a:prstGeom prst="ellipse">
            <a:avLst/>
          </a:prstGeom>
          <a:solidFill>
            <a:srgbClr val="1E2761"/>
          </a:solidFill>
          <a:ln w="6350">
            <a:solidFill>
              <a:srgbClr val="1E2761"/>
            </a:solidFill>
            <a:prstDash val="solid"/>
          </a:ln>
        </p:spPr>
      </p:sp>
      <p:sp>
        <p:nvSpPr>
          <p:cNvPr id="32" name="Text 30"/>
          <p:cNvSpPr/>
          <p:nvPr/>
        </p:nvSpPr>
        <p:spPr>
          <a:xfrm>
            <a:off x="649224" y="40507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1"/>
          <p:cNvSpPr/>
          <p:nvPr/>
        </p:nvSpPr>
        <p:spPr>
          <a:xfrm>
            <a:off x="1088136" y="3931920"/>
            <a:ext cx="2606040" cy="5486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Provenance estimator</a:t>
            </a:r>
            <a:endParaRPr lang="en-US" sz="1350" dirty="0"/>
          </a:p>
        </p:txBody>
      </p:sp>
      <p:sp>
        <p:nvSpPr>
          <p:cNvPr id="34" name="Text 32"/>
          <p:cNvSpPr/>
          <p:nvPr/>
        </p:nvSpPr>
        <p:spPr>
          <a:xfrm>
            <a:off x="3703320" y="3931920"/>
            <a:ext cx="5577840" cy="548640"/>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Reverse-image lookup, then every candidate re-fetched and verified locally</a:t>
            </a:r>
            <a:endParaRPr lang="en-US" sz="1150" dirty="0"/>
          </a:p>
        </p:txBody>
      </p:sp>
      <p:sp>
        <p:nvSpPr>
          <p:cNvPr id="35" name="Text 33"/>
          <p:cNvSpPr/>
          <p:nvPr/>
        </p:nvSpPr>
        <p:spPr>
          <a:xfrm>
            <a:off x="9281160" y="3931920"/>
            <a:ext cx="960120" cy="548640"/>
          </a:xfrm>
          <a:prstGeom prst="rect">
            <a:avLst/>
          </a:prstGeom>
          <a:noFill/>
          <a:ln/>
        </p:spPr>
        <p:txBody>
          <a:bodyPr wrap="square" lIns="0" tIns="0" rIns="0" bIns="0" rtlCol="0" anchor="ctr"/>
          <a:lstStyle/>
          <a:p>
            <a:pPr algn="r" indent="0" marL="0">
              <a:buNone/>
            </a:pPr>
            <a:r>
              <a:rPr lang="en-US" sz="1000" b="1" dirty="0">
                <a:solidFill>
                  <a:srgbClr val="1F6B4D"/>
                </a:solidFill>
                <a:latin typeface="Calibri" pitchFamily="34" charset="0"/>
                <a:ea typeface="Calibri" pitchFamily="34" charset="-122"/>
                <a:cs typeface="Calibri" pitchFamily="34" charset="-120"/>
              </a:rPr>
              <a:t>DELIVERED</a:t>
            </a:r>
            <a:endParaRPr lang="en-US" sz="1000" dirty="0"/>
          </a:p>
        </p:txBody>
      </p:sp>
      <p:sp>
        <p:nvSpPr>
          <p:cNvPr id="36" name="Shape 34"/>
          <p:cNvSpPr/>
          <p:nvPr/>
        </p:nvSpPr>
        <p:spPr>
          <a:xfrm>
            <a:off x="502920" y="4558284"/>
            <a:ext cx="8869680" cy="548640"/>
          </a:xfrm>
          <a:prstGeom prst="roundRect">
            <a:avLst>
              <a:gd name="adj" fmla="val 15000"/>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37" name="Shape 35"/>
          <p:cNvSpPr/>
          <p:nvPr/>
        </p:nvSpPr>
        <p:spPr>
          <a:xfrm>
            <a:off x="649224" y="4677156"/>
            <a:ext cx="310896" cy="310896"/>
          </a:xfrm>
          <a:prstGeom prst="ellipse">
            <a:avLst/>
          </a:prstGeom>
          <a:solidFill>
            <a:srgbClr val="1E2761"/>
          </a:solidFill>
          <a:ln w="6350">
            <a:solidFill>
              <a:srgbClr val="1E2761"/>
            </a:solidFill>
            <a:prstDash val="solid"/>
          </a:ln>
        </p:spPr>
      </p:sp>
      <p:sp>
        <p:nvSpPr>
          <p:cNvPr id="38" name="Text 36"/>
          <p:cNvSpPr/>
          <p:nvPr/>
        </p:nvSpPr>
        <p:spPr>
          <a:xfrm>
            <a:off x="649224" y="46771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9" name="Text 37"/>
          <p:cNvSpPr/>
          <p:nvPr/>
        </p:nvSpPr>
        <p:spPr>
          <a:xfrm>
            <a:off x="1088136" y="4558284"/>
            <a:ext cx="2606040" cy="5486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Evidence preservation</a:t>
            </a:r>
            <a:endParaRPr lang="en-US" sz="1350" dirty="0"/>
          </a:p>
        </p:txBody>
      </p:sp>
      <p:sp>
        <p:nvSpPr>
          <p:cNvPr id="40" name="Text 38"/>
          <p:cNvSpPr/>
          <p:nvPr/>
        </p:nvSpPr>
        <p:spPr>
          <a:xfrm>
            <a:off x="3703320" y="4558284"/>
            <a:ext cx="5577840" cy="548640"/>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Server-side SHA-256, chain of custody, integrity re-verification endpoint</a:t>
            </a:r>
            <a:endParaRPr lang="en-US" sz="1150" dirty="0"/>
          </a:p>
        </p:txBody>
      </p:sp>
      <p:sp>
        <p:nvSpPr>
          <p:cNvPr id="41" name="Text 39"/>
          <p:cNvSpPr/>
          <p:nvPr/>
        </p:nvSpPr>
        <p:spPr>
          <a:xfrm>
            <a:off x="9281160" y="4558284"/>
            <a:ext cx="960120" cy="548640"/>
          </a:xfrm>
          <a:prstGeom prst="rect">
            <a:avLst/>
          </a:prstGeom>
          <a:noFill/>
          <a:ln/>
        </p:spPr>
        <p:txBody>
          <a:bodyPr wrap="square" lIns="0" tIns="0" rIns="0" bIns="0" rtlCol="0" anchor="ctr"/>
          <a:lstStyle/>
          <a:p>
            <a:pPr algn="r" indent="0" marL="0">
              <a:buNone/>
            </a:pPr>
            <a:r>
              <a:rPr lang="en-US" sz="1000" b="1" dirty="0">
                <a:solidFill>
                  <a:srgbClr val="1F6B4D"/>
                </a:solidFill>
                <a:latin typeface="Calibri" pitchFamily="34" charset="0"/>
                <a:ea typeface="Calibri" pitchFamily="34" charset="-122"/>
                <a:cs typeface="Calibri" pitchFamily="34" charset="-120"/>
              </a:rPr>
              <a:t>DELIVERED</a:t>
            </a:r>
            <a:endParaRPr lang="en-US" sz="1000" dirty="0"/>
          </a:p>
        </p:txBody>
      </p:sp>
      <p:sp>
        <p:nvSpPr>
          <p:cNvPr id="42" name="Shape 40"/>
          <p:cNvSpPr/>
          <p:nvPr/>
        </p:nvSpPr>
        <p:spPr>
          <a:xfrm>
            <a:off x="502920" y="5184648"/>
            <a:ext cx="8869680" cy="548640"/>
          </a:xfrm>
          <a:prstGeom prst="roundRect">
            <a:avLst>
              <a:gd name="adj" fmla="val 15000"/>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43" name="Shape 41"/>
          <p:cNvSpPr/>
          <p:nvPr/>
        </p:nvSpPr>
        <p:spPr>
          <a:xfrm>
            <a:off x="649224" y="5303520"/>
            <a:ext cx="310896" cy="310896"/>
          </a:xfrm>
          <a:prstGeom prst="ellipse">
            <a:avLst/>
          </a:prstGeom>
          <a:solidFill>
            <a:srgbClr val="1E2761"/>
          </a:solidFill>
          <a:ln w="6350">
            <a:solidFill>
              <a:srgbClr val="1E2761"/>
            </a:solidFill>
            <a:prstDash val="solid"/>
          </a:ln>
        </p:spPr>
      </p:sp>
      <p:sp>
        <p:nvSpPr>
          <p:cNvPr id="44" name="Text 42"/>
          <p:cNvSpPr/>
          <p:nvPr/>
        </p:nvSpPr>
        <p:spPr>
          <a:xfrm>
            <a:off x="649224" y="53035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5" name="Text 43"/>
          <p:cNvSpPr/>
          <p:nvPr/>
        </p:nvSpPr>
        <p:spPr>
          <a:xfrm>
            <a:off x="1088136" y="5184648"/>
            <a:ext cx="2606040" cy="5486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Response &amp; report</a:t>
            </a:r>
            <a:endParaRPr lang="en-US" sz="1350" dirty="0"/>
          </a:p>
        </p:txBody>
      </p:sp>
      <p:sp>
        <p:nvSpPr>
          <p:cNvPr id="46" name="Text 44"/>
          <p:cNvSpPr/>
          <p:nvPr/>
        </p:nvSpPr>
        <p:spPr>
          <a:xfrm>
            <a:off x="3703320" y="5184648"/>
            <a:ext cx="5577840" cy="548640"/>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Victim guidance, cybercrime.gov.in routing, 23-section forensic PDF</a:t>
            </a:r>
            <a:endParaRPr lang="en-US" sz="1150" dirty="0"/>
          </a:p>
        </p:txBody>
      </p:sp>
      <p:sp>
        <p:nvSpPr>
          <p:cNvPr id="47" name="Text 45"/>
          <p:cNvSpPr/>
          <p:nvPr/>
        </p:nvSpPr>
        <p:spPr>
          <a:xfrm>
            <a:off x="9281160" y="5184648"/>
            <a:ext cx="960120" cy="548640"/>
          </a:xfrm>
          <a:prstGeom prst="rect">
            <a:avLst/>
          </a:prstGeom>
          <a:noFill/>
          <a:ln/>
        </p:spPr>
        <p:txBody>
          <a:bodyPr wrap="square" lIns="0" tIns="0" rIns="0" bIns="0" rtlCol="0" anchor="ctr"/>
          <a:lstStyle/>
          <a:p>
            <a:pPr algn="r" indent="0" marL="0">
              <a:buNone/>
            </a:pPr>
            <a:r>
              <a:rPr lang="en-US" sz="1000" b="1" dirty="0">
                <a:solidFill>
                  <a:srgbClr val="1F6B4D"/>
                </a:solidFill>
                <a:latin typeface="Calibri" pitchFamily="34" charset="0"/>
                <a:ea typeface="Calibri" pitchFamily="34" charset="-122"/>
                <a:cs typeface="Calibri" pitchFamily="34" charset="-120"/>
              </a:rPr>
              <a:t>DELIVERED</a:t>
            </a:r>
            <a:endParaRPr lang="en-US" sz="1000" dirty="0"/>
          </a:p>
        </p:txBody>
      </p:sp>
      <p:sp>
        <p:nvSpPr>
          <p:cNvPr id="48" name="Shape 46"/>
          <p:cNvSpPr/>
          <p:nvPr/>
        </p:nvSpPr>
        <p:spPr>
          <a:xfrm>
            <a:off x="9555480" y="1426464"/>
            <a:ext cx="2103120" cy="4379976"/>
          </a:xfrm>
          <a:prstGeom prst="roundRect">
            <a:avLst>
              <a:gd name="adj" fmla="val 3913"/>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49" name="Text 47"/>
          <p:cNvSpPr/>
          <p:nvPr/>
        </p:nvSpPr>
        <p:spPr>
          <a:xfrm>
            <a:off x="9555480" y="1627632"/>
            <a:ext cx="2103120" cy="457200"/>
          </a:xfrm>
          <a:prstGeom prst="rect">
            <a:avLst/>
          </a:prstGeom>
          <a:noFill/>
          <a:ln/>
        </p:spPr>
        <p:txBody>
          <a:bodyPr wrap="square" lIns="0" tIns="0" rIns="0" bIns="0" rtlCol="0" anchor="ctr"/>
          <a:lstStyle/>
          <a:p>
            <a:pPr algn="ctr" indent="0" marL="0">
              <a:buNone/>
            </a:pPr>
            <a:r>
              <a:rPr lang="en-US" sz="2700" b="1" dirty="0">
                <a:solidFill>
                  <a:srgbClr val="1F6B4D"/>
                </a:solidFill>
                <a:latin typeface="Cambria" pitchFamily="34" charset="0"/>
                <a:ea typeface="Cambria" pitchFamily="34" charset="-122"/>
                <a:cs typeface="Cambria" pitchFamily="34" charset="-120"/>
              </a:rPr>
              <a:t>149 / 150</a:t>
            </a:r>
            <a:endParaRPr lang="en-US" sz="2700" dirty="0"/>
          </a:p>
        </p:txBody>
      </p:sp>
      <p:sp>
        <p:nvSpPr>
          <p:cNvPr id="50" name="Text 48"/>
          <p:cNvSpPr/>
          <p:nvPr/>
        </p:nvSpPr>
        <p:spPr>
          <a:xfrm>
            <a:off x="9555480" y="2084832"/>
            <a:ext cx="2103120" cy="292608"/>
          </a:xfrm>
          <a:prstGeom prst="rect">
            <a:avLst/>
          </a:prstGeom>
          <a:noFill/>
          <a:ln/>
        </p:spPr>
        <p:txBody>
          <a:bodyPr wrap="square" lIns="0" tIns="0" rIns="0" bIns="0" rtlCol="0" anchor="ctr"/>
          <a:lstStyle/>
          <a:p>
            <a:pPr algn="ctr" indent="0" marL="0">
              <a:buNone/>
            </a:pPr>
            <a:r>
              <a:rPr lang="en-US" sz="1100" dirty="0">
                <a:solidFill>
                  <a:srgbClr val="5A6272"/>
                </a:solidFill>
                <a:latin typeface="Calibri" pitchFamily="34" charset="0"/>
                <a:ea typeface="Calibri" pitchFamily="34" charset="-122"/>
                <a:cs typeface="Calibri" pitchFamily="34" charset="-120"/>
              </a:rPr>
              <a:t>tests passing</a:t>
            </a:r>
            <a:endParaRPr lang="en-US" sz="1100" dirty="0"/>
          </a:p>
        </p:txBody>
      </p:sp>
      <p:sp>
        <p:nvSpPr>
          <p:cNvPr id="51" name="Text 49"/>
          <p:cNvSpPr/>
          <p:nvPr/>
        </p:nvSpPr>
        <p:spPr>
          <a:xfrm>
            <a:off x="9555480" y="2706624"/>
            <a:ext cx="2103120" cy="457200"/>
          </a:xfrm>
          <a:prstGeom prst="rect">
            <a:avLst/>
          </a:prstGeom>
          <a:noFill/>
          <a:ln/>
        </p:spPr>
        <p:txBody>
          <a:bodyPr wrap="square" lIns="0" tIns="0" rIns="0" bIns="0" rtlCol="0" anchor="ctr"/>
          <a:lstStyle/>
          <a:p>
            <a:pPr algn="ctr" indent="0" marL="0">
              <a:buNone/>
            </a:pPr>
            <a:r>
              <a:rPr lang="en-US" sz="2700" b="1" dirty="0">
                <a:solidFill>
                  <a:srgbClr val="1F6B4D"/>
                </a:solidFill>
                <a:latin typeface="Cambria" pitchFamily="34" charset="0"/>
                <a:ea typeface="Cambria" pitchFamily="34" charset="-122"/>
                <a:cs typeface="Cambria" pitchFamily="34" charset="-120"/>
              </a:rPr>
              <a:t>24</a:t>
            </a:r>
            <a:endParaRPr lang="en-US" sz="2700" dirty="0"/>
          </a:p>
        </p:txBody>
      </p:sp>
      <p:sp>
        <p:nvSpPr>
          <p:cNvPr id="52" name="Text 50"/>
          <p:cNvSpPr/>
          <p:nvPr/>
        </p:nvSpPr>
        <p:spPr>
          <a:xfrm>
            <a:off x="9555480" y="3163824"/>
            <a:ext cx="2103120" cy="292608"/>
          </a:xfrm>
          <a:prstGeom prst="rect">
            <a:avLst/>
          </a:prstGeom>
          <a:noFill/>
          <a:ln/>
        </p:spPr>
        <p:txBody>
          <a:bodyPr wrap="square" lIns="0" tIns="0" rIns="0" bIns="0" rtlCol="0" anchor="ctr"/>
          <a:lstStyle/>
          <a:p>
            <a:pPr algn="ctr" indent="0" marL="0">
              <a:buNone/>
            </a:pPr>
            <a:r>
              <a:rPr lang="en-US" sz="1100" dirty="0">
                <a:solidFill>
                  <a:srgbClr val="5A6272"/>
                </a:solidFill>
                <a:latin typeface="Calibri" pitchFamily="34" charset="0"/>
                <a:ea typeface="Calibri" pitchFamily="34" charset="-122"/>
                <a:cs typeface="Calibri" pitchFamily="34" charset="-120"/>
              </a:rPr>
              <a:t>API endpoints</a:t>
            </a:r>
            <a:endParaRPr lang="en-US" sz="1100" dirty="0"/>
          </a:p>
        </p:txBody>
      </p:sp>
      <p:sp>
        <p:nvSpPr>
          <p:cNvPr id="53" name="Text 51"/>
          <p:cNvSpPr/>
          <p:nvPr/>
        </p:nvSpPr>
        <p:spPr>
          <a:xfrm>
            <a:off x="9555480" y="3785616"/>
            <a:ext cx="2103120" cy="457200"/>
          </a:xfrm>
          <a:prstGeom prst="rect">
            <a:avLst/>
          </a:prstGeom>
          <a:noFill/>
          <a:ln/>
        </p:spPr>
        <p:txBody>
          <a:bodyPr wrap="square" lIns="0" tIns="0" rIns="0" bIns="0" rtlCol="0" anchor="ctr"/>
          <a:lstStyle/>
          <a:p>
            <a:pPr algn="ctr" indent="0" marL="0">
              <a:buNone/>
            </a:pPr>
            <a:r>
              <a:rPr lang="en-US" sz="2700" b="1" dirty="0">
                <a:solidFill>
                  <a:srgbClr val="1F6B4D"/>
                </a:solidFill>
                <a:latin typeface="Cambria" pitchFamily="34" charset="0"/>
                <a:ea typeface="Cambria" pitchFamily="34" charset="-122"/>
                <a:cs typeface="Cambria" pitchFamily="34" charset="-120"/>
              </a:rPr>
              <a:t>7</a:t>
            </a:r>
            <a:endParaRPr lang="en-US" sz="2700" dirty="0"/>
          </a:p>
        </p:txBody>
      </p:sp>
      <p:sp>
        <p:nvSpPr>
          <p:cNvPr id="54" name="Text 52"/>
          <p:cNvSpPr/>
          <p:nvPr/>
        </p:nvSpPr>
        <p:spPr>
          <a:xfrm>
            <a:off x="9555480" y="4242816"/>
            <a:ext cx="2103120" cy="292608"/>
          </a:xfrm>
          <a:prstGeom prst="rect">
            <a:avLst/>
          </a:prstGeom>
          <a:noFill/>
          <a:ln/>
        </p:spPr>
        <p:txBody>
          <a:bodyPr wrap="square" lIns="0" tIns="0" rIns="0" bIns="0" rtlCol="0" anchor="ctr"/>
          <a:lstStyle/>
          <a:p>
            <a:pPr algn="ctr" indent="0" marL="0">
              <a:buNone/>
            </a:pPr>
            <a:r>
              <a:rPr lang="en-US" sz="1100" dirty="0">
                <a:solidFill>
                  <a:srgbClr val="5A6272"/>
                </a:solidFill>
                <a:latin typeface="Calibri" pitchFamily="34" charset="0"/>
                <a:ea typeface="Calibri" pitchFamily="34" charset="-122"/>
                <a:cs typeface="Calibri" pitchFamily="34" charset="-120"/>
              </a:rPr>
              <a:t>database tables</a:t>
            </a:r>
            <a:endParaRPr lang="en-US" sz="1100" dirty="0"/>
          </a:p>
        </p:txBody>
      </p:sp>
      <p:sp>
        <p:nvSpPr>
          <p:cNvPr id="55" name="Text 53"/>
          <p:cNvSpPr/>
          <p:nvPr/>
        </p:nvSpPr>
        <p:spPr>
          <a:xfrm>
            <a:off x="9555480" y="4864608"/>
            <a:ext cx="2103120" cy="457200"/>
          </a:xfrm>
          <a:prstGeom prst="rect">
            <a:avLst/>
          </a:prstGeom>
          <a:noFill/>
          <a:ln/>
        </p:spPr>
        <p:txBody>
          <a:bodyPr wrap="square" lIns="0" tIns="0" rIns="0" bIns="0" rtlCol="0" anchor="ctr"/>
          <a:lstStyle/>
          <a:p>
            <a:pPr algn="ctr" indent="0" marL="0">
              <a:buNone/>
            </a:pPr>
            <a:r>
              <a:rPr lang="en-US" sz="2700" b="1" dirty="0">
                <a:solidFill>
                  <a:srgbClr val="1F6B4D"/>
                </a:solidFill>
                <a:latin typeface="Cambria" pitchFamily="34" charset="0"/>
                <a:ea typeface="Cambria" pitchFamily="34" charset="-122"/>
                <a:cs typeface="Cambria" pitchFamily="34" charset="-120"/>
              </a:rPr>
              <a:t>0</a:t>
            </a:r>
            <a:endParaRPr lang="en-US" sz="2700" dirty="0"/>
          </a:p>
        </p:txBody>
      </p:sp>
      <p:sp>
        <p:nvSpPr>
          <p:cNvPr id="56" name="Text 54"/>
          <p:cNvSpPr/>
          <p:nvPr/>
        </p:nvSpPr>
        <p:spPr>
          <a:xfrm>
            <a:off x="9555480" y="5321808"/>
            <a:ext cx="2103120" cy="292608"/>
          </a:xfrm>
          <a:prstGeom prst="rect">
            <a:avLst/>
          </a:prstGeom>
          <a:noFill/>
          <a:ln/>
        </p:spPr>
        <p:txBody>
          <a:bodyPr wrap="square" lIns="0" tIns="0" rIns="0" bIns="0" rtlCol="0" anchor="ctr"/>
          <a:lstStyle/>
          <a:p>
            <a:pPr algn="ctr" indent="0" marL="0">
              <a:buNone/>
            </a:pPr>
            <a:r>
              <a:rPr lang="en-US" sz="1100" dirty="0">
                <a:solidFill>
                  <a:srgbClr val="5A6272"/>
                </a:solidFill>
                <a:latin typeface="Calibri" pitchFamily="34" charset="0"/>
                <a:ea typeface="Calibri" pitchFamily="34" charset="-122"/>
                <a:cs typeface="Calibri" pitchFamily="34" charset="-120"/>
              </a:rPr>
              <a:t>mocked outputs</a:t>
            </a:r>
            <a:endParaRPr lang="en-US" sz="1100" dirty="0"/>
          </a:p>
        </p:txBody>
      </p:sp>
      <p:sp>
        <p:nvSpPr>
          <p:cNvPr id="57" name="Text 55"/>
          <p:cNvSpPr/>
          <p:nvPr/>
        </p:nvSpPr>
        <p:spPr>
          <a:xfrm>
            <a:off x="502920" y="5943600"/>
            <a:ext cx="11155680" cy="457200"/>
          </a:xfrm>
          <a:prstGeom prst="rect">
            <a:avLst/>
          </a:prstGeom>
          <a:noFill/>
          <a:ln/>
        </p:spPr>
        <p:txBody>
          <a:bodyPr wrap="square" lIns="0" tIns="0" rIns="0" bIns="0" rtlCol="0" anchor="ctr"/>
          <a:lstStyle/>
          <a:p>
            <a:pPr indent="0" marL="0">
              <a:buNone/>
            </a:pPr>
            <a:r>
              <a:rPr lang="en-US" sz="1250" i="1" dirty="0">
                <a:solidFill>
                  <a:srgbClr val="5A6272"/>
                </a:solidFill>
                <a:latin typeface="Calibri" pitchFamily="34" charset="0"/>
                <a:ea typeface="Calibri" pitchFamily="34" charset="-122"/>
                <a:cs typeface="Calibri" pitchFamily="34" charset="-120"/>
              </a:rPr>
              <a:t>No feature in the Round 2.1 proposal was dropped. Where a module cannot run, the UI and the report print “Unavailable / Inconclusive” — never a fabricated success screen.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CRITERION 2</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Round 2.1 feedback, and what changed</a:t>
            </a:r>
            <a:endParaRPr lang="en-US" sz="3200" dirty="0"/>
          </a:p>
        </p:txBody>
      </p:sp>
      <p:sp>
        <p:nvSpPr>
          <p:cNvPr id="4" name="Shape 2"/>
          <p:cNvSpPr/>
          <p:nvPr/>
        </p:nvSpPr>
        <p:spPr>
          <a:xfrm>
            <a:off x="9144000" y="329184"/>
            <a:ext cx="2514600" cy="384048"/>
          </a:xfrm>
          <a:prstGeom prst="roundRect">
            <a:avLst>
              <a:gd name="adj" fmla="val 50000"/>
            </a:avLst>
          </a:prstGeom>
          <a:solidFill>
            <a:srgbClr val="1E2761"/>
          </a:solidFill>
          <a:ln w="9525">
            <a:solidFill>
              <a:srgbClr val="1E2761"/>
            </a:solidFill>
            <a:prstDash val="solid"/>
          </a:ln>
        </p:spPr>
      </p:sp>
      <p:sp>
        <p:nvSpPr>
          <p:cNvPr id="5" name="Text 3"/>
          <p:cNvSpPr/>
          <p:nvPr/>
        </p:nvSpPr>
        <p:spPr>
          <a:xfrm>
            <a:off x="9144000" y="329184"/>
            <a:ext cx="2514600" cy="384048"/>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Criterion 2  ·  10 marks</a:t>
            </a:r>
            <a:endParaRPr lang="en-US" sz="1100" dirty="0"/>
          </a:p>
        </p:txBody>
      </p:sp>
      <p:sp>
        <p:nvSpPr>
          <p:cNvPr id="6" name="Text 4"/>
          <p:cNvSpPr/>
          <p:nvPr/>
        </p:nvSpPr>
        <p:spPr>
          <a:xfrm>
            <a:off x="502920" y="1371600"/>
            <a:ext cx="11155680" cy="310896"/>
          </a:xfrm>
          <a:prstGeom prst="rect">
            <a:avLst/>
          </a:prstGeom>
          <a:noFill/>
          <a:ln/>
        </p:spPr>
        <p:txBody>
          <a:bodyPr wrap="square" lIns="0" tIns="0" rIns="0" bIns="0" rtlCol="0" anchor="ctr"/>
          <a:lstStyle/>
          <a:p>
            <a:pPr indent="0" marL="0">
              <a:buNone/>
            </a:pPr>
            <a:r>
              <a:rPr lang="en-US" sz="1200" b="1" dirty="0">
                <a:solidFill>
                  <a:srgbClr val="B06A00"/>
                </a:solidFill>
                <a:latin typeface="Calibri" pitchFamily="34" charset="0"/>
                <a:ea typeface="Calibri" pitchFamily="34" charset="-122"/>
                <a:cs typeface="Calibri" pitchFamily="34" charset="-120"/>
              </a:rPr>
              <a:t>FILL IN BEFORE PRESENTING — the exact evaluator wording is not recorded in the repo.</a:t>
            </a:r>
            <a:endParaRPr lang="en-US" sz="1200" dirty="0"/>
          </a:p>
        </p:txBody>
      </p:sp>
      <p:sp>
        <p:nvSpPr>
          <p:cNvPr id="7" name="Text 5"/>
          <p:cNvSpPr/>
          <p:nvPr/>
        </p:nvSpPr>
        <p:spPr>
          <a:xfrm>
            <a:off x="502920" y="1783080"/>
            <a:ext cx="3520440" cy="274320"/>
          </a:xfrm>
          <a:prstGeom prst="rect">
            <a:avLst/>
          </a:prstGeom>
          <a:noFill/>
          <a:ln/>
        </p:spPr>
        <p:txBody>
          <a:bodyPr wrap="square" lIns="0" tIns="0" rIns="0" bIns="0" rtlCol="0" anchor="ctr"/>
          <a:lstStyle/>
          <a:p>
            <a:pPr indent="0" marL="0">
              <a:buNone/>
            </a:pPr>
            <a:r>
              <a:rPr lang="en-US" sz="1200" b="1" spc="100" kern="0" dirty="0">
                <a:solidFill>
                  <a:srgbClr val="5A6272"/>
                </a:solidFill>
                <a:latin typeface="Calibri" pitchFamily="34" charset="0"/>
                <a:ea typeface="Calibri" pitchFamily="34" charset="-122"/>
                <a:cs typeface="Calibri" pitchFamily="34" charset="-120"/>
              </a:rPr>
              <a:t>Round 2.1 feedback</a:t>
            </a:r>
            <a:endParaRPr lang="en-US" sz="1200" dirty="0"/>
          </a:p>
        </p:txBody>
      </p:sp>
      <p:sp>
        <p:nvSpPr>
          <p:cNvPr id="8" name="Text 6"/>
          <p:cNvSpPr/>
          <p:nvPr/>
        </p:nvSpPr>
        <p:spPr>
          <a:xfrm>
            <a:off x="4224528" y="1783080"/>
            <a:ext cx="3520440" cy="274320"/>
          </a:xfrm>
          <a:prstGeom prst="rect">
            <a:avLst/>
          </a:prstGeom>
          <a:noFill/>
          <a:ln/>
        </p:spPr>
        <p:txBody>
          <a:bodyPr wrap="square" lIns="0" tIns="0" rIns="0" bIns="0" rtlCol="0" anchor="ctr"/>
          <a:lstStyle/>
          <a:p>
            <a:pPr indent="0" marL="0">
              <a:buNone/>
            </a:pPr>
            <a:r>
              <a:rPr lang="en-US" sz="1200" b="1" spc="100" kern="0" dirty="0">
                <a:solidFill>
                  <a:srgbClr val="5A6272"/>
                </a:solidFill>
                <a:latin typeface="Calibri" pitchFamily="34" charset="0"/>
                <a:ea typeface="Calibri" pitchFamily="34" charset="-122"/>
                <a:cs typeface="Calibri" pitchFamily="34" charset="-120"/>
              </a:rPr>
              <a:t>What we changed</a:t>
            </a:r>
            <a:endParaRPr lang="en-US" sz="1200" dirty="0"/>
          </a:p>
        </p:txBody>
      </p:sp>
      <p:sp>
        <p:nvSpPr>
          <p:cNvPr id="9" name="Text 7"/>
          <p:cNvSpPr/>
          <p:nvPr/>
        </p:nvSpPr>
        <p:spPr>
          <a:xfrm>
            <a:off x="7946136" y="1783080"/>
            <a:ext cx="3520440" cy="274320"/>
          </a:xfrm>
          <a:prstGeom prst="rect">
            <a:avLst/>
          </a:prstGeom>
          <a:noFill/>
          <a:ln/>
        </p:spPr>
        <p:txBody>
          <a:bodyPr wrap="square" lIns="0" tIns="0" rIns="0" bIns="0" rtlCol="0" anchor="ctr"/>
          <a:lstStyle/>
          <a:p>
            <a:pPr indent="0" marL="0">
              <a:buNone/>
            </a:pPr>
            <a:r>
              <a:rPr lang="en-US" sz="1200" b="1" spc="100" kern="0" dirty="0">
                <a:solidFill>
                  <a:srgbClr val="5A6272"/>
                </a:solidFill>
                <a:latin typeface="Calibri" pitchFamily="34" charset="0"/>
                <a:ea typeface="Calibri" pitchFamily="34" charset="-122"/>
                <a:cs typeface="Calibri" pitchFamily="34" charset="-120"/>
              </a:rPr>
              <a:t>Where to see it in the demo</a:t>
            </a:r>
            <a:endParaRPr lang="en-US" sz="1200" dirty="0"/>
          </a:p>
        </p:txBody>
      </p:sp>
      <p:sp>
        <p:nvSpPr>
          <p:cNvPr id="10" name="Shape 8"/>
          <p:cNvSpPr/>
          <p:nvPr/>
        </p:nvSpPr>
        <p:spPr>
          <a:xfrm>
            <a:off x="502920" y="2139696"/>
            <a:ext cx="11155680" cy="1170432"/>
          </a:xfrm>
          <a:prstGeom prst="roundRect">
            <a:avLst>
              <a:gd name="adj" fmla="val 7031"/>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1" name="Text 9"/>
          <p:cNvSpPr/>
          <p:nvPr/>
        </p:nvSpPr>
        <p:spPr>
          <a:xfrm>
            <a:off x="740664" y="2194560"/>
            <a:ext cx="3291840" cy="1060704"/>
          </a:xfrm>
          <a:prstGeom prst="rect">
            <a:avLst/>
          </a:prstGeom>
          <a:noFill/>
          <a:ln/>
        </p:spPr>
        <p:txBody>
          <a:bodyPr wrap="square" lIns="0" tIns="0" rIns="0" bIns="0" rtlCol="0" anchor="ctr"/>
          <a:lstStyle/>
          <a:p>
            <a:pPr indent="0" marL="0">
              <a:buNone/>
            </a:pPr>
            <a:r>
              <a:rPr lang="en-US" sz="1200" b="1" dirty="0">
                <a:solidFill>
                  <a:srgbClr val="B06A00"/>
                </a:solidFill>
                <a:latin typeface="Calibri" pitchFamily="34" charset="0"/>
                <a:ea typeface="Calibri" pitchFamily="34" charset="-122"/>
                <a:cs typeface="Calibri" pitchFamily="34" charset="-120"/>
              </a:rPr>
              <a:t>FEEDBACK 1 — replace with the evaluator's words</a:t>
            </a:r>
            <a:endParaRPr lang="en-US" sz="1200" dirty="0"/>
          </a:p>
        </p:txBody>
      </p:sp>
      <p:sp>
        <p:nvSpPr>
          <p:cNvPr id="12" name="Text 10"/>
          <p:cNvSpPr/>
          <p:nvPr/>
        </p:nvSpPr>
        <p:spPr>
          <a:xfrm>
            <a:off x="4224528" y="2194560"/>
            <a:ext cx="3657600" cy="1060704"/>
          </a:xfrm>
          <a:prstGeom prst="rect">
            <a:avLst/>
          </a:prstGeom>
          <a:noFill/>
          <a:ln/>
        </p:spPr>
        <p:txBody>
          <a:bodyPr wrap="square" lIns="0" tIns="0" rIns="0" bIns="0" rtlCol="0" anchor="ctr"/>
          <a:lstStyle/>
          <a:p>
            <a:pPr indent="0" marL="0">
              <a:buNone/>
            </a:pPr>
            <a:r>
              <a:rPr lang="en-US" sz="1150" dirty="0">
                <a:solidFill>
                  <a:srgbClr val="1B2030"/>
                </a:solidFill>
                <a:latin typeface="Calibri" pitchFamily="34" charset="0"/>
                <a:ea typeface="Calibri" pitchFamily="34" charset="-122"/>
                <a:cs typeface="Calibri" pitchFamily="34" charset="-120"/>
              </a:rPr>
              <a:t>Provenance was presented as Content Credentials, which almost no real file carries. Replaced with a Provenance estimator that locates published copies and verifies each one locally.</a:t>
            </a:r>
            <a:endParaRPr lang="en-US" sz="1150" dirty="0"/>
          </a:p>
        </p:txBody>
      </p:sp>
      <p:sp>
        <p:nvSpPr>
          <p:cNvPr id="13" name="Text 11"/>
          <p:cNvSpPr/>
          <p:nvPr/>
        </p:nvSpPr>
        <p:spPr>
          <a:xfrm>
            <a:off x="8074152" y="2194560"/>
            <a:ext cx="3291840" cy="106070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Case #35 — “10 found · 4 matched”</a:t>
            </a:r>
            <a:endParaRPr lang="en-US" sz="1150" dirty="0"/>
          </a:p>
        </p:txBody>
      </p:sp>
      <p:sp>
        <p:nvSpPr>
          <p:cNvPr id="14" name="Shape 12"/>
          <p:cNvSpPr/>
          <p:nvPr/>
        </p:nvSpPr>
        <p:spPr>
          <a:xfrm>
            <a:off x="502920" y="3438144"/>
            <a:ext cx="11155680" cy="1170432"/>
          </a:xfrm>
          <a:prstGeom prst="roundRect">
            <a:avLst>
              <a:gd name="adj" fmla="val 7031"/>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5" name="Text 13"/>
          <p:cNvSpPr/>
          <p:nvPr/>
        </p:nvSpPr>
        <p:spPr>
          <a:xfrm>
            <a:off x="740664" y="3493008"/>
            <a:ext cx="3291840" cy="1060704"/>
          </a:xfrm>
          <a:prstGeom prst="rect">
            <a:avLst/>
          </a:prstGeom>
          <a:noFill/>
          <a:ln/>
        </p:spPr>
        <p:txBody>
          <a:bodyPr wrap="square" lIns="0" tIns="0" rIns="0" bIns="0" rtlCol="0" anchor="ctr"/>
          <a:lstStyle/>
          <a:p>
            <a:pPr indent="0" marL="0">
              <a:buNone/>
            </a:pPr>
            <a:r>
              <a:rPr lang="en-US" sz="1200" b="1" dirty="0">
                <a:solidFill>
                  <a:srgbClr val="B06A00"/>
                </a:solidFill>
                <a:latin typeface="Calibri" pitchFamily="34" charset="0"/>
                <a:ea typeface="Calibri" pitchFamily="34" charset="-122"/>
                <a:cs typeface="Calibri" pitchFamily="34" charset="-120"/>
              </a:rPr>
              <a:t>FEEDBACK 2 — replace with the evaluator's words</a:t>
            </a:r>
            <a:endParaRPr lang="en-US" sz="1200" dirty="0"/>
          </a:p>
        </p:txBody>
      </p:sp>
      <p:sp>
        <p:nvSpPr>
          <p:cNvPr id="16" name="Text 14"/>
          <p:cNvSpPr/>
          <p:nvPr/>
        </p:nvSpPr>
        <p:spPr>
          <a:xfrm>
            <a:off x="4224528" y="3493008"/>
            <a:ext cx="3657600" cy="1060704"/>
          </a:xfrm>
          <a:prstGeom prst="rect">
            <a:avLst/>
          </a:prstGeom>
          <a:noFill/>
          <a:ln/>
        </p:spPr>
        <p:txBody>
          <a:bodyPr wrap="square" lIns="0" tIns="0" rIns="0" bIns="0" rtlCol="0" anchor="ctr"/>
          <a:lstStyle/>
          <a:p>
            <a:pPr indent="0" marL="0">
              <a:buNone/>
            </a:pPr>
            <a:r>
              <a:rPr lang="en-US" sz="1150" dirty="0">
                <a:solidFill>
                  <a:srgbClr val="1B2030"/>
                </a:solidFill>
                <a:latin typeface="Calibri" pitchFamily="34" charset="0"/>
                <a:ea typeface="Calibri" pitchFamily="34" charset="-122"/>
                <a:cs typeface="Calibri" pitchFamily="34" charset="-120"/>
              </a:rPr>
              <a:t>Added scripts/robustness.py: 16 real ffmpeg transforms measuring score stability under compression, re-upload and screen recording. Figures print in report section 22.</a:t>
            </a:r>
            <a:endParaRPr lang="en-US" sz="1150" dirty="0"/>
          </a:p>
        </p:txBody>
      </p:sp>
      <p:sp>
        <p:nvSpPr>
          <p:cNvPr id="17" name="Text 15"/>
          <p:cNvSpPr/>
          <p:nvPr/>
        </p:nvSpPr>
        <p:spPr>
          <a:xfrm>
            <a:off x="8074152" y="3493008"/>
            <a:ext cx="3291840" cy="106070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Report PDF — section 22</a:t>
            </a:r>
            <a:endParaRPr lang="en-US" sz="1150" dirty="0"/>
          </a:p>
        </p:txBody>
      </p:sp>
      <p:sp>
        <p:nvSpPr>
          <p:cNvPr id="18" name="Shape 16"/>
          <p:cNvSpPr/>
          <p:nvPr/>
        </p:nvSpPr>
        <p:spPr>
          <a:xfrm>
            <a:off x="502920" y="4736592"/>
            <a:ext cx="11155680" cy="1170432"/>
          </a:xfrm>
          <a:prstGeom prst="roundRect">
            <a:avLst>
              <a:gd name="adj" fmla="val 7031"/>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9" name="Text 17"/>
          <p:cNvSpPr/>
          <p:nvPr/>
        </p:nvSpPr>
        <p:spPr>
          <a:xfrm>
            <a:off x="740664" y="4791456"/>
            <a:ext cx="3291840" cy="1060704"/>
          </a:xfrm>
          <a:prstGeom prst="rect">
            <a:avLst/>
          </a:prstGeom>
          <a:noFill/>
          <a:ln/>
        </p:spPr>
        <p:txBody>
          <a:bodyPr wrap="square" lIns="0" tIns="0" rIns="0" bIns="0" rtlCol="0" anchor="ctr"/>
          <a:lstStyle/>
          <a:p>
            <a:pPr indent="0" marL="0">
              <a:buNone/>
            </a:pPr>
            <a:r>
              <a:rPr lang="en-US" sz="1200" b="1" dirty="0">
                <a:solidFill>
                  <a:srgbClr val="B06A00"/>
                </a:solidFill>
                <a:latin typeface="Calibri" pitchFamily="34" charset="0"/>
                <a:ea typeface="Calibri" pitchFamily="34" charset="-122"/>
                <a:cs typeface="Calibri" pitchFamily="34" charset="-120"/>
              </a:rPr>
              <a:t>FEEDBACK 3 — replace with the evaluator's words</a:t>
            </a:r>
            <a:endParaRPr lang="en-US" sz="1200" dirty="0"/>
          </a:p>
        </p:txBody>
      </p:sp>
      <p:sp>
        <p:nvSpPr>
          <p:cNvPr id="20" name="Text 18"/>
          <p:cNvSpPr/>
          <p:nvPr/>
        </p:nvSpPr>
        <p:spPr>
          <a:xfrm>
            <a:off x="4224528" y="4791456"/>
            <a:ext cx="3657600" cy="1060704"/>
          </a:xfrm>
          <a:prstGeom prst="rect">
            <a:avLst/>
          </a:prstGeom>
          <a:noFill/>
          <a:ln/>
        </p:spPr>
        <p:txBody>
          <a:bodyPr wrap="square" lIns="0" tIns="0" rIns="0" bIns="0" rtlCol="0" anchor="ctr"/>
          <a:lstStyle/>
          <a:p>
            <a:pPr indent="0" marL="0">
              <a:buNone/>
            </a:pPr>
            <a:r>
              <a:rPr lang="en-US" sz="1150" dirty="0">
                <a:solidFill>
                  <a:srgbClr val="1B2030"/>
                </a:solidFill>
                <a:latin typeface="Calibri" pitchFamily="34" charset="0"/>
                <a:ea typeface="Calibri" pitchFamily="34" charset="-122"/>
                <a:cs typeface="Calibri" pitchFamily="34" charset="-120"/>
              </a:rPr>
              <a:t>Benchmarked every layer against public corpora (LFW, 140k Real-and-Fake) and published the numbers, confidence intervals and caveats — including the weak ones.</a:t>
            </a:r>
            <a:endParaRPr lang="en-US" sz="1150" dirty="0"/>
          </a:p>
        </p:txBody>
      </p:sp>
      <p:sp>
        <p:nvSpPr>
          <p:cNvPr id="21" name="Text 19"/>
          <p:cNvSpPr/>
          <p:nvPr/>
        </p:nvSpPr>
        <p:spPr>
          <a:xfrm>
            <a:off x="8074152" y="4791456"/>
            <a:ext cx="3291840" cy="106070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Benchmark panel + slide 9</a:t>
            </a:r>
            <a:endParaRPr lang="en-US" sz="1150" dirty="0"/>
          </a:p>
        </p:txBody>
      </p:sp>
      <p:sp>
        <p:nvSpPr>
          <p:cNvPr id="22" name="Text 20"/>
          <p:cNvSpPr/>
          <p:nvPr/>
        </p:nvSpPr>
        <p:spPr>
          <a:xfrm>
            <a:off x="502920" y="6108192"/>
            <a:ext cx="11155680" cy="365760"/>
          </a:xfrm>
          <a:prstGeom prst="rect">
            <a:avLst/>
          </a:prstGeom>
          <a:noFill/>
          <a:ln/>
        </p:spPr>
        <p:txBody>
          <a:bodyPr wrap="square" lIns="0" tIns="0" rIns="0" bIns="0" rtlCol="0" anchor="ctr"/>
          <a:lstStyle/>
          <a:p>
            <a:pPr indent="0" marL="0">
              <a:buNone/>
            </a:pPr>
            <a:r>
              <a:rPr lang="en-US" sz="1250" i="1" dirty="0">
                <a:solidFill>
                  <a:srgbClr val="5A6272"/>
                </a:solidFill>
                <a:latin typeface="Calibri" pitchFamily="34" charset="0"/>
                <a:ea typeface="Calibri" pitchFamily="34" charset="-122"/>
                <a:cs typeface="Calibri" pitchFamily="34" charset="-120"/>
              </a:rPr>
              <a:t>Each change is demonstrable live — not described. Point at the screen for every row.</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THE WORKFLOW</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Six stages, one case record</a:t>
            </a:r>
            <a:endParaRPr lang="en-US" sz="3200" dirty="0"/>
          </a:p>
        </p:txBody>
      </p:sp>
      <p:sp>
        <p:nvSpPr>
          <p:cNvPr id="4" name="Shape 2"/>
          <p:cNvSpPr/>
          <p:nvPr/>
        </p:nvSpPr>
        <p:spPr>
          <a:xfrm>
            <a:off x="502920" y="1572768"/>
            <a:ext cx="1755648" cy="2194560"/>
          </a:xfrm>
          <a:prstGeom prst="roundRect">
            <a:avLst>
              <a:gd name="adj" fmla="val 4688"/>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5" name="Shape 3"/>
          <p:cNvSpPr/>
          <p:nvPr/>
        </p:nvSpPr>
        <p:spPr>
          <a:xfrm>
            <a:off x="1152144" y="1755648"/>
            <a:ext cx="457200" cy="457200"/>
          </a:xfrm>
          <a:prstGeom prst="ellipse">
            <a:avLst/>
          </a:prstGeom>
          <a:solidFill>
            <a:srgbClr val="1E2761"/>
          </a:solidFill>
          <a:ln w="6350">
            <a:solidFill>
              <a:srgbClr val="1E2761"/>
            </a:solidFill>
            <a:prstDash val="solid"/>
          </a:ln>
        </p:spPr>
      </p:sp>
      <p:sp>
        <p:nvSpPr>
          <p:cNvPr id="6" name="Text 4"/>
          <p:cNvSpPr/>
          <p:nvPr/>
        </p:nvSpPr>
        <p:spPr>
          <a:xfrm>
            <a:off x="1152144" y="175564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502920" y="2304288"/>
            <a:ext cx="1755648" cy="329184"/>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Match</a:t>
            </a:r>
            <a:endParaRPr lang="en-US" sz="1800" dirty="0"/>
          </a:p>
        </p:txBody>
      </p:sp>
      <p:sp>
        <p:nvSpPr>
          <p:cNvPr id="8" name="Text 6"/>
          <p:cNvSpPr/>
          <p:nvPr/>
        </p:nvSpPr>
        <p:spPr>
          <a:xfrm>
            <a:off x="502920" y="2633472"/>
            <a:ext cx="1755648" cy="237744"/>
          </a:xfrm>
          <a:prstGeom prst="rect">
            <a:avLst/>
          </a:prstGeom>
          <a:noFill/>
          <a:ln/>
        </p:spPr>
        <p:txBody>
          <a:bodyPr wrap="square" lIns="0" tIns="0" rIns="0" bIns="0" rtlCol="0" anchor="ctr"/>
          <a:lstStyle/>
          <a:p>
            <a:pPr algn="ctr" indent="0" marL="0">
              <a:buNone/>
            </a:pPr>
            <a:r>
              <a:rPr lang="en-US" sz="950" b="1" spc="110" kern="0" dirty="0">
                <a:solidFill>
                  <a:srgbClr val="5A6272"/>
                </a:solidFill>
                <a:latin typeface="Calibri" pitchFamily="34" charset="0"/>
                <a:ea typeface="Calibri" pitchFamily="34" charset="-122"/>
                <a:cs typeface="Calibri" pitchFamily="34" charset="-120"/>
              </a:rPr>
              <a:t>IDENTITY</a:t>
            </a:r>
            <a:endParaRPr lang="en-US" sz="950" dirty="0"/>
          </a:p>
        </p:txBody>
      </p:sp>
      <p:sp>
        <p:nvSpPr>
          <p:cNvPr id="9" name="Text 7"/>
          <p:cNvSpPr/>
          <p:nvPr/>
        </p:nvSpPr>
        <p:spPr>
          <a:xfrm>
            <a:off x="630936" y="2944368"/>
            <a:ext cx="1499616" cy="822960"/>
          </a:xfrm>
          <a:prstGeom prst="rect">
            <a:avLst/>
          </a:prstGeom>
          <a:noFill/>
          <a:ln/>
        </p:spPr>
        <p:txBody>
          <a:bodyPr wrap="square" lIns="0" tIns="0" rIns="0" bIns="0" rtlCol="0" anchor="t"/>
          <a:lstStyle/>
          <a:p>
            <a:pPr algn="ctr" indent="0" marL="0">
              <a:lnSpc>
                <a:spcPts val="1500"/>
              </a:lnSpc>
              <a:buNone/>
            </a:pPr>
            <a:r>
              <a:rPr lang="en-US" sz="1100" dirty="0">
                <a:solidFill>
                  <a:srgbClr val="1B2030"/>
                </a:solidFill>
                <a:latin typeface="Calibri" pitchFamily="34" charset="0"/>
                <a:ea typeface="Calibri" pitchFamily="34" charset="-122"/>
                <a:cs typeface="Calibri" pitchFamily="34" charset="-120"/>
              </a:rPr>
              <a:t>Is the consented</a:t>
            </a:r>
            <a:endParaRPr lang="en-US" sz="1100" dirty="0"/>
          </a:p>
          <a:p>
            <a:pPr algn="ctr" indent="0" marL="0">
              <a:lnSpc>
                <a:spcPts val="1500"/>
              </a:lnSpc>
              <a:buNone/>
            </a:pPr>
            <a:r>
              <a:rPr lang="en-US" sz="1100" dirty="0">
                <a:solidFill>
                  <a:srgbClr val="1B2030"/>
                </a:solidFill>
                <a:latin typeface="Calibri" pitchFamily="34" charset="0"/>
                <a:ea typeface="Calibri" pitchFamily="34" charset="-122"/>
                <a:cs typeface="Calibri" pitchFamily="34" charset="-120"/>
              </a:rPr>
              <a:t>face / voice present?</a:t>
            </a:r>
            <a:endParaRPr lang="en-US" sz="1100" dirty="0"/>
          </a:p>
        </p:txBody>
      </p:sp>
      <p:sp>
        <p:nvSpPr>
          <p:cNvPr id="10" name="Shape 8"/>
          <p:cNvSpPr/>
          <p:nvPr/>
        </p:nvSpPr>
        <p:spPr>
          <a:xfrm>
            <a:off x="2377440" y="1572768"/>
            <a:ext cx="1755648" cy="2194560"/>
          </a:xfrm>
          <a:prstGeom prst="roundRect">
            <a:avLst>
              <a:gd name="adj" fmla="val 4688"/>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1" name="Shape 9"/>
          <p:cNvSpPr/>
          <p:nvPr/>
        </p:nvSpPr>
        <p:spPr>
          <a:xfrm>
            <a:off x="3026664" y="1755648"/>
            <a:ext cx="457200" cy="457200"/>
          </a:xfrm>
          <a:prstGeom prst="ellipse">
            <a:avLst/>
          </a:prstGeom>
          <a:solidFill>
            <a:srgbClr val="1E2761"/>
          </a:solidFill>
          <a:ln w="6350">
            <a:solidFill>
              <a:srgbClr val="1E2761"/>
            </a:solidFill>
            <a:prstDash val="solid"/>
          </a:ln>
        </p:spPr>
      </p:sp>
      <p:sp>
        <p:nvSpPr>
          <p:cNvPr id="12" name="Text 10"/>
          <p:cNvSpPr/>
          <p:nvPr/>
        </p:nvSpPr>
        <p:spPr>
          <a:xfrm>
            <a:off x="3026664" y="175564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2377440" y="2304288"/>
            <a:ext cx="1755648" cy="329184"/>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Analyze</a:t>
            </a:r>
            <a:endParaRPr lang="en-US" sz="1800" dirty="0"/>
          </a:p>
        </p:txBody>
      </p:sp>
      <p:sp>
        <p:nvSpPr>
          <p:cNvPr id="14" name="Text 12"/>
          <p:cNvSpPr/>
          <p:nvPr/>
        </p:nvSpPr>
        <p:spPr>
          <a:xfrm>
            <a:off x="2377440" y="2633472"/>
            <a:ext cx="1755648" cy="237744"/>
          </a:xfrm>
          <a:prstGeom prst="rect">
            <a:avLst/>
          </a:prstGeom>
          <a:noFill/>
          <a:ln/>
        </p:spPr>
        <p:txBody>
          <a:bodyPr wrap="square" lIns="0" tIns="0" rIns="0" bIns="0" rtlCol="0" anchor="ctr"/>
          <a:lstStyle/>
          <a:p>
            <a:pPr algn="ctr" indent="0" marL="0">
              <a:buNone/>
            </a:pPr>
            <a:r>
              <a:rPr lang="en-US" sz="950" b="1" spc="110" kern="0" dirty="0">
                <a:solidFill>
                  <a:srgbClr val="5A6272"/>
                </a:solidFill>
                <a:latin typeface="Calibri" pitchFamily="34" charset="0"/>
                <a:ea typeface="Calibri" pitchFamily="34" charset="-122"/>
                <a:cs typeface="Calibri" pitchFamily="34" charset="-120"/>
              </a:rPr>
              <a:t>MANIPULATION</a:t>
            </a:r>
            <a:endParaRPr lang="en-US" sz="950" dirty="0"/>
          </a:p>
        </p:txBody>
      </p:sp>
      <p:sp>
        <p:nvSpPr>
          <p:cNvPr id="15" name="Text 13"/>
          <p:cNvSpPr/>
          <p:nvPr/>
        </p:nvSpPr>
        <p:spPr>
          <a:xfrm>
            <a:off x="2505456" y="2944368"/>
            <a:ext cx="1499616" cy="822960"/>
          </a:xfrm>
          <a:prstGeom prst="rect">
            <a:avLst/>
          </a:prstGeom>
          <a:noFill/>
          <a:ln/>
        </p:spPr>
        <p:txBody>
          <a:bodyPr wrap="square" lIns="0" tIns="0" rIns="0" bIns="0" rtlCol="0" anchor="t"/>
          <a:lstStyle/>
          <a:p>
            <a:pPr algn="ctr" indent="0" marL="0">
              <a:lnSpc>
                <a:spcPts val="1500"/>
              </a:lnSpc>
              <a:buNone/>
            </a:pPr>
            <a:r>
              <a:rPr lang="en-US" sz="1100" dirty="0">
                <a:solidFill>
                  <a:srgbClr val="1B2030"/>
                </a:solidFill>
                <a:latin typeface="Calibri" pitchFamily="34" charset="0"/>
                <a:ea typeface="Calibri" pitchFamily="34" charset="-122"/>
                <a:cs typeface="Calibri" pitchFamily="34" charset="-120"/>
              </a:rPr>
              <a:t>Per-frame indicators</a:t>
            </a:r>
            <a:endParaRPr lang="en-US" sz="1100" dirty="0"/>
          </a:p>
          <a:p>
            <a:pPr algn="ctr" indent="0" marL="0">
              <a:lnSpc>
                <a:spcPts val="1500"/>
              </a:lnSpc>
              <a:buNone/>
            </a:pPr>
            <a:r>
              <a:rPr lang="en-US" sz="1100" dirty="0">
                <a:solidFill>
                  <a:srgbClr val="1B2030"/>
                </a:solidFill>
                <a:latin typeface="Calibri" pitchFamily="34" charset="0"/>
                <a:ea typeface="Calibri" pitchFamily="34" charset="-122"/>
                <a:cs typeface="Calibri" pitchFamily="34" charset="-120"/>
              </a:rPr>
              <a:t>on cropped faces</a:t>
            </a:r>
            <a:endParaRPr lang="en-US" sz="1100" dirty="0"/>
          </a:p>
        </p:txBody>
      </p:sp>
      <p:sp>
        <p:nvSpPr>
          <p:cNvPr id="16" name="Shape 14"/>
          <p:cNvSpPr/>
          <p:nvPr/>
        </p:nvSpPr>
        <p:spPr>
          <a:xfrm>
            <a:off x="4251960" y="1572768"/>
            <a:ext cx="1755648" cy="2194560"/>
          </a:xfrm>
          <a:prstGeom prst="roundRect">
            <a:avLst>
              <a:gd name="adj" fmla="val 4688"/>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7" name="Shape 15"/>
          <p:cNvSpPr/>
          <p:nvPr/>
        </p:nvSpPr>
        <p:spPr>
          <a:xfrm>
            <a:off x="4901184" y="1755648"/>
            <a:ext cx="457200" cy="457200"/>
          </a:xfrm>
          <a:prstGeom prst="ellipse">
            <a:avLst/>
          </a:prstGeom>
          <a:solidFill>
            <a:srgbClr val="1E2761"/>
          </a:solidFill>
          <a:ln w="6350">
            <a:solidFill>
              <a:srgbClr val="1E2761"/>
            </a:solidFill>
            <a:prstDash val="solid"/>
          </a:ln>
        </p:spPr>
      </p:sp>
      <p:sp>
        <p:nvSpPr>
          <p:cNvPr id="18" name="Text 16"/>
          <p:cNvSpPr/>
          <p:nvPr/>
        </p:nvSpPr>
        <p:spPr>
          <a:xfrm>
            <a:off x="4901184" y="175564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4251960" y="2304288"/>
            <a:ext cx="1755648" cy="329184"/>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Localize</a:t>
            </a:r>
            <a:endParaRPr lang="en-US" sz="1800" dirty="0"/>
          </a:p>
        </p:txBody>
      </p:sp>
      <p:sp>
        <p:nvSpPr>
          <p:cNvPr id="20" name="Text 18"/>
          <p:cNvSpPr/>
          <p:nvPr/>
        </p:nvSpPr>
        <p:spPr>
          <a:xfrm>
            <a:off x="4251960" y="2633472"/>
            <a:ext cx="1755648" cy="237744"/>
          </a:xfrm>
          <a:prstGeom prst="rect">
            <a:avLst/>
          </a:prstGeom>
          <a:noFill/>
          <a:ln/>
        </p:spPr>
        <p:txBody>
          <a:bodyPr wrap="square" lIns="0" tIns="0" rIns="0" bIns="0" rtlCol="0" anchor="ctr"/>
          <a:lstStyle/>
          <a:p>
            <a:pPr algn="ctr" indent="0" marL="0">
              <a:buNone/>
            </a:pPr>
            <a:r>
              <a:rPr lang="en-US" sz="950" b="1" spc="110" kern="0" dirty="0">
                <a:solidFill>
                  <a:srgbClr val="5A6272"/>
                </a:solidFill>
                <a:latin typeface="Calibri" pitchFamily="34" charset="0"/>
                <a:ea typeface="Calibri" pitchFamily="34" charset="-122"/>
                <a:cs typeface="Calibri" pitchFamily="34" charset="-120"/>
              </a:rPr>
              <a:t>WHERE &amp; WHEN</a:t>
            </a:r>
            <a:endParaRPr lang="en-US" sz="950" dirty="0"/>
          </a:p>
        </p:txBody>
      </p:sp>
      <p:sp>
        <p:nvSpPr>
          <p:cNvPr id="21" name="Text 19"/>
          <p:cNvSpPr/>
          <p:nvPr/>
        </p:nvSpPr>
        <p:spPr>
          <a:xfrm>
            <a:off x="4379976" y="2944368"/>
            <a:ext cx="1499616" cy="822960"/>
          </a:xfrm>
          <a:prstGeom prst="rect">
            <a:avLst/>
          </a:prstGeom>
          <a:noFill/>
          <a:ln/>
        </p:spPr>
        <p:txBody>
          <a:bodyPr wrap="square" lIns="0" tIns="0" rIns="0" bIns="0" rtlCol="0" anchor="t"/>
          <a:lstStyle/>
          <a:p>
            <a:pPr algn="ctr" indent="0" marL="0">
              <a:lnSpc>
                <a:spcPts val="1500"/>
              </a:lnSpc>
              <a:buNone/>
            </a:pPr>
            <a:r>
              <a:rPr lang="en-US" sz="1100" dirty="0">
                <a:solidFill>
                  <a:srgbClr val="1B2030"/>
                </a:solidFill>
                <a:latin typeface="Calibri" pitchFamily="34" charset="0"/>
                <a:ea typeface="Calibri" pitchFamily="34" charset="-122"/>
                <a:cs typeface="Calibri" pitchFamily="34" charset="-120"/>
              </a:rPr>
              <a:t>Frames, intervals,</a:t>
            </a:r>
            <a:endParaRPr lang="en-US" sz="1100" dirty="0"/>
          </a:p>
          <a:p>
            <a:pPr algn="ctr" indent="0" marL="0">
              <a:lnSpc>
                <a:spcPts val="1500"/>
              </a:lnSpc>
              <a:buNone/>
            </a:pPr>
            <a:r>
              <a:rPr lang="en-US" sz="1100" dirty="0">
                <a:solidFill>
                  <a:srgbClr val="1B2030"/>
                </a:solidFill>
                <a:latin typeface="Calibri" pitchFamily="34" charset="0"/>
                <a:ea typeface="Calibri" pitchFamily="34" charset="-122"/>
                <a:cs typeface="Calibri" pitchFamily="34" charset="-120"/>
              </a:rPr>
              <a:t>residual overlays</a:t>
            </a:r>
            <a:endParaRPr lang="en-US" sz="1100" dirty="0"/>
          </a:p>
        </p:txBody>
      </p:sp>
      <p:sp>
        <p:nvSpPr>
          <p:cNvPr id="22" name="Shape 20"/>
          <p:cNvSpPr/>
          <p:nvPr/>
        </p:nvSpPr>
        <p:spPr>
          <a:xfrm>
            <a:off x="6126480" y="1572768"/>
            <a:ext cx="1755648" cy="2194560"/>
          </a:xfrm>
          <a:prstGeom prst="roundRect">
            <a:avLst>
              <a:gd name="adj" fmla="val 4688"/>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23" name="Shape 21"/>
          <p:cNvSpPr/>
          <p:nvPr/>
        </p:nvSpPr>
        <p:spPr>
          <a:xfrm>
            <a:off x="6775704" y="1755648"/>
            <a:ext cx="457200" cy="457200"/>
          </a:xfrm>
          <a:prstGeom prst="ellipse">
            <a:avLst/>
          </a:prstGeom>
          <a:solidFill>
            <a:srgbClr val="1E2761"/>
          </a:solidFill>
          <a:ln w="6350">
            <a:solidFill>
              <a:srgbClr val="1E2761"/>
            </a:solidFill>
            <a:prstDash val="solid"/>
          </a:ln>
        </p:spPr>
      </p:sp>
      <p:sp>
        <p:nvSpPr>
          <p:cNvPr id="24" name="Text 22"/>
          <p:cNvSpPr/>
          <p:nvPr/>
        </p:nvSpPr>
        <p:spPr>
          <a:xfrm>
            <a:off x="6775704" y="175564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6126480" y="2304288"/>
            <a:ext cx="1755648" cy="329184"/>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Trace</a:t>
            </a:r>
            <a:endParaRPr lang="en-US" sz="1800" dirty="0"/>
          </a:p>
        </p:txBody>
      </p:sp>
      <p:sp>
        <p:nvSpPr>
          <p:cNvPr id="26" name="Text 24"/>
          <p:cNvSpPr/>
          <p:nvPr/>
        </p:nvSpPr>
        <p:spPr>
          <a:xfrm>
            <a:off x="6126480" y="2633472"/>
            <a:ext cx="1755648" cy="237744"/>
          </a:xfrm>
          <a:prstGeom prst="rect">
            <a:avLst/>
          </a:prstGeom>
          <a:noFill/>
          <a:ln/>
        </p:spPr>
        <p:txBody>
          <a:bodyPr wrap="square" lIns="0" tIns="0" rIns="0" bIns="0" rtlCol="0" anchor="ctr"/>
          <a:lstStyle/>
          <a:p>
            <a:pPr algn="ctr" indent="0" marL="0">
              <a:buNone/>
            </a:pPr>
            <a:r>
              <a:rPr lang="en-US" sz="950" b="1" spc="110" kern="0" dirty="0">
                <a:solidFill>
                  <a:srgbClr val="5A6272"/>
                </a:solidFill>
                <a:latin typeface="Calibri" pitchFamily="34" charset="0"/>
                <a:ea typeface="Calibri" pitchFamily="34" charset="-122"/>
                <a:cs typeface="Calibri" pitchFamily="34" charset="-120"/>
              </a:rPr>
              <a:t>PROVENANCE</a:t>
            </a:r>
            <a:endParaRPr lang="en-US" sz="950" dirty="0"/>
          </a:p>
        </p:txBody>
      </p:sp>
      <p:sp>
        <p:nvSpPr>
          <p:cNvPr id="27" name="Text 25"/>
          <p:cNvSpPr/>
          <p:nvPr/>
        </p:nvSpPr>
        <p:spPr>
          <a:xfrm>
            <a:off x="6254496" y="2944368"/>
            <a:ext cx="1499616" cy="822960"/>
          </a:xfrm>
          <a:prstGeom prst="rect">
            <a:avLst/>
          </a:prstGeom>
          <a:noFill/>
          <a:ln/>
        </p:spPr>
        <p:txBody>
          <a:bodyPr wrap="square" lIns="0" tIns="0" rIns="0" bIns="0" rtlCol="0" anchor="t"/>
          <a:lstStyle/>
          <a:p>
            <a:pPr algn="ctr" indent="0" marL="0">
              <a:lnSpc>
                <a:spcPts val="1500"/>
              </a:lnSpc>
              <a:buNone/>
            </a:pPr>
            <a:r>
              <a:rPr lang="en-US" sz="1100" dirty="0">
                <a:solidFill>
                  <a:srgbClr val="1B2030"/>
                </a:solidFill>
                <a:latin typeface="Calibri" pitchFamily="34" charset="0"/>
                <a:ea typeface="Calibri" pitchFamily="34" charset="-122"/>
                <a:cs typeface="Calibri" pitchFamily="34" charset="-120"/>
              </a:rPr>
              <a:t>Published copies,</a:t>
            </a:r>
            <a:endParaRPr lang="en-US" sz="1100" dirty="0"/>
          </a:p>
          <a:p>
            <a:pPr algn="ctr" indent="0" marL="0">
              <a:lnSpc>
                <a:spcPts val="1500"/>
              </a:lnSpc>
              <a:buNone/>
            </a:pPr>
            <a:r>
              <a:rPr lang="en-US" sz="1100" dirty="0">
                <a:solidFill>
                  <a:srgbClr val="1B2030"/>
                </a:solidFill>
                <a:latin typeface="Calibri" pitchFamily="34" charset="0"/>
                <a:ea typeface="Calibri" pitchFamily="34" charset="-122"/>
                <a:cs typeface="Calibri" pitchFamily="34" charset="-120"/>
              </a:rPr>
              <a:t>verified locally</a:t>
            </a:r>
            <a:endParaRPr lang="en-US" sz="1100" dirty="0"/>
          </a:p>
        </p:txBody>
      </p:sp>
      <p:sp>
        <p:nvSpPr>
          <p:cNvPr id="28" name="Shape 26"/>
          <p:cNvSpPr/>
          <p:nvPr/>
        </p:nvSpPr>
        <p:spPr>
          <a:xfrm>
            <a:off x="8001000" y="1572768"/>
            <a:ext cx="1755648" cy="2194560"/>
          </a:xfrm>
          <a:prstGeom prst="roundRect">
            <a:avLst>
              <a:gd name="adj" fmla="val 4688"/>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29" name="Shape 27"/>
          <p:cNvSpPr/>
          <p:nvPr/>
        </p:nvSpPr>
        <p:spPr>
          <a:xfrm>
            <a:off x="8650224" y="1755648"/>
            <a:ext cx="457200" cy="457200"/>
          </a:xfrm>
          <a:prstGeom prst="ellipse">
            <a:avLst/>
          </a:prstGeom>
          <a:solidFill>
            <a:srgbClr val="1E2761"/>
          </a:solidFill>
          <a:ln w="6350">
            <a:solidFill>
              <a:srgbClr val="1E2761"/>
            </a:solidFill>
            <a:prstDash val="solid"/>
          </a:ln>
        </p:spPr>
      </p:sp>
      <p:sp>
        <p:nvSpPr>
          <p:cNvPr id="30" name="Text 28"/>
          <p:cNvSpPr/>
          <p:nvPr/>
        </p:nvSpPr>
        <p:spPr>
          <a:xfrm>
            <a:off x="8650224" y="175564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8001000" y="2304288"/>
            <a:ext cx="1755648" cy="329184"/>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Preserve</a:t>
            </a:r>
            <a:endParaRPr lang="en-US" sz="1800" dirty="0"/>
          </a:p>
        </p:txBody>
      </p:sp>
      <p:sp>
        <p:nvSpPr>
          <p:cNvPr id="32" name="Text 30"/>
          <p:cNvSpPr/>
          <p:nvPr/>
        </p:nvSpPr>
        <p:spPr>
          <a:xfrm>
            <a:off x="8001000" y="2633472"/>
            <a:ext cx="1755648" cy="237744"/>
          </a:xfrm>
          <a:prstGeom prst="rect">
            <a:avLst/>
          </a:prstGeom>
          <a:noFill/>
          <a:ln/>
        </p:spPr>
        <p:txBody>
          <a:bodyPr wrap="square" lIns="0" tIns="0" rIns="0" bIns="0" rtlCol="0" anchor="ctr"/>
          <a:lstStyle/>
          <a:p>
            <a:pPr algn="ctr" indent="0" marL="0">
              <a:buNone/>
            </a:pPr>
            <a:r>
              <a:rPr lang="en-US" sz="950" b="1" spc="110" kern="0" dirty="0">
                <a:solidFill>
                  <a:srgbClr val="5A6272"/>
                </a:solidFill>
                <a:latin typeface="Calibri" pitchFamily="34" charset="0"/>
                <a:ea typeface="Calibri" pitchFamily="34" charset="-122"/>
                <a:cs typeface="Calibri" pitchFamily="34" charset="-120"/>
              </a:rPr>
              <a:t>INTEGRITY</a:t>
            </a:r>
            <a:endParaRPr lang="en-US" sz="950" dirty="0"/>
          </a:p>
        </p:txBody>
      </p:sp>
      <p:sp>
        <p:nvSpPr>
          <p:cNvPr id="33" name="Text 31"/>
          <p:cNvSpPr/>
          <p:nvPr/>
        </p:nvSpPr>
        <p:spPr>
          <a:xfrm>
            <a:off x="8129016" y="2944368"/>
            <a:ext cx="1499616" cy="822960"/>
          </a:xfrm>
          <a:prstGeom prst="rect">
            <a:avLst/>
          </a:prstGeom>
          <a:noFill/>
          <a:ln/>
        </p:spPr>
        <p:txBody>
          <a:bodyPr wrap="square" lIns="0" tIns="0" rIns="0" bIns="0" rtlCol="0" anchor="t"/>
          <a:lstStyle/>
          <a:p>
            <a:pPr algn="ctr" indent="0" marL="0">
              <a:lnSpc>
                <a:spcPts val="1500"/>
              </a:lnSpc>
              <a:buNone/>
            </a:pPr>
            <a:r>
              <a:rPr lang="en-US" sz="1100" dirty="0">
                <a:solidFill>
                  <a:srgbClr val="1B2030"/>
                </a:solidFill>
                <a:latin typeface="Calibri" pitchFamily="34" charset="0"/>
                <a:ea typeface="Calibri" pitchFamily="34" charset="-122"/>
                <a:cs typeface="Calibri" pitchFamily="34" charset="-120"/>
              </a:rPr>
              <a:t>SHA-256, chain</a:t>
            </a:r>
            <a:endParaRPr lang="en-US" sz="1100" dirty="0"/>
          </a:p>
          <a:p>
            <a:pPr algn="ctr" indent="0" marL="0">
              <a:lnSpc>
                <a:spcPts val="1500"/>
              </a:lnSpc>
              <a:buNone/>
            </a:pPr>
            <a:r>
              <a:rPr lang="en-US" sz="1100" dirty="0">
                <a:solidFill>
                  <a:srgbClr val="1B2030"/>
                </a:solidFill>
                <a:latin typeface="Calibri" pitchFamily="34" charset="0"/>
                <a:ea typeface="Calibri" pitchFamily="34" charset="-122"/>
                <a:cs typeface="Calibri" pitchFamily="34" charset="-120"/>
              </a:rPr>
              <a:t>of custody</a:t>
            </a:r>
            <a:endParaRPr lang="en-US" sz="1100" dirty="0"/>
          </a:p>
        </p:txBody>
      </p:sp>
      <p:sp>
        <p:nvSpPr>
          <p:cNvPr id="34" name="Shape 32"/>
          <p:cNvSpPr/>
          <p:nvPr/>
        </p:nvSpPr>
        <p:spPr>
          <a:xfrm>
            <a:off x="9875520" y="1572768"/>
            <a:ext cx="1755648" cy="2194560"/>
          </a:xfrm>
          <a:prstGeom prst="roundRect">
            <a:avLst>
              <a:gd name="adj" fmla="val 4688"/>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35" name="Shape 33"/>
          <p:cNvSpPr/>
          <p:nvPr/>
        </p:nvSpPr>
        <p:spPr>
          <a:xfrm>
            <a:off x="10524744" y="1755648"/>
            <a:ext cx="457200" cy="457200"/>
          </a:xfrm>
          <a:prstGeom prst="ellipse">
            <a:avLst/>
          </a:prstGeom>
          <a:solidFill>
            <a:srgbClr val="1E2761"/>
          </a:solidFill>
          <a:ln w="6350">
            <a:solidFill>
              <a:srgbClr val="1E2761"/>
            </a:solidFill>
            <a:prstDash val="solid"/>
          </a:ln>
        </p:spPr>
      </p:sp>
      <p:sp>
        <p:nvSpPr>
          <p:cNvPr id="36" name="Text 34"/>
          <p:cNvSpPr/>
          <p:nvPr/>
        </p:nvSpPr>
        <p:spPr>
          <a:xfrm>
            <a:off x="10524744" y="175564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p:nvPr/>
        </p:nvSpPr>
        <p:spPr>
          <a:xfrm>
            <a:off x="9875520" y="2304288"/>
            <a:ext cx="1755648" cy="329184"/>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Respond</a:t>
            </a:r>
            <a:endParaRPr lang="en-US" sz="1800" dirty="0"/>
          </a:p>
        </p:txBody>
      </p:sp>
      <p:sp>
        <p:nvSpPr>
          <p:cNvPr id="38" name="Text 36"/>
          <p:cNvSpPr/>
          <p:nvPr/>
        </p:nvSpPr>
        <p:spPr>
          <a:xfrm>
            <a:off x="9875520" y="2633472"/>
            <a:ext cx="1755648" cy="237744"/>
          </a:xfrm>
          <a:prstGeom prst="rect">
            <a:avLst/>
          </a:prstGeom>
          <a:noFill/>
          <a:ln/>
        </p:spPr>
        <p:txBody>
          <a:bodyPr wrap="square" lIns="0" tIns="0" rIns="0" bIns="0" rtlCol="0" anchor="ctr"/>
          <a:lstStyle/>
          <a:p>
            <a:pPr algn="ctr" indent="0" marL="0">
              <a:buNone/>
            </a:pPr>
            <a:r>
              <a:rPr lang="en-US" sz="950" b="1" spc="110" kern="0" dirty="0">
                <a:solidFill>
                  <a:srgbClr val="5A6272"/>
                </a:solidFill>
                <a:latin typeface="Calibri" pitchFamily="34" charset="0"/>
                <a:ea typeface="Calibri" pitchFamily="34" charset="-122"/>
                <a:cs typeface="Calibri" pitchFamily="34" charset="-120"/>
              </a:rPr>
              <a:t>ACTION</a:t>
            </a:r>
            <a:endParaRPr lang="en-US" sz="950" dirty="0"/>
          </a:p>
        </p:txBody>
      </p:sp>
      <p:sp>
        <p:nvSpPr>
          <p:cNvPr id="39" name="Text 37"/>
          <p:cNvSpPr/>
          <p:nvPr/>
        </p:nvSpPr>
        <p:spPr>
          <a:xfrm>
            <a:off x="10003536" y="2944368"/>
            <a:ext cx="1499616" cy="822960"/>
          </a:xfrm>
          <a:prstGeom prst="rect">
            <a:avLst/>
          </a:prstGeom>
          <a:noFill/>
          <a:ln/>
        </p:spPr>
        <p:txBody>
          <a:bodyPr wrap="square" lIns="0" tIns="0" rIns="0" bIns="0" rtlCol="0" anchor="t"/>
          <a:lstStyle/>
          <a:p>
            <a:pPr algn="ctr" indent="0" marL="0">
              <a:lnSpc>
                <a:spcPts val="1500"/>
              </a:lnSpc>
              <a:buNone/>
            </a:pPr>
            <a:r>
              <a:rPr lang="en-US" sz="1100" dirty="0">
                <a:solidFill>
                  <a:srgbClr val="1B2030"/>
                </a:solidFill>
                <a:latin typeface="Calibri" pitchFamily="34" charset="0"/>
                <a:ea typeface="Calibri" pitchFamily="34" charset="-122"/>
                <a:cs typeface="Calibri" pitchFamily="34" charset="-120"/>
              </a:rPr>
              <a:t>Victim guidance,</a:t>
            </a:r>
            <a:endParaRPr lang="en-US" sz="1100" dirty="0"/>
          </a:p>
          <a:p>
            <a:pPr algn="ctr" indent="0" marL="0">
              <a:lnSpc>
                <a:spcPts val="1500"/>
              </a:lnSpc>
              <a:buNone/>
            </a:pPr>
            <a:r>
              <a:rPr lang="en-US" sz="1100" dirty="0">
                <a:solidFill>
                  <a:srgbClr val="1B2030"/>
                </a:solidFill>
                <a:latin typeface="Calibri" pitchFamily="34" charset="0"/>
                <a:ea typeface="Calibri" pitchFamily="34" charset="-122"/>
                <a:cs typeface="Calibri" pitchFamily="34" charset="-120"/>
              </a:rPr>
              <a:t>forensic report</a:t>
            </a:r>
            <a:endParaRPr lang="en-US" sz="1100" dirty="0"/>
          </a:p>
        </p:txBody>
      </p:sp>
      <p:sp>
        <p:nvSpPr>
          <p:cNvPr id="40" name="Shape 38"/>
          <p:cNvSpPr/>
          <p:nvPr/>
        </p:nvSpPr>
        <p:spPr>
          <a:xfrm>
            <a:off x="502920" y="4160520"/>
            <a:ext cx="11155680" cy="786384"/>
          </a:xfrm>
          <a:prstGeom prst="roundRect">
            <a:avLst>
              <a:gd name="adj" fmla="val 10465"/>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41" name="Text 39"/>
          <p:cNvSpPr/>
          <p:nvPr/>
        </p:nvSpPr>
        <p:spPr>
          <a:xfrm>
            <a:off x="777240" y="4160520"/>
            <a:ext cx="10607040" cy="786384"/>
          </a:xfrm>
          <a:prstGeom prst="rect">
            <a:avLst/>
          </a:prstGeom>
          <a:noFill/>
          <a:ln/>
        </p:spPr>
        <p:txBody>
          <a:bodyPr wrap="square" lIns="0" tIns="0" rIns="0" bIns="0" rtlCol="0" anchor="ctr"/>
          <a:lstStyle/>
          <a:p>
            <a:pPr indent="0" marL="0">
              <a:buNone/>
            </a:pPr>
            <a:r>
              <a:rPr lang="en-US" sz="1350" dirty="0">
                <a:solidFill>
                  <a:srgbClr val="1F6B4D"/>
                </a:solidFill>
                <a:latin typeface="Calibri" pitchFamily="34" charset="0"/>
                <a:ea typeface="Calibri" pitchFamily="34" charset="-122"/>
                <a:cs typeface="Calibri" pitchFamily="34" charset="-120"/>
              </a:rPr>
              <a:t>Order is the argument. Identity is established first, so every later finding is about a named protected person — not about media in the abstract.</a:t>
            </a:r>
            <a:endParaRPr lang="en-US" sz="1350" dirty="0"/>
          </a:p>
        </p:txBody>
      </p:sp>
      <p:sp>
        <p:nvSpPr>
          <p:cNvPr id="42" name="Text 40"/>
          <p:cNvSpPr/>
          <p:nvPr/>
        </p:nvSpPr>
        <p:spPr>
          <a:xfrm>
            <a:off x="502920" y="5257800"/>
            <a:ext cx="11155680" cy="822960"/>
          </a:xfrm>
          <a:prstGeom prst="rect">
            <a:avLst/>
          </a:prstGeom>
          <a:noFill/>
          <a:ln/>
        </p:spPr>
        <p:txBody>
          <a:bodyPr wrap="square" lIns="0" tIns="0" rIns="0" bIns="0" rtlCol="0" anchor="ctr"/>
          <a:lstStyle/>
          <a:p>
            <a:pPr indent="0" marL="0">
              <a:lnSpc>
                <a:spcPts val="1600"/>
              </a:lnSpc>
              <a:buNone/>
            </a:pPr>
            <a:r>
              <a:rPr lang="en-US" sz="1150" dirty="0">
                <a:solidFill>
                  <a:srgbClr val="5A6272"/>
                </a:solidFill>
                <a:latin typeface="Calibri" pitchFamily="34" charset="0"/>
                <a:ea typeface="Calibri" pitchFamily="34" charset="-122"/>
                <a:cs typeface="Calibri" pitchFamily="34" charset="-120"/>
              </a:rPr>
              <a:t>Pipeline progress is reported at 13 checkpoints: metadata 5% → frames 15% → audio 30% → manipulation 45% → localization 60% → identity 70% → speaker 78% → A/V 84% → credentials 88% → copy search 89% → local index 92% → risk fusion 96% → complete 100%.</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CRITERION 3</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Live demo — the route we will drive</a:t>
            </a:r>
            <a:endParaRPr lang="en-US" sz="3200" dirty="0"/>
          </a:p>
        </p:txBody>
      </p:sp>
      <p:sp>
        <p:nvSpPr>
          <p:cNvPr id="4" name="Shape 2"/>
          <p:cNvSpPr/>
          <p:nvPr/>
        </p:nvSpPr>
        <p:spPr>
          <a:xfrm>
            <a:off x="9144000" y="329184"/>
            <a:ext cx="2514600" cy="384048"/>
          </a:xfrm>
          <a:prstGeom prst="roundRect">
            <a:avLst>
              <a:gd name="adj" fmla="val 50000"/>
            </a:avLst>
          </a:prstGeom>
          <a:solidFill>
            <a:srgbClr val="1E2761"/>
          </a:solidFill>
          <a:ln w="9525">
            <a:solidFill>
              <a:srgbClr val="1E2761"/>
            </a:solidFill>
            <a:prstDash val="solid"/>
          </a:ln>
        </p:spPr>
      </p:sp>
      <p:sp>
        <p:nvSpPr>
          <p:cNvPr id="5" name="Text 3"/>
          <p:cNvSpPr/>
          <p:nvPr/>
        </p:nvSpPr>
        <p:spPr>
          <a:xfrm>
            <a:off x="9144000" y="329184"/>
            <a:ext cx="2514600" cy="384048"/>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Criterion 3  ·  20 marks</a:t>
            </a:r>
            <a:endParaRPr lang="en-US" sz="1100" dirty="0"/>
          </a:p>
        </p:txBody>
      </p:sp>
      <p:sp>
        <p:nvSpPr>
          <p:cNvPr id="6" name="Shape 4"/>
          <p:cNvSpPr/>
          <p:nvPr/>
        </p:nvSpPr>
        <p:spPr>
          <a:xfrm>
            <a:off x="502920" y="1545336"/>
            <a:ext cx="365760" cy="365760"/>
          </a:xfrm>
          <a:prstGeom prst="ellipse">
            <a:avLst/>
          </a:prstGeom>
          <a:solidFill>
            <a:srgbClr val="1E2761"/>
          </a:solidFill>
          <a:ln w="6350">
            <a:solidFill>
              <a:srgbClr val="1E2761"/>
            </a:solidFill>
            <a:prstDash val="solid"/>
          </a:ln>
        </p:spPr>
      </p:sp>
      <p:sp>
        <p:nvSpPr>
          <p:cNvPr id="7" name="Text 5"/>
          <p:cNvSpPr/>
          <p:nvPr/>
        </p:nvSpPr>
        <p:spPr>
          <a:xfrm>
            <a:off x="502920" y="15453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96696" y="1463040"/>
            <a:ext cx="137160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Enrol</a:t>
            </a:r>
            <a:endParaRPr lang="en-US" sz="1400" dirty="0"/>
          </a:p>
        </p:txBody>
      </p:sp>
      <p:sp>
        <p:nvSpPr>
          <p:cNvPr id="9" name="Text 7"/>
          <p:cNvSpPr/>
          <p:nvPr/>
        </p:nvSpPr>
        <p:spPr>
          <a:xfrm>
            <a:off x="996696" y="1755648"/>
            <a:ext cx="4892040" cy="603504"/>
          </a:xfrm>
          <a:prstGeom prst="rect">
            <a:avLst/>
          </a:prstGeom>
          <a:noFill/>
          <a:ln/>
        </p:spPr>
        <p:txBody>
          <a:bodyPr wrap="square" lIns="0" tIns="0" rIns="0" bIns="0" rtlCol="0" anchor="t"/>
          <a:lstStyle/>
          <a:p>
            <a:pPr indent="0" marL="0">
              <a:lnSpc>
                <a:spcPts val="1500"/>
              </a:lnSpc>
              <a:buNone/>
            </a:pPr>
            <a:r>
              <a:rPr lang="en-US" sz="1150" dirty="0">
                <a:solidFill>
                  <a:srgbClr val="5A6272"/>
                </a:solidFill>
                <a:latin typeface="Calibri" pitchFamily="34" charset="0"/>
                <a:ea typeface="Calibri" pitchFamily="34" charset="-122"/>
                <a:cs typeface="Calibri" pitchFamily="34" charset="-120"/>
              </a:rPr>
              <a:t>Consented reference identity — face photo plus voice sample, with consent text on record.</a:t>
            </a:r>
            <a:endParaRPr lang="en-US" sz="1150" dirty="0"/>
          </a:p>
        </p:txBody>
      </p:sp>
      <p:sp>
        <p:nvSpPr>
          <p:cNvPr id="10" name="Shape 8"/>
          <p:cNvSpPr/>
          <p:nvPr/>
        </p:nvSpPr>
        <p:spPr>
          <a:xfrm>
            <a:off x="502920" y="2478024"/>
            <a:ext cx="365760" cy="365760"/>
          </a:xfrm>
          <a:prstGeom prst="ellipse">
            <a:avLst/>
          </a:prstGeom>
          <a:solidFill>
            <a:srgbClr val="1E2761"/>
          </a:solidFill>
          <a:ln w="6350">
            <a:solidFill>
              <a:srgbClr val="1E2761"/>
            </a:solidFill>
            <a:prstDash val="solid"/>
          </a:ln>
        </p:spPr>
      </p:sp>
      <p:sp>
        <p:nvSpPr>
          <p:cNvPr id="11" name="Text 9"/>
          <p:cNvSpPr/>
          <p:nvPr/>
        </p:nvSpPr>
        <p:spPr>
          <a:xfrm>
            <a:off x="502920" y="24780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996696" y="2395728"/>
            <a:ext cx="137160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Submit</a:t>
            </a:r>
            <a:endParaRPr lang="en-US" sz="1400" dirty="0"/>
          </a:p>
        </p:txBody>
      </p:sp>
      <p:sp>
        <p:nvSpPr>
          <p:cNvPr id="13" name="Text 11"/>
          <p:cNvSpPr/>
          <p:nvPr/>
        </p:nvSpPr>
        <p:spPr>
          <a:xfrm>
            <a:off x="996696" y="2688336"/>
            <a:ext cx="4892040" cy="603504"/>
          </a:xfrm>
          <a:prstGeom prst="rect">
            <a:avLst/>
          </a:prstGeom>
          <a:noFill/>
          <a:ln/>
        </p:spPr>
        <p:txBody>
          <a:bodyPr wrap="square" lIns="0" tIns="0" rIns="0" bIns="0" rtlCol="0" anchor="t"/>
          <a:lstStyle/>
          <a:p>
            <a:pPr indent="0" marL="0">
              <a:lnSpc>
                <a:spcPts val="1500"/>
              </a:lnSpc>
              <a:buNone/>
            </a:pPr>
            <a:r>
              <a:rPr lang="en-US" sz="1150" dirty="0">
                <a:solidFill>
                  <a:srgbClr val="5A6272"/>
                </a:solidFill>
                <a:latin typeface="Calibri" pitchFamily="34" charset="0"/>
                <a:ea typeface="Calibri" pitchFamily="34" charset="-122"/>
                <a:cs typeface="Calibri" pitchFamily="34" charset="-120"/>
              </a:rPr>
              <a:t>Upload the suspect media. Validated for type, size and filename before anything touches it.</a:t>
            </a:r>
            <a:endParaRPr lang="en-US" sz="1150" dirty="0"/>
          </a:p>
        </p:txBody>
      </p:sp>
      <p:sp>
        <p:nvSpPr>
          <p:cNvPr id="14" name="Shape 12"/>
          <p:cNvSpPr/>
          <p:nvPr/>
        </p:nvSpPr>
        <p:spPr>
          <a:xfrm>
            <a:off x="502920" y="3410712"/>
            <a:ext cx="365760" cy="365760"/>
          </a:xfrm>
          <a:prstGeom prst="ellipse">
            <a:avLst/>
          </a:prstGeom>
          <a:solidFill>
            <a:srgbClr val="1E2761"/>
          </a:solidFill>
          <a:ln w="6350">
            <a:solidFill>
              <a:srgbClr val="1E2761"/>
            </a:solidFill>
            <a:prstDash val="solid"/>
          </a:ln>
        </p:spPr>
      </p:sp>
      <p:sp>
        <p:nvSpPr>
          <p:cNvPr id="15" name="Text 13"/>
          <p:cNvSpPr/>
          <p:nvPr/>
        </p:nvSpPr>
        <p:spPr>
          <a:xfrm>
            <a:off x="502920" y="34107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996696" y="3328416"/>
            <a:ext cx="137160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Watch</a:t>
            </a:r>
            <a:endParaRPr lang="en-US" sz="1400" dirty="0"/>
          </a:p>
        </p:txBody>
      </p:sp>
      <p:sp>
        <p:nvSpPr>
          <p:cNvPr id="17" name="Text 15"/>
          <p:cNvSpPr/>
          <p:nvPr/>
        </p:nvSpPr>
        <p:spPr>
          <a:xfrm>
            <a:off x="996696" y="3621024"/>
            <a:ext cx="4892040" cy="603504"/>
          </a:xfrm>
          <a:prstGeom prst="rect">
            <a:avLst/>
          </a:prstGeom>
          <a:noFill/>
          <a:ln/>
        </p:spPr>
        <p:txBody>
          <a:bodyPr wrap="square" lIns="0" tIns="0" rIns="0" bIns="0" rtlCol="0" anchor="t"/>
          <a:lstStyle/>
          <a:p>
            <a:pPr indent="0" marL="0">
              <a:lnSpc>
                <a:spcPts val="1500"/>
              </a:lnSpc>
              <a:buNone/>
            </a:pPr>
            <a:r>
              <a:rPr lang="en-US" sz="1150" dirty="0">
                <a:solidFill>
                  <a:srgbClr val="5A6272"/>
                </a:solidFill>
                <a:latin typeface="Calibri" pitchFamily="34" charset="0"/>
                <a:ea typeface="Calibri" pitchFamily="34" charset="-122"/>
                <a:cs typeface="Calibri" pitchFamily="34" charset="-120"/>
              </a:rPr>
              <a:t>The 13 pipeline checkpoints advance live. No pre-rendered screens, no simulated progress.</a:t>
            </a:r>
            <a:endParaRPr lang="en-US" sz="1150" dirty="0"/>
          </a:p>
        </p:txBody>
      </p:sp>
      <p:sp>
        <p:nvSpPr>
          <p:cNvPr id="18" name="Shape 16"/>
          <p:cNvSpPr/>
          <p:nvPr/>
        </p:nvSpPr>
        <p:spPr>
          <a:xfrm>
            <a:off x="502920" y="4343400"/>
            <a:ext cx="365760" cy="365760"/>
          </a:xfrm>
          <a:prstGeom prst="ellipse">
            <a:avLst/>
          </a:prstGeom>
          <a:solidFill>
            <a:srgbClr val="1E2761"/>
          </a:solidFill>
          <a:ln w="6350">
            <a:solidFill>
              <a:srgbClr val="1E2761"/>
            </a:solidFill>
            <a:prstDash val="solid"/>
          </a:ln>
        </p:spPr>
      </p:sp>
      <p:sp>
        <p:nvSpPr>
          <p:cNvPr id="19" name="Text 17"/>
          <p:cNvSpPr/>
          <p:nvPr/>
        </p:nvSpPr>
        <p:spPr>
          <a:xfrm>
            <a:off x="502920" y="43434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p:nvPr/>
        </p:nvSpPr>
        <p:spPr>
          <a:xfrm>
            <a:off x="996696" y="4261104"/>
            <a:ext cx="137160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Read</a:t>
            </a:r>
            <a:endParaRPr lang="en-US" sz="1400" dirty="0"/>
          </a:p>
        </p:txBody>
      </p:sp>
      <p:sp>
        <p:nvSpPr>
          <p:cNvPr id="21" name="Text 19"/>
          <p:cNvSpPr/>
          <p:nvPr/>
        </p:nvSpPr>
        <p:spPr>
          <a:xfrm>
            <a:off x="996696" y="4553712"/>
            <a:ext cx="4892040" cy="603504"/>
          </a:xfrm>
          <a:prstGeom prst="rect">
            <a:avLst/>
          </a:prstGeom>
          <a:noFill/>
          <a:ln/>
        </p:spPr>
        <p:txBody>
          <a:bodyPr wrap="square" lIns="0" tIns="0" rIns="0" bIns="0" rtlCol="0" anchor="t"/>
          <a:lstStyle/>
          <a:p>
            <a:pPr indent="0" marL="0">
              <a:lnSpc>
                <a:spcPts val="1500"/>
              </a:lnSpc>
              <a:buNone/>
            </a:pPr>
            <a:r>
              <a:rPr lang="en-US" sz="1150" dirty="0">
                <a:solidFill>
                  <a:srgbClr val="5A6272"/>
                </a:solidFill>
                <a:latin typeface="Calibri" pitchFamily="34" charset="0"/>
                <a:ea typeface="Calibri" pitchFamily="34" charset="-122"/>
                <a:cs typeface="Calibri" pitchFamily="34" charset="-120"/>
              </a:rPr>
              <a:t>Plain-language findings: identity match, manipulation indicators, localized frames with overlays.</a:t>
            </a:r>
            <a:endParaRPr lang="en-US" sz="1150" dirty="0"/>
          </a:p>
        </p:txBody>
      </p:sp>
      <p:sp>
        <p:nvSpPr>
          <p:cNvPr id="22" name="Shape 20"/>
          <p:cNvSpPr/>
          <p:nvPr/>
        </p:nvSpPr>
        <p:spPr>
          <a:xfrm>
            <a:off x="6217920" y="1545336"/>
            <a:ext cx="365760" cy="365760"/>
          </a:xfrm>
          <a:prstGeom prst="ellipse">
            <a:avLst/>
          </a:prstGeom>
          <a:solidFill>
            <a:srgbClr val="1E2761"/>
          </a:solidFill>
          <a:ln w="6350">
            <a:solidFill>
              <a:srgbClr val="1E2761"/>
            </a:solidFill>
            <a:prstDash val="solid"/>
          </a:ln>
        </p:spPr>
      </p:sp>
      <p:sp>
        <p:nvSpPr>
          <p:cNvPr id="23" name="Text 21"/>
          <p:cNvSpPr/>
          <p:nvPr/>
        </p:nvSpPr>
        <p:spPr>
          <a:xfrm>
            <a:off x="6217920" y="15453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p:nvPr/>
        </p:nvSpPr>
        <p:spPr>
          <a:xfrm>
            <a:off x="6711696" y="1463040"/>
            <a:ext cx="137160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Trace</a:t>
            </a:r>
            <a:endParaRPr lang="en-US" sz="1400" dirty="0"/>
          </a:p>
        </p:txBody>
      </p:sp>
      <p:sp>
        <p:nvSpPr>
          <p:cNvPr id="25" name="Text 23"/>
          <p:cNvSpPr/>
          <p:nvPr/>
        </p:nvSpPr>
        <p:spPr>
          <a:xfrm>
            <a:off x="6711696" y="1755648"/>
            <a:ext cx="4892040" cy="603504"/>
          </a:xfrm>
          <a:prstGeom prst="rect">
            <a:avLst/>
          </a:prstGeom>
          <a:noFill/>
          <a:ln/>
        </p:spPr>
        <p:txBody>
          <a:bodyPr wrap="square" lIns="0" tIns="0" rIns="0" bIns="0" rtlCol="0" anchor="t"/>
          <a:lstStyle/>
          <a:p>
            <a:pPr indent="0" marL="0">
              <a:lnSpc>
                <a:spcPts val="1500"/>
              </a:lnSpc>
              <a:buNone/>
            </a:pPr>
            <a:r>
              <a:rPr lang="en-US" sz="1150" dirty="0">
                <a:solidFill>
                  <a:srgbClr val="5A6272"/>
                </a:solidFill>
                <a:latin typeface="Calibri" pitchFamily="34" charset="0"/>
                <a:ea typeface="Calibri" pitchFamily="34" charset="-122"/>
                <a:cs typeface="Calibri" pitchFamily="34" charset="-120"/>
              </a:rPr>
              <a:t>Provenance estimator — “10 found · 4 matched”. Discovery and verification stay separate numbers.</a:t>
            </a:r>
            <a:endParaRPr lang="en-US" sz="1150" dirty="0"/>
          </a:p>
        </p:txBody>
      </p:sp>
      <p:sp>
        <p:nvSpPr>
          <p:cNvPr id="26" name="Shape 24"/>
          <p:cNvSpPr/>
          <p:nvPr/>
        </p:nvSpPr>
        <p:spPr>
          <a:xfrm>
            <a:off x="6217920" y="2478024"/>
            <a:ext cx="365760" cy="365760"/>
          </a:xfrm>
          <a:prstGeom prst="ellipse">
            <a:avLst/>
          </a:prstGeom>
          <a:solidFill>
            <a:srgbClr val="1E2761"/>
          </a:solidFill>
          <a:ln w="6350">
            <a:solidFill>
              <a:srgbClr val="1E2761"/>
            </a:solidFill>
            <a:prstDash val="solid"/>
          </a:ln>
        </p:spPr>
      </p:sp>
      <p:sp>
        <p:nvSpPr>
          <p:cNvPr id="27" name="Text 25"/>
          <p:cNvSpPr/>
          <p:nvPr/>
        </p:nvSpPr>
        <p:spPr>
          <a:xfrm>
            <a:off x="6217920" y="24780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6"/>
          <p:cNvSpPr/>
          <p:nvPr/>
        </p:nvSpPr>
        <p:spPr>
          <a:xfrm>
            <a:off x="6711696" y="2395728"/>
            <a:ext cx="137160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Verify</a:t>
            </a:r>
            <a:endParaRPr lang="en-US" sz="1400" dirty="0"/>
          </a:p>
        </p:txBody>
      </p:sp>
      <p:sp>
        <p:nvSpPr>
          <p:cNvPr id="29" name="Text 27"/>
          <p:cNvSpPr/>
          <p:nvPr/>
        </p:nvSpPr>
        <p:spPr>
          <a:xfrm>
            <a:off x="6711696" y="2688336"/>
            <a:ext cx="4892040" cy="603504"/>
          </a:xfrm>
          <a:prstGeom prst="rect">
            <a:avLst/>
          </a:prstGeom>
          <a:noFill/>
          <a:ln/>
        </p:spPr>
        <p:txBody>
          <a:bodyPr wrap="square" lIns="0" tIns="0" rIns="0" bIns="0" rtlCol="0" anchor="t"/>
          <a:lstStyle/>
          <a:p>
            <a:pPr indent="0" marL="0">
              <a:lnSpc>
                <a:spcPts val="1500"/>
              </a:lnSpc>
              <a:buNone/>
            </a:pPr>
            <a:r>
              <a:rPr lang="en-US" sz="1150" dirty="0">
                <a:solidFill>
                  <a:srgbClr val="5A6272"/>
                </a:solidFill>
                <a:latin typeface="Calibri" pitchFamily="34" charset="0"/>
                <a:ea typeface="Calibri" pitchFamily="34" charset="-122"/>
                <a:cs typeface="Calibri" pitchFamily="34" charset="-120"/>
              </a:rPr>
              <a:t>Re-verify integrity on demand: recompute the hash and confirm the stored evidence is untampered.</a:t>
            </a:r>
            <a:endParaRPr lang="en-US" sz="1150" dirty="0"/>
          </a:p>
        </p:txBody>
      </p:sp>
      <p:sp>
        <p:nvSpPr>
          <p:cNvPr id="30" name="Shape 28"/>
          <p:cNvSpPr/>
          <p:nvPr/>
        </p:nvSpPr>
        <p:spPr>
          <a:xfrm>
            <a:off x="6217920" y="3410712"/>
            <a:ext cx="365760" cy="365760"/>
          </a:xfrm>
          <a:prstGeom prst="ellipse">
            <a:avLst/>
          </a:prstGeom>
          <a:solidFill>
            <a:srgbClr val="1E2761"/>
          </a:solidFill>
          <a:ln w="6350">
            <a:solidFill>
              <a:srgbClr val="1E2761"/>
            </a:solidFill>
            <a:prstDash val="solid"/>
          </a:ln>
        </p:spPr>
      </p:sp>
      <p:sp>
        <p:nvSpPr>
          <p:cNvPr id="31" name="Text 29"/>
          <p:cNvSpPr/>
          <p:nvPr/>
        </p:nvSpPr>
        <p:spPr>
          <a:xfrm>
            <a:off x="6217920" y="34107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2" name="Text 30"/>
          <p:cNvSpPr/>
          <p:nvPr/>
        </p:nvSpPr>
        <p:spPr>
          <a:xfrm>
            <a:off x="6711696" y="3328416"/>
            <a:ext cx="137160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Export</a:t>
            </a:r>
            <a:endParaRPr lang="en-US" sz="1400" dirty="0"/>
          </a:p>
        </p:txBody>
      </p:sp>
      <p:sp>
        <p:nvSpPr>
          <p:cNvPr id="33" name="Text 31"/>
          <p:cNvSpPr/>
          <p:nvPr/>
        </p:nvSpPr>
        <p:spPr>
          <a:xfrm>
            <a:off x="6711696" y="3621024"/>
            <a:ext cx="4892040" cy="603504"/>
          </a:xfrm>
          <a:prstGeom prst="rect">
            <a:avLst/>
          </a:prstGeom>
          <a:noFill/>
          <a:ln/>
        </p:spPr>
        <p:txBody>
          <a:bodyPr wrap="square" lIns="0" tIns="0" rIns="0" bIns="0" rtlCol="0" anchor="t"/>
          <a:lstStyle/>
          <a:p>
            <a:pPr indent="0" marL="0">
              <a:lnSpc>
                <a:spcPts val="1500"/>
              </a:lnSpc>
              <a:buNone/>
            </a:pPr>
            <a:r>
              <a:rPr lang="en-US" sz="1150" dirty="0">
                <a:solidFill>
                  <a:srgbClr val="5A6272"/>
                </a:solidFill>
                <a:latin typeface="Calibri" pitchFamily="34" charset="0"/>
                <a:ea typeface="Calibri" pitchFamily="34" charset="-122"/>
                <a:cs typeface="Calibri" pitchFamily="34" charset="-120"/>
              </a:rPr>
              <a:t>Download the 23-section forensic PDF, open section 22 and show the measured robustness figures.</a:t>
            </a:r>
            <a:endParaRPr lang="en-US" sz="1150" dirty="0"/>
          </a:p>
        </p:txBody>
      </p:sp>
      <p:sp>
        <p:nvSpPr>
          <p:cNvPr id="34" name="Shape 32"/>
          <p:cNvSpPr/>
          <p:nvPr/>
        </p:nvSpPr>
        <p:spPr>
          <a:xfrm>
            <a:off x="6217920" y="5230368"/>
            <a:ext cx="5440680" cy="1115568"/>
          </a:xfrm>
          <a:prstGeom prst="roundRect">
            <a:avLst>
              <a:gd name="adj" fmla="val 7377"/>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35" name="Text 33"/>
          <p:cNvSpPr/>
          <p:nvPr/>
        </p:nvSpPr>
        <p:spPr>
          <a:xfrm>
            <a:off x="6492240" y="5358384"/>
            <a:ext cx="4937760" cy="274320"/>
          </a:xfrm>
          <a:prstGeom prst="rect">
            <a:avLst/>
          </a:prstGeom>
          <a:noFill/>
          <a:ln/>
        </p:spPr>
        <p:txBody>
          <a:bodyPr wrap="square" lIns="0" tIns="0" rIns="0" bIns="0" rtlCol="0" anchor="ctr"/>
          <a:lstStyle/>
          <a:p>
            <a:pPr indent="0" marL="0">
              <a:buNone/>
            </a:pPr>
            <a:r>
              <a:rPr lang="en-US" sz="1300" b="1" dirty="0">
                <a:solidFill>
                  <a:srgbClr val="B06A00"/>
                </a:solidFill>
                <a:latin typeface="Calibri" pitchFamily="34" charset="0"/>
                <a:ea typeface="Calibri" pitchFamily="34" charset="-122"/>
                <a:cs typeface="Calibri" pitchFamily="34" charset="-120"/>
              </a:rPr>
              <a:t>Demo on cases #31, #34, #35 or #36</a:t>
            </a:r>
            <a:endParaRPr lang="en-US" sz="1300" dirty="0"/>
          </a:p>
        </p:txBody>
      </p:sp>
      <p:sp>
        <p:nvSpPr>
          <p:cNvPr id="36" name="Text 34"/>
          <p:cNvSpPr/>
          <p:nvPr/>
        </p:nvSpPr>
        <p:spPr>
          <a:xfrm>
            <a:off x="6492240" y="5650992"/>
            <a:ext cx="4937760" cy="603504"/>
          </a:xfrm>
          <a:prstGeom prst="rect">
            <a:avLst/>
          </a:prstGeom>
          <a:noFill/>
          <a:ln/>
        </p:spPr>
        <p:txBody>
          <a:bodyPr wrap="square" lIns="0" tIns="0" rIns="0" bIns="0" rtlCol="0" anchor="ctr"/>
          <a:lstStyle/>
          <a:p>
            <a:pPr indent="0" marL="0">
              <a:lnSpc>
                <a:spcPts val="1400"/>
              </a:lnSpc>
              <a:buNone/>
            </a:pPr>
            <a:r>
              <a:rPr lang="en-US" sz="1100" dirty="0">
                <a:solidFill>
                  <a:srgbClr val="1B2030"/>
                </a:solidFill>
                <a:latin typeface="Calibri" pitchFamily="34" charset="0"/>
                <a:ea typeface="Calibri" pitchFamily="34" charset="-122"/>
                <a:cs typeface="Calibri" pitchFamily="34" charset="-120"/>
              </a:rPr>
              <a:t>#35 shows 10 found · 4 matched. #34 shows 10 found · 0 matched — the honest case, and a better story. Cases #1–#28 predate ffmpeg on this machine.</a:t>
            </a:r>
            <a:endParaRPr lang="en-US" sz="1100" dirty="0"/>
          </a:p>
        </p:txBody>
      </p:sp>
      <p:sp>
        <p:nvSpPr>
          <p:cNvPr id="37" name="Shape 35"/>
          <p:cNvSpPr/>
          <p:nvPr/>
        </p:nvSpPr>
        <p:spPr>
          <a:xfrm>
            <a:off x="502920" y="5230368"/>
            <a:ext cx="5440680" cy="1115568"/>
          </a:xfrm>
          <a:prstGeom prst="roundRect">
            <a:avLst>
              <a:gd name="adj" fmla="val 7377"/>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38" name="Text 36"/>
          <p:cNvSpPr/>
          <p:nvPr/>
        </p:nvSpPr>
        <p:spPr>
          <a:xfrm>
            <a:off x="777240" y="5358384"/>
            <a:ext cx="4937760" cy="274320"/>
          </a:xfrm>
          <a:prstGeom prst="rect">
            <a:avLst/>
          </a:prstGeom>
          <a:noFill/>
          <a:ln/>
        </p:spPr>
        <p:txBody>
          <a:bodyPr wrap="square" lIns="0" tIns="0" rIns="0" bIns="0" rtlCol="0" anchor="ctr"/>
          <a:lstStyle/>
          <a:p>
            <a:pPr indent="0" marL="0">
              <a:buNone/>
            </a:pPr>
            <a:r>
              <a:rPr lang="en-US" sz="1300" b="1" dirty="0">
                <a:solidFill>
                  <a:srgbClr val="1F6B4D"/>
                </a:solidFill>
                <a:latin typeface="Calibri" pitchFamily="34" charset="0"/>
                <a:ea typeface="Calibri" pitchFamily="34" charset="-122"/>
                <a:cs typeface="Calibri" pitchFamily="34" charset="-120"/>
              </a:rPr>
              <a:t>Fallback if the network drops</a:t>
            </a:r>
            <a:endParaRPr lang="en-US" sz="1300" dirty="0"/>
          </a:p>
        </p:txBody>
      </p:sp>
      <p:sp>
        <p:nvSpPr>
          <p:cNvPr id="39" name="Text 37"/>
          <p:cNvSpPr/>
          <p:nvPr/>
        </p:nvSpPr>
        <p:spPr>
          <a:xfrm>
            <a:off x="777240" y="5650992"/>
            <a:ext cx="4937760" cy="603504"/>
          </a:xfrm>
          <a:prstGeom prst="rect">
            <a:avLst/>
          </a:prstGeom>
          <a:noFill/>
          <a:ln/>
        </p:spPr>
        <p:txBody>
          <a:bodyPr wrap="square" lIns="0" tIns="0" rIns="0" bIns="0" rtlCol="0" anchor="ctr"/>
          <a:lstStyle/>
          <a:p>
            <a:pPr indent="0" marL="0">
              <a:lnSpc>
                <a:spcPts val="1400"/>
              </a:lnSpc>
              <a:buNone/>
            </a:pPr>
            <a:r>
              <a:rPr lang="en-US" sz="1100" dirty="0">
                <a:solidFill>
                  <a:srgbClr val="1B2030"/>
                </a:solidFill>
                <a:latin typeface="Calibri" pitchFamily="34" charset="0"/>
                <a:ea typeface="Calibri" pitchFamily="34" charset="-122"/>
                <a:cs typeface="Calibri" pitchFamily="34" charset="-120"/>
              </a:rPr>
              <a:t>Everything except the reverse-image lookup runs fully offline on localhost. The estimator then reports “Search not configured” — a truthful state, not a crash.</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CRITERION 4</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Architecture — deliberately not distributed</a:t>
            </a:r>
            <a:endParaRPr lang="en-US" sz="3200" dirty="0"/>
          </a:p>
        </p:txBody>
      </p:sp>
      <p:sp>
        <p:nvSpPr>
          <p:cNvPr id="4" name="Shape 2"/>
          <p:cNvSpPr/>
          <p:nvPr/>
        </p:nvSpPr>
        <p:spPr>
          <a:xfrm>
            <a:off x="9144000" y="329184"/>
            <a:ext cx="2514600" cy="384048"/>
          </a:xfrm>
          <a:prstGeom prst="roundRect">
            <a:avLst>
              <a:gd name="adj" fmla="val 50000"/>
            </a:avLst>
          </a:prstGeom>
          <a:solidFill>
            <a:srgbClr val="1E2761"/>
          </a:solidFill>
          <a:ln w="9525">
            <a:solidFill>
              <a:srgbClr val="1E2761"/>
            </a:solidFill>
            <a:prstDash val="solid"/>
          </a:ln>
        </p:spPr>
      </p:sp>
      <p:sp>
        <p:nvSpPr>
          <p:cNvPr id="5" name="Text 3"/>
          <p:cNvSpPr/>
          <p:nvPr/>
        </p:nvSpPr>
        <p:spPr>
          <a:xfrm>
            <a:off x="9144000" y="329184"/>
            <a:ext cx="2514600" cy="384048"/>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Criterion 4  ·  15 marks</a:t>
            </a:r>
            <a:endParaRPr lang="en-US" sz="1100" dirty="0"/>
          </a:p>
        </p:txBody>
      </p:sp>
      <p:sp>
        <p:nvSpPr>
          <p:cNvPr id="6" name="Shape 4"/>
          <p:cNvSpPr/>
          <p:nvPr/>
        </p:nvSpPr>
        <p:spPr>
          <a:xfrm>
            <a:off x="502920" y="1463040"/>
            <a:ext cx="7863840" cy="749808"/>
          </a:xfrm>
          <a:prstGeom prst="roundRect">
            <a:avLst>
              <a:gd name="adj" fmla="val 10976"/>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7" name="Shape 5"/>
          <p:cNvSpPr/>
          <p:nvPr/>
        </p:nvSpPr>
        <p:spPr>
          <a:xfrm>
            <a:off x="685800" y="1636776"/>
            <a:ext cx="402336" cy="402336"/>
          </a:xfrm>
          <a:prstGeom prst="ellipse">
            <a:avLst/>
          </a:prstGeom>
          <a:solidFill>
            <a:srgbClr val="1E2761"/>
          </a:solidFill>
          <a:ln w="6350">
            <a:solidFill>
              <a:srgbClr val="1E2761"/>
            </a:solidFill>
            <a:prstDash val="solid"/>
          </a:ln>
        </p:spPr>
      </p:sp>
      <p:sp>
        <p:nvSpPr>
          <p:cNvPr id="8" name="Text 6"/>
          <p:cNvSpPr/>
          <p:nvPr/>
        </p:nvSpPr>
        <p:spPr>
          <a:xfrm>
            <a:off x="685800" y="163677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34440" y="1545336"/>
            <a:ext cx="694944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Next.js 15 · React · TypeScript</a:t>
            </a:r>
            <a:endParaRPr lang="en-US" sz="1350" dirty="0"/>
          </a:p>
        </p:txBody>
      </p:sp>
      <p:sp>
        <p:nvSpPr>
          <p:cNvPr id="10" name="Text 8"/>
          <p:cNvSpPr/>
          <p:nvPr/>
        </p:nvSpPr>
        <p:spPr>
          <a:xfrm>
            <a:off x="1234440" y="1837944"/>
            <a:ext cx="6949440" cy="310896"/>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Victim-facing UI. Plain language, no forensic vocabulary to learn.</a:t>
            </a:r>
            <a:endParaRPr lang="en-US" sz="1150" dirty="0"/>
          </a:p>
        </p:txBody>
      </p:sp>
      <p:sp>
        <p:nvSpPr>
          <p:cNvPr id="11" name="Text 9"/>
          <p:cNvSpPr/>
          <p:nvPr/>
        </p:nvSpPr>
        <p:spPr>
          <a:xfrm>
            <a:off x="758952" y="2194560"/>
            <a:ext cx="274320" cy="146304"/>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a:t>
            </a:r>
            <a:endParaRPr lang="en-US" sz="900" dirty="0"/>
          </a:p>
        </p:txBody>
      </p:sp>
      <p:sp>
        <p:nvSpPr>
          <p:cNvPr id="12" name="Shape 10"/>
          <p:cNvSpPr/>
          <p:nvPr/>
        </p:nvSpPr>
        <p:spPr>
          <a:xfrm>
            <a:off x="502920" y="2322576"/>
            <a:ext cx="7863840" cy="749808"/>
          </a:xfrm>
          <a:prstGeom prst="roundRect">
            <a:avLst>
              <a:gd name="adj" fmla="val 10976"/>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3" name="Shape 11"/>
          <p:cNvSpPr/>
          <p:nvPr/>
        </p:nvSpPr>
        <p:spPr>
          <a:xfrm>
            <a:off x="685800" y="2496312"/>
            <a:ext cx="402336" cy="402336"/>
          </a:xfrm>
          <a:prstGeom prst="ellipse">
            <a:avLst/>
          </a:prstGeom>
          <a:solidFill>
            <a:srgbClr val="1E2761"/>
          </a:solidFill>
          <a:ln w="6350">
            <a:solidFill>
              <a:srgbClr val="1E2761"/>
            </a:solidFill>
            <a:prstDash val="solid"/>
          </a:ln>
        </p:spPr>
      </p:sp>
      <p:sp>
        <p:nvSpPr>
          <p:cNvPr id="14" name="Text 12"/>
          <p:cNvSpPr/>
          <p:nvPr/>
        </p:nvSpPr>
        <p:spPr>
          <a:xfrm>
            <a:off x="685800" y="249631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234440" y="2404872"/>
            <a:ext cx="694944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FastAPI · Python 3.11</a:t>
            </a:r>
            <a:endParaRPr lang="en-US" sz="1350" dirty="0"/>
          </a:p>
        </p:txBody>
      </p:sp>
      <p:sp>
        <p:nvSpPr>
          <p:cNvPr id="16" name="Text 14"/>
          <p:cNvSpPr/>
          <p:nvPr/>
        </p:nvSpPr>
        <p:spPr>
          <a:xfrm>
            <a:off x="1234440" y="2697480"/>
            <a:ext cx="6949440" cy="310896"/>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24 endpoints. Validation, size limits, filename sanitisation, path-traversal guards.</a:t>
            </a:r>
            <a:endParaRPr lang="en-US" sz="1150" dirty="0"/>
          </a:p>
        </p:txBody>
      </p:sp>
      <p:sp>
        <p:nvSpPr>
          <p:cNvPr id="17" name="Text 15"/>
          <p:cNvSpPr/>
          <p:nvPr/>
        </p:nvSpPr>
        <p:spPr>
          <a:xfrm>
            <a:off x="758952" y="3054096"/>
            <a:ext cx="274320" cy="146304"/>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a:t>
            </a:r>
            <a:endParaRPr lang="en-US" sz="900" dirty="0"/>
          </a:p>
        </p:txBody>
      </p:sp>
      <p:sp>
        <p:nvSpPr>
          <p:cNvPr id="18" name="Shape 16"/>
          <p:cNvSpPr/>
          <p:nvPr/>
        </p:nvSpPr>
        <p:spPr>
          <a:xfrm>
            <a:off x="502920" y="3182112"/>
            <a:ext cx="7863840" cy="749808"/>
          </a:xfrm>
          <a:prstGeom prst="roundRect">
            <a:avLst>
              <a:gd name="adj" fmla="val 10976"/>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9" name="Shape 17"/>
          <p:cNvSpPr/>
          <p:nvPr/>
        </p:nvSpPr>
        <p:spPr>
          <a:xfrm>
            <a:off x="685800" y="3355848"/>
            <a:ext cx="402336" cy="402336"/>
          </a:xfrm>
          <a:prstGeom prst="ellipse">
            <a:avLst/>
          </a:prstGeom>
          <a:solidFill>
            <a:srgbClr val="1E2761"/>
          </a:solidFill>
          <a:ln w="6350">
            <a:solidFill>
              <a:srgbClr val="1E2761"/>
            </a:solidFill>
            <a:prstDash val="solid"/>
          </a:ln>
        </p:spPr>
      </p:sp>
      <p:sp>
        <p:nvSpPr>
          <p:cNvPr id="20" name="Text 18"/>
          <p:cNvSpPr/>
          <p:nvPr/>
        </p:nvSpPr>
        <p:spPr>
          <a:xfrm>
            <a:off x="685800" y="335584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1234440" y="3264408"/>
            <a:ext cx="694944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AI &amp; forensics — 19 services</a:t>
            </a:r>
            <a:endParaRPr lang="en-US" sz="1350" dirty="0"/>
          </a:p>
        </p:txBody>
      </p:sp>
      <p:sp>
        <p:nvSpPr>
          <p:cNvPr id="22" name="Text 20"/>
          <p:cNvSpPr/>
          <p:nvPr/>
        </p:nvSpPr>
        <p:spPr>
          <a:xfrm>
            <a:off x="1234440" y="3557016"/>
            <a:ext cx="6949440" cy="310896"/>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4 trained models plus perceptual hashing, residual analysis and signal statistics.</a:t>
            </a:r>
            <a:endParaRPr lang="en-US" sz="1150" dirty="0"/>
          </a:p>
        </p:txBody>
      </p:sp>
      <p:sp>
        <p:nvSpPr>
          <p:cNvPr id="23" name="Text 21"/>
          <p:cNvSpPr/>
          <p:nvPr/>
        </p:nvSpPr>
        <p:spPr>
          <a:xfrm>
            <a:off x="758952" y="3913632"/>
            <a:ext cx="274320" cy="146304"/>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a:t>
            </a:r>
            <a:endParaRPr lang="en-US" sz="900" dirty="0"/>
          </a:p>
        </p:txBody>
      </p:sp>
      <p:sp>
        <p:nvSpPr>
          <p:cNvPr id="24" name="Shape 22"/>
          <p:cNvSpPr/>
          <p:nvPr/>
        </p:nvSpPr>
        <p:spPr>
          <a:xfrm>
            <a:off x="502920" y="4041648"/>
            <a:ext cx="7863840" cy="749808"/>
          </a:xfrm>
          <a:prstGeom prst="roundRect">
            <a:avLst>
              <a:gd name="adj" fmla="val 10976"/>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25" name="Shape 23"/>
          <p:cNvSpPr/>
          <p:nvPr/>
        </p:nvSpPr>
        <p:spPr>
          <a:xfrm>
            <a:off x="685800" y="4215384"/>
            <a:ext cx="402336" cy="402336"/>
          </a:xfrm>
          <a:prstGeom prst="ellipse">
            <a:avLst/>
          </a:prstGeom>
          <a:solidFill>
            <a:srgbClr val="1E2761"/>
          </a:solidFill>
          <a:ln w="6350">
            <a:solidFill>
              <a:srgbClr val="1E2761"/>
            </a:solidFill>
            <a:prstDash val="solid"/>
          </a:ln>
        </p:spPr>
      </p:sp>
      <p:sp>
        <p:nvSpPr>
          <p:cNvPr id="26" name="Text 24"/>
          <p:cNvSpPr/>
          <p:nvPr/>
        </p:nvSpPr>
        <p:spPr>
          <a:xfrm>
            <a:off x="685800" y="42153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p:nvPr/>
        </p:nvSpPr>
        <p:spPr>
          <a:xfrm>
            <a:off x="1234440" y="4123944"/>
            <a:ext cx="694944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SQLite · local evidence store</a:t>
            </a:r>
            <a:endParaRPr lang="en-US" sz="1350" dirty="0"/>
          </a:p>
        </p:txBody>
      </p:sp>
      <p:sp>
        <p:nvSpPr>
          <p:cNvPr id="28" name="Text 26"/>
          <p:cNvSpPr/>
          <p:nvPr/>
        </p:nvSpPr>
        <p:spPr>
          <a:xfrm>
            <a:off x="1234440" y="4416552"/>
            <a:ext cx="6949440" cy="310896"/>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7 tables. Server-side SHA-256, chain of custody, additive migrations only.</a:t>
            </a:r>
            <a:endParaRPr lang="en-US" sz="1150" dirty="0"/>
          </a:p>
        </p:txBody>
      </p:sp>
      <p:sp>
        <p:nvSpPr>
          <p:cNvPr id="29" name="Text 27"/>
          <p:cNvSpPr/>
          <p:nvPr/>
        </p:nvSpPr>
        <p:spPr>
          <a:xfrm>
            <a:off x="758952" y="4773168"/>
            <a:ext cx="274320" cy="146304"/>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a:t>
            </a:r>
            <a:endParaRPr lang="en-US" sz="900" dirty="0"/>
          </a:p>
        </p:txBody>
      </p:sp>
      <p:sp>
        <p:nvSpPr>
          <p:cNvPr id="30" name="Shape 28"/>
          <p:cNvSpPr/>
          <p:nvPr/>
        </p:nvSpPr>
        <p:spPr>
          <a:xfrm>
            <a:off x="502920" y="4901184"/>
            <a:ext cx="7863840" cy="749808"/>
          </a:xfrm>
          <a:prstGeom prst="roundRect">
            <a:avLst>
              <a:gd name="adj" fmla="val 10976"/>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31" name="Shape 29"/>
          <p:cNvSpPr/>
          <p:nvPr/>
        </p:nvSpPr>
        <p:spPr>
          <a:xfrm>
            <a:off x="685800" y="5074920"/>
            <a:ext cx="402336" cy="402336"/>
          </a:xfrm>
          <a:prstGeom prst="ellipse">
            <a:avLst/>
          </a:prstGeom>
          <a:solidFill>
            <a:srgbClr val="1E2761"/>
          </a:solidFill>
          <a:ln w="6350">
            <a:solidFill>
              <a:srgbClr val="1E2761"/>
            </a:solidFill>
            <a:prstDash val="solid"/>
          </a:ln>
        </p:spPr>
      </p:sp>
      <p:sp>
        <p:nvSpPr>
          <p:cNvPr id="32" name="Text 30"/>
          <p:cNvSpPr/>
          <p:nvPr/>
        </p:nvSpPr>
        <p:spPr>
          <a:xfrm>
            <a:off x="685800" y="507492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1"/>
          <p:cNvSpPr/>
          <p:nvPr/>
        </p:nvSpPr>
        <p:spPr>
          <a:xfrm>
            <a:off x="1234440" y="4983480"/>
            <a:ext cx="694944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Output</a:t>
            </a:r>
            <a:endParaRPr lang="en-US" sz="1350" dirty="0"/>
          </a:p>
        </p:txBody>
      </p:sp>
      <p:sp>
        <p:nvSpPr>
          <p:cNvPr id="34" name="Text 32"/>
          <p:cNvSpPr/>
          <p:nvPr/>
        </p:nvSpPr>
        <p:spPr>
          <a:xfrm>
            <a:off x="1234440" y="5276088"/>
            <a:ext cx="6949440" cy="310896"/>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React case view for the victim; 23-section PDF for the investigating officer.</a:t>
            </a:r>
            <a:endParaRPr lang="en-US" sz="1150" dirty="0"/>
          </a:p>
        </p:txBody>
      </p:sp>
      <p:sp>
        <p:nvSpPr>
          <p:cNvPr id="35" name="Shape 33"/>
          <p:cNvSpPr/>
          <p:nvPr/>
        </p:nvSpPr>
        <p:spPr>
          <a:xfrm>
            <a:off x="8641080" y="1463040"/>
            <a:ext cx="3017520" cy="3803904"/>
          </a:xfrm>
          <a:prstGeom prst="roundRect">
            <a:avLst>
              <a:gd name="adj" fmla="val 2727"/>
            </a:avLst>
          </a:prstGeom>
          <a:solidFill>
            <a:srgbClr val="1E2761"/>
          </a:solidFill>
          <a:ln w="6350">
            <a:solidFill>
              <a:srgbClr val="1E2761"/>
            </a:solidFill>
            <a:prstDash val="solid"/>
          </a:ln>
          <a:effectLst>
            <a:outerShdw sx="100000" sy="100000" kx="0" ky="0" algn="bl" rotWithShape="0" blurRad="101600" dist="25400" dir="5400000">
              <a:srgbClr val="8A93A8">
                <a:alpha val="22000"/>
              </a:srgbClr>
            </a:outerShdw>
          </a:effectLst>
        </p:spPr>
      </p:sp>
      <p:sp>
        <p:nvSpPr>
          <p:cNvPr id="36" name="Text 34"/>
          <p:cNvSpPr/>
          <p:nvPr/>
        </p:nvSpPr>
        <p:spPr>
          <a:xfrm>
            <a:off x="8878824" y="1664208"/>
            <a:ext cx="2560320"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Choices we will defend</a:t>
            </a:r>
            <a:endParaRPr lang="en-US" sz="1300" dirty="0"/>
          </a:p>
        </p:txBody>
      </p:sp>
      <p:sp>
        <p:nvSpPr>
          <p:cNvPr id="37" name="Text 35"/>
          <p:cNvSpPr/>
          <p:nvPr/>
        </p:nvSpPr>
        <p:spPr>
          <a:xfrm>
            <a:off x="8878824" y="2048256"/>
            <a:ext cx="25603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SQLite, not Postgres</a:t>
            </a:r>
            <a:endParaRPr lang="en-US" sz="1150" dirty="0"/>
          </a:p>
        </p:txBody>
      </p:sp>
      <p:sp>
        <p:nvSpPr>
          <p:cNvPr id="38" name="Text 36"/>
          <p:cNvSpPr/>
          <p:nvPr/>
        </p:nvSpPr>
        <p:spPr>
          <a:xfrm>
            <a:off x="8878824" y="2304288"/>
            <a:ext cx="2560320" cy="713232"/>
          </a:xfrm>
          <a:prstGeom prst="rect">
            <a:avLst/>
          </a:prstGeom>
          <a:noFill/>
          <a:ln/>
        </p:spPr>
        <p:txBody>
          <a:bodyPr wrap="square" lIns="0" tIns="0" rIns="0" bIns="0" rtlCol="0" anchor="t"/>
          <a:lstStyle/>
          <a:p>
            <a:pPr indent="0" marL="0">
              <a:lnSpc>
                <a:spcPts val="1300"/>
              </a:lnSpc>
              <a:buNone/>
            </a:pPr>
            <a:r>
              <a:rPr lang="en-US" sz="1000" dirty="0">
                <a:solidFill>
                  <a:srgbClr val="8FA6D9"/>
                </a:solidFill>
                <a:latin typeface="Calibri" pitchFamily="34" charset="0"/>
                <a:ea typeface="Calibri" pitchFamily="34" charset="-122"/>
                <a:cs typeface="Calibri" pitchFamily="34" charset="-120"/>
              </a:rPr>
              <a:t>One custodian, one evidence store. A network hop adds attack surface, not integrity.</a:t>
            </a:r>
            <a:endParaRPr lang="en-US" sz="1000" dirty="0"/>
          </a:p>
        </p:txBody>
      </p:sp>
      <p:sp>
        <p:nvSpPr>
          <p:cNvPr id="39" name="Text 37"/>
          <p:cNvSpPr/>
          <p:nvPr/>
        </p:nvSpPr>
        <p:spPr>
          <a:xfrm>
            <a:off x="8878824" y="3108960"/>
            <a:ext cx="25603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Monolith, not microservices</a:t>
            </a:r>
            <a:endParaRPr lang="en-US" sz="1150" dirty="0"/>
          </a:p>
        </p:txBody>
      </p:sp>
      <p:sp>
        <p:nvSpPr>
          <p:cNvPr id="40" name="Text 38"/>
          <p:cNvSpPr/>
          <p:nvPr/>
        </p:nvSpPr>
        <p:spPr>
          <a:xfrm>
            <a:off x="8878824" y="3364992"/>
            <a:ext cx="2560320" cy="713232"/>
          </a:xfrm>
          <a:prstGeom prst="rect">
            <a:avLst/>
          </a:prstGeom>
          <a:noFill/>
          <a:ln/>
        </p:spPr>
        <p:txBody>
          <a:bodyPr wrap="square" lIns="0" tIns="0" rIns="0" bIns="0" rtlCol="0" anchor="t"/>
          <a:lstStyle/>
          <a:p>
            <a:pPr indent="0" marL="0">
              <a:lnSpc>
                <a:spcPts val="1300"/>
              </a:lnSpc>
              <a:buNone/>
            </a:pPr>
            <a:r>
              <a:rPr lang="en-US" sz="1000" dirty="0">
                <a:solidFill>
                  <a:srgbClr val="8FA6D9"/>
                </a:solidFill>
                <a:latin typeface="Calibri" pitchFamily="34" charset="0"/>
                <a:ea typeface="Calibri" pitchFamily="34" charset="-122"/>
                <a:cs typeface="Calibri" pitchFamily="34" charset="-120"/>
              </a:rPr>
              <a:t>Chain of custody is easier to prove when one process owns the file.</a:t>
            </a:r>
            <a:endParaRPr lang="en-US" sz="1000" dirty="0"/>
          </a:p>
        </p:txBody>
      </p:sp>
      <p:sp>
        <p:nvSpPr>
          <p:cNvPr id="41" name="Text 39"/>
          <p:cNvSpPr/>
          <p:nvPr/>
        </p:nvSpPr>
        <p:spPr>
          <a:xfrm>
            <a:off x="8878824" y="4169664"/>
            <a:ext cx="256032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Local models, not an API</a:t>
            </a:r>
            <a:endParaRPr lang="en-US" sz="1150" dirty="0"/>
          </a:p>
        </p:txBody>
      </p:sp>
      <p:sp>
        <p:nvSpPr>
          <p:cNvPr id="42" name="Text 40"/>
          <p:cNvSpPr/>
          <p:nvPr/>
        </p:nvSpPr>
        <p:spPr>
          <a:xfrm>
            <a:off x="8878824" y="4425696"/>
            <a:ext cx="2560320" cy="713232"/>
          </a:xfrm>
          <a:prstGeom prst="rect">
            <a:avLst/>
          </a:prstGeom>
          <a:noFill/>
          <a:ln/>
        </p:spPr>
        <p:txBody>
          <a:bodyPr wrap="square" lIns="0" tIns="0" rIns="0" bIns="0" rtlCol="0" anchor="t"/>
          <a:lstStyle/>
          <a:p>
            <a:pPr indent="0" marL="0">
              <a:lnSpc>
                <a:spcPts val="1300"/>
              </a:lnSpc>
              <a:buNone/>
            </a:pPr>
            <a:r>
              <a:rPr lang="en-US" sz="1000" dirty="0">
                <a:solidFill>
                  <a:srgbClr val="8FA6D9"/>
                </a:solidFill>
                <a:latin typeface="Calibri" pitchFamily="34" charset="0"/>
                <a:ea typeface="Calibri" pitchFamily="34" charset="-122"/>
                <a:cs typeface="Calibri" pitchFamily="34" charset="-120"/>
              </a:rPr>
              <a:t>Evidence must never leave the machine it was preserved on.</a:t>
            </a:r>
            <a:endParaRPr lang="en-US" sz="1000" dirty="0"/>
          </a:p>
        </p:txBody>
      </p:sp>
      <p:sp>
        <p:nvSpPr>
          <p:cNvPr id="43" name="Text 41"/>
          <p:cNvSpPr/>
          <p:nvPr/>
        </p:nvSpPr>
        <p:spPr>
          <a:xfrm>
            <a:off x="502920" y="5870448"/>
            <a:ext cx="11155680" cy="457200"/>
          </a:xfrm>
          <a:prstGeom prst="rect">
            <a:avLst/>
          </a:prstGeom>
          <a:noFill/>
          <a:ln/>
        </p:spPr>
        <p:txBody>
          <a:bodyPr wrap="square" lIns="0" tIns="0" rIns="0" bIns="0" rtlCol="0" anchor="ctr"/>
          <a:lstStyle/>
          <a:p>
            <a:pPr indent="0" marL="0">
              <a:buNone/>
            </a:pPr>
            <a:r>
              <a:rPr lang="en-US" sz="1250" i="1" dirty="0">
                <a:solidFill>
                  <a:srgbClr val="5A6272"/>
                </a:solidFill>
                <a:latin typeface="Calibri" pitchFamily="34" charset="0"/>
                <a:ea typeface="Calibri" pitchFamily="34" charset="-122"/>
                <a:cs typeface="Calibri" pitchFamily="34" charset="-120"/>
              </a:rPr>
              <a:t>No Kubernetes, no cloud, no message queue. Nothing was added for appearance — every layer earns its place in the custody argument.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CRITERION 4</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Four trained models, and what is not one</a:t>
            </a:r>
            <a:endParaRPr lang="en-US" sz="3200" dirty="0"/>
          </a:p>
        </p:txBody>
      </p:sp>
      <p:sp>
        <p:nvSpPr>
          <p:cNvPr id="4" name="Shape 2"/>
          <p:cNvSpPr/>
          <p:nvPr/>
        </p:nvSpPr>
        <p:spPr>
          <a:xfrm>
            <a:off x="9144000" y="329184"/>
            <a:ext cx="2514600" cy="384048"/>
          </a:xfrm>
          <a:prstGeom prst="roundRect">
            <a:avLst>
              <a:gd name="adj" fmla="val 50000"/>
            </a:avLst>
          </a:prstGeom>
          <a:solidFill>
            <a:srgbClr val="1E2761"/>
          </a:solidFill>
          <a:ln w="9525">
            <a:solidFill>
              <a:srgbClr val="1E2761"/>
            </a:solidFill>
            <a:prstDash val="solid"/>
          </a:ln>
        </p:spPr>
      </p:sp>
      <p:sp>
        <p:nvSpPr>
          <p:cNvPr id="5" name="Text 3"/>
          <p:cNvSpPr/>
          <p:nvPr/>
        </p:nvSpPr>
        <p:spPr>
          <a:xfrm>
            <a:off x="9144000" y="329184"/>
            <a:ext cx="2514600" cy="384048"/>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Criterion 4  ·  15 marks</a:t>
            </a:r>
            <a:endParaRPr lang="en-US" sz="1100" dirty="0"/>
          </a:p>
        </p:txBody>
      </p:sp>
      <p:sp>
        <p:nvSpPr>
          <p:cNvPr id="6" name="Shape 4"/>
          <p:cNvSpPr/>
          <p:nvPr/>
        </p:nvSpPr>
        <p:spPr>
          <a:xfrm>
            <a:off x="502920" y="1444752"/>
            <a:ext cx="2670048" cy="2121408"/>
          </a:xfrm>
          <a:prstGeom prst="roundRect">
            <a:avLst>
              <a:gd name="adj" fmla="val 3879"/>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7" name="Shape 5"/>
          <p:cNvSpPr/>
          <p:nvPr/>
        </p:nvSpPr>
        <p:spPr>
          <a:xfrm>
            <a:off x="685800" y="1609344"/>
            <a:ext cx="365760" cy="365760"/>
          </a:xfrm>
          <a:prstGeom prst="ellipse">
            <a:avLst/>
          </a:prstGeom>
          <a:solidFill>
            <a:srgbClr val="1E2761"/>
          </a:solidFill>
          <a:ln w="6350">
            <a:solidFill>
              <a:srgbClr val="1E2761"/>
            </a:solidFill>
            <a:prstDash val="solid"/>
          </a:ln>
        </p:spPr>
      </p:sp>
      <p:sp>
        <p:nvSpPr>
          <p:cNvPr id="8" name="Text 6"/>
          <p:cNvSpPr/>
          <p:nvPr/>
        </p:nvSpPr>
        <p:spPr>
          <a:xfrm>
            <a:off x="685800" y="1609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124712" y="1645920"/>
            <a:ext cx="1828800" cy="237744"/>
          </a:xfrm>
          <a:prstGeom prst="rect">
            <a:avLst/>
          </a:prstGeom>
          <a:noFill/>
          <a:ln/>
        </p:spPr>
        <p:txBody>
          <a:bodyPr wrap="square" lIns="0" tIns="0" rIns="0" bIns="0" rtlCol="0" anchor="ctr"/>
          <a:lstStyle/>
          <a:p>
            <a:pPr indent="0" marL="0">
              <a:buNone/>
            </a:pPr>
            <a:r>
              <a:rPr lang="en-US" sz="950" b="1" spc="110" kern="0" dirty="0">
                <a:solidFill>
                  <a:srgbClr val="5A6272"/>
                </a:solidFill>
                <a:latin typeface="Calibri" pitchFamily="34" charset="0"/>
                <a:ea typeface="Calibri" pitchFamily="34" charset="-122"/>
                <a:cs typeface="Calibri" pitchFamily="34" charset="-120"/>
              </a:rPr>
              <a:t>MANIPULATION</a:t>
            </a:r>
            <a:endParaRPr lang="en-US" sz="950" dirty="0"/>
          </a:p>
        </p:txBody>
      </p:sp>
      <p:sp>
        <p:nvSpPr>
          <p:cNvPr id="10" name="Text 8"/>
          <p:cNvSpPr/>
          <p:nvPr/>
        </p:nvSpPr>
        <p:spPr>
          <a:xfrm>
            <a:off x="685800" y="2048256"/>
            <a:ext cx="2331720" cy="621792"/>
          </a:xfrm>
          <a:prstGeom prst="rect">
            <a:avLst/>
          </a:prstGeom>
          <a:noFill/>
          <a:ln/>
        </p:spPr>
        <p:txBody>
          <a:bodyPr wrap="square" lIns="0" tIns="0" rIns="0" bIns="0" rtlCol="0" anchor="t"/>
          <a:lstStyle/>
          <a:p>
            <a:pPr indent="0" marL="0">
              <a:lnSpc>
                <a:spcPts val="1800"/>
              </a:lnSpc>
              <a:buNone/>
            </a:pPr>
            <a:r>
              <a:rPr lang="en-US" sz="1450" b="1" dirty="0">
                <a:solidFill>
                  <a:srgbClr val="1E2761"/>
                </a:solidFill>
                <a:latin typeface="Cambria" pitchFamily="34" charset="0"/>
                <a:ea typeface="Cambria" pitchFamily="34" charset="-122"/>
                <a:cs typeface="Cambria" pitchFamily="34" charset="-120"/>
              </a:rPr>
              <a:t>DeepfakeBench</a:t>
            </a:r>
            <a:endParaRPr lang="en-US" sz="1450" dirty="0"/>
          </a:p>
          <a:p>
            <a:pPr indent="0" marL="0">
              <a:lnSpc>
                <a:spcPts val="1800"/>
              </a:lnSpc>
              <a:buNone/>
            </a:pPr>
            <a:r>
              <a:rPr lang="en-US" sz="1450" b="1" dirty="0">
                <a:solidFill>
                  <a:srgbClr val="1E2761"/>
                </a:solidFill>
                <a:latin typeface="Cambria" pitchFamily="34" charset="0"/>
                <a:ea typeface="Cambria" pitchFamily="34" charset="-122"/>
                <a:cs typeface="Cambria" pitchFamily="34" charset="-120"/>
              </a:rPr>
              <a:t>Xception</a:t>
            </a:r>
            <a:endParaRPr lang="en-US" sz="1450" dirty="0"/>
          </a:p>
        </p:txBody>
      </p:sp>
      <p:sp>
        <p:nvSpPr>
          <p:cNvPr id="11" name="Text 9"/>
          <p:cNvSpPr/>
          <p:nvPr/>
        </p:nvSpPr>
        <p:spPr>
          <a:xfrm>
            <a:off x="685800" y="2724912"/>
            <a:ext cx="2331720" cy="914400"/>
          </a:xfrm>
          <a:prstGeom prst="rect">
            <a:avLst/>
          </a:prstGeom>
          <a:noFill/>
          <a:ln/>
        </p:spPr>
        <p:txBody>
          <a:bodyPr wrap="square" lIns="0" tIns="0" rIns="0" bIns="0" rtlCol="0" anchor="t"/>
          <a:lstStyle/>
          <a:p>
            <a:pPr indent="0" marL="0">
              <a:lnSpc>
                <a:spcPts val="1400"/>
              </a:lnSpc>
              <a:buNone/>
            </a:pPr>
            <a:r>
              <a:rPr lang="en-US" sz="1050" dirty="0">
                <a:solidFill>
                  <a:srgbClr val="1B2030"/>
                </a:solidFill>
                <a:latin typeface="Calibri" pitchFamily="34" charset="0"/>
                <a:ea typeface="Calibri" pitchFamily="34" charset="-122"/>
                <a:cs typeface="Calibri" pitchFamily="34" charset="-120"/>
              </a:rPr>
              <a:t>Face crop → 256px → 2-class CNN → softmax P(fake). Threshold 0.50.</a:t>
            </a:r>
            <a:endParaRPr lang="en-US" sz="1050" dirty="0"/>
          </a:p>
        </p:txBody>
      </p:sp>
      <p:sp>
        <p:nvSpPr>
          <p:cNvPr id="12" name="Shape 10"/>
          <p:cNvSpPr/>
          <p:nvPr/>
        </p:nvSpPr>
        <p:spPr>
          <a:xfrm>
            <a:off x="3337560" y="1444752"/>
            <a:ext cx="2670048" cy="2121408"/>
          </a:xfrm>
          <a:prstGeom prst="roundRect">
            <a:avLst>
              <a:gd name="adj" fmla="val 3879"/>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3" name="Shape 11"/>
          <p:cNvSpPr/>
          <p:nvPr/>
        </p:nvSpPr>
        <p:spPr>
          <a:xfrm>
            <a:off x="3520440" y="1609344"/>
            <a:ext cx="365760" cy="365760"/>
          </a:xfrm>
          <a:prstGeom prst="ellipse">
            <a:avLst/>
          </a:prstGeom>
          <a:solidFill>
            <a:srgbClr val="1E2761"/>
          </a:solidFill>
          <a:ln w="6350">
            <a:solidFill>
              <a:srgbClr val="1E2761"/>
            </a:solidFill>
            <a:prstDash val="solid"/>
          </a:ln>
        </p:spPr>
      </p:sp>
      <p:sp>
        <p:nvSpPr>
          <p:cNvPr id="14" name="Text 12"/>
          <p:cNvSpPr/>
          <p:nvPr/>
        </p:nvSpPr>
        <p:spPr>
          <a:xfrm>
            <a:off x="3520440" y="1609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3959352" y="1645920"/>
            <a:ext cx="1828800" cy="237744"/>
          </a:xfrm>
          <a:prstGeom prst="rect">
            <a:avLst/>
          </a:prstGeom>
          <a:noFill/>
          <a:ln/>
        </p:spPr>
        <p:txBody>
          <a:bodyPr wrap="square" lIns="0" tIns="0" rIns="0" bIns="0" rtlCol="0" anchor="ctr"/>
          <a:lstStyle/>
          <a:p>
            <a:pPr indent="0" marL="0">
              <a:buNone/>
            </a:pPr>
            <a:r>
              <a:rPr lang="en-US" sz="950" b="1" spc="110" kern="0" dirty="0">
                <a:solidFill>
                  <a:srgbClr val="5A6272"/>
                </a:solidFill>
                <a:latin typeface="Calibri" pitchFamily="34" charset="0"/>
                <a:ea typeface="Calibri" pitchFamily="34" charset="-122"/>
                <a:cs typeface="Calibri" pitchFamily="34" charset="-120"/>
              </a:rPr>
              <a:t>FACE DETECTION</a:t>
            </a:r>
            <a:endParaRPr lang="en-US" sz="950" dirty="0"/>
          </a:p>
        </p:txBody>
      </p:sp>
      <p:sp>
        <p:nvSpPr>
          <p:cNvPr id="16" name="Text 14"/>
          <p:cNvSpPr/>
          <p:nvPr/>
        </p:nvSpPr>
        <p:spPr>
          <a:xfrm>
            <a:off x="3520440" y="2048256"/>
            <a:ext cx="2331720" cy="621792"/>
          </a:xfrm>
          <a:prstGeom prst="rect">
            <a:avLst/>
          </a:prstGeom>
          <a:noFill/>
          <a:ln/>
        </p:spPr>
        <p:txBody>
          <a:bodyPr wrap="square" lIns="0" tIns="0" rIns="0" bIns="0" rtlCol="0" anchor="t"/>
          <a:lstStyle/>
          <a:p>
            <a:pPr indent="0" marL="0">
              <a:lnSpc>
                <a:spcPts val="1800"/>
              </a:lnSpc>
              <a:buNone/>
            </a:pPr>
            <a:r>
              <a:rPr lang="en-US" sz="1450" b="1" dirty="0">
                <a:solidFill>
                  <a:srgbClr val="1E2761"/>
                </a:solidFill>
                <a:latin typeface="Cambria" pitchFamily="34" charset="0"/>
                <a:ea typeface="Cambria" pitchFamily="34" charset="-122"/>
                <a:cs typeface="Cambria" pitchFamily="34" charset="-120"/>
              </a:rPr>
              <a:t>MTCNN</a:t>
            </a:r>
            <a:endParaRPr lang="en-US" sz="1450" dirty="0"/>
          </a:p>
        </p:txBody>
      </p:sp>
      <p:sp>
        <p:nvSpPr>
          <p:cNvPr id="17" name="Text 15"/>
          <p:cNvSpPr/>
          <p:nvPr/>
        </p:nvSpPr>
        <p:spPr>
          <a:xfrm>
            <a:off x="3520440" y="2724912"/>
            <a:ext cx="2331720" cy="914400"/>
          </a:xfrm>
          <a:prstGeom prst="rect">
            <a:avLst/>
          </a:prstGeom>
          <a:noFill/>
          <a:ln/>
        </p:spPr>
        <p:txBody>
          <a:bodyPr wrap="square" lIns="0" tIns="0" rIns="0" bIns="0" rtlCol="0" anchor="t"/>
          <a:lstStyle/>
          <a:p>
            <a:pPr indent="0" marL="0">
              <a:lnSpc>
                <a:spcPts val="1400"/>
              </a:lnSpc>
              <a:buNone/>
            </a:pPr>
            <a:r>
              <a:rPr lang="en-US" sz="1050" dirty="0">
                <a:solidFill>
                  <a:srgbClr val="1B2030"/>
                </a:solidFill>
                <a:latin typeface="Calibri" pitchFamily="34" charset="0"/>
                <a:ea typeface="Calibri" pitchFamily="34" charset="-122"/>
                <a:cs typeface="Calibri" pitchFamily="34" charset="-120"/>
              </a:rPr>
              <a:t>Crops and aligns first — the checkpoint was trained on faces, not full frames.</a:t>
            </a:r>
            <a:endParaRPr lang="en-US" sz="1050" dirty="0"/>
          </a:p>
        </p:txBody>
      </p:sp>
      <p:sp>
        <p:nvSpPr>
          <p:cNvPr id="18" name="Shape 16"/>
          <p:cNvSpPr/>
          <p:nvPr/>
        </p:nvSpPr>
        <p:spPr>
          <a:xfrm>
            <a:off x="6172200" y="1444752"/>
            <a:ext cx="2670048" cy="2121408"/>
          </a:xfrm>
          <a:prstGeom prst="roundRect">
            <a:avLst>
              <a:gd name="adj" fmla="val 3879"/>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9" name="Shape 17"/>
          <p:cNvSpPr/>
          <p:nvPr/>
        </p:nvSpPr>
        <p:spPr>
          <a:xfrm>
            <a:off x="6355080" y="1609344"/>
            <a:ext cx="365760" cy="365760"/>
          </a:xfrm>
          <a:prstGeom prst="ellipse">
            <a:avLst/>
          </a:prstGeom>
          <a:solidFill>
            <a:srgbClr val="1E2761"/>
          </a:solidFill>
          <a:ln w="6350">
            <a:solidFill>
              <a:srgbClr val="1E2761"/>
            </a:solidFill>
            <a:prstDash val="solid"/>
          </a:ln>
        </p:spPr>
      </p:sp>
      <p:sp>
        <p:nvSpPr>
          <p:cNvPr id="20" name="Text 18"/>
          <p:cNvSpPr/>
          <p:nvPr/>
        </p:nvSpPr>
        <p:spPr>
          <a:xfrm>
            <a:off x="6355080" y="1609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6793992" y="1645920"/>
            <a:ext cx="1828800" cy="237744"/>
          </a:xfrm>
          <a:prstGeom prst="rect">
            <a:avLst/>
          </a:prstGeom>
          <a:noFill/>
          <a:ln/>
        </p:spPr>
        <p:txBody>
          <a:bodyPr wrap="square" lIns="0" tIns="0" rIns="0" bIns="0" rtlCol="0" anchor="ctr"/>
          <a:lstStyle/>
          <a:p>
            <a:pPr indent="0" marL="0">
              <a:buNone/>
            </a:pPr>
            <a:r>
              <a:rPr lang="en-US" sz="950" b="1" spc="110" kern="0" dirty="0">
                <a:solidFill>
                  <a:srgbClr val="5A6272"/>
                </a:solidFill>
                <a:latin typeface="Calibri" pitchFamily="34" charset="0"/>
                <a:ea typeface="Calibri" pitchFamily="34" charset="-122"/>
                <a:cs typeface="Calibri" pitchFamily="34" charset="-120"/>
              </a:rPr>
              <a:t>FACE IDENTITY</a:t>
            </a:r>
            <a:endParaRPr lang="en-US" sz="950" dirty="0"/>
          </a:p>
        </p:txBody>
      </p:sp>
      <p:sp>
        <p:nvSpPr>
          <p:cNvPr id="22" name="Text 20"/>
          <p:cNvSpPr/>
          <p:nvPr/>
        </p:nvSpPr>
        <p:spPr>
          <a:xfrm>
            <a:off x="6355080" y="2048256"/>
            <a:ext cx="2331720" cy="621792"/>
          </a:xfrm>
          <a:prstGeom prst="rect">
            <a:avLst/>
          </a:prstGeom>
          <a:noFill/>
          <a:ln/>
        </p:spPr>
        <p:txBody>
          <a:bodyPr wrap="square" lIns="0" tIns="0" rIns="0" bIns="0" rtlCol="0" anchor="t"/>
          <a:lstStyle/>
          <a:p>
            <a:pPr indent="0" marL="0">
              <a:lnSpc>
                <a:spcPts val="1800"/>
              </a:lnSpc>
              <a:buNone/>
            </a:pPr>
            <a:r>
              <a:rPr lang="en-US" sz="1450" b="1" dirty="0">
                <a:solidFill>
                  <a:srgbClr val="1E2761"/>
                </a:solidFill>
                <a:latin typeface="Cambria" pitchFamily="34" charset="0"/>
                <a:ea typeface="Cambria" pitchFamily="34" charset="-122"/>
                <a:cs typeface="Cambria" pitchFamily="34" charset="-120"/>
              </a:rPr>
              <a:t>FaceNet</a:t>
            </a:r>
            <a:endParaRPr lang="en-US" sz="1450" dirty="0"/>
          </a:p>
          <a:p>
            <a:pPr indent="0" marL="0">
              <a:lnSpc>
                <a:spcPts val="1800"/>
              </a:lnSpc>
              <a:buNone/>
            </a:pPr>
            <a:r>
              <a:rPr lang="en-US" sz="1450" b="1" dirty="0">
                <a:solidFill>
                  <a:srgbClr val="1E2761"/>
                </a:solidFill>
                <a:latin typeface="Cambria" pitchFamily="34" charset="0"/>
                <a:ea typeface="Cambria" pitchFamily="34" charset="-122"/>
                <a:cs typeface="Cambria" pitchFamily="34" charset="-120"/>
              </a:rPr>
              <a:t>InceptionResnetV1</a:t>
            </a:r>
            <a:endParaRPr lang="en-US" sz="1450" dirty="0"/>
          </a:p>
        </p:txBody>
      </p:sp>
      <p:sp>
        <p:nvSpPr>
          <p:cNvPr id="23" name="Text 21"/>
          <p:cNvSpPr/>
          <p:nvPr/>
        </p:nvSpPr>
        <p:spPr>
          <a:xfrm>
            <a:off x="6355080" y="2724912"/>
            <a:ext cx="2331720" cy="914400"/>
          </a:xfrm>
          <a:prstGeom prst="rect">
            <a:avLst/>
          </a:prstGeom>
          <a:noFill/>
          <a:ln/>
        </p:spPr>
        <p:txBody>
          <a:bodyPr wrap="square" lIns="0" tIns="0" rIns="0" bIns="0" rtlCol="0" anchor="t"/>
          <a:lstStyle/>
          <a:p>
            <a:pPr indent="0" marL="0">
              <a:lnSpc>
                <a:spcPts val="1400"/>
              </a:lnSpc>
              <a:buNone/>
            </a:pPr>
            <a:r>
              <a:rPr lang="en-US" sz="1050" dirty="0">
                <a:solidFill>
                  <a:srgbClr val="1B2030"/>
                </a:solidFill>
                <a:latin typeface="Calibri" pitchFamily="34" charset="0"/>
                <a:ea typeface="Calibri" pitchFamily="34" charset="-122"/>
                <a:cs typeface="Calibri" pitchFamily="34" charset="-120"/>
              </a:rPr>
              <a:t>512-dim embedding, cosine similarity against the consented reference.</a:t>
            </a:r>
            <a:endParaRPr lang="en-US" sz="1050" dirty="0"/>
          </a:p>
        </p:txBody>
      </p:sp>
      <p:sp>
        <p:nvSpPr>
          <p:cNvPr id="24" name="Shape 22"/>
          <p:cNvSpPr/>
          <p:nvPr/>
        </p:nvSpPr>
        <p:spPr>
          <a:xfrm>
            <a:off x="9006840" y="1444752"/>
            <a:ext cx="2670048" cy="2121408"/>
          </a:xfrm>
          <a:prstGeom prst="roundRect">
            <a:avLst>
              <a:gd name="adj" fmla="val 3879"/>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25" name="Shape 23"/>
          <p:cNvSpPr/>
          <p:nvPr/>
        </p:nvSpPr>
        <p:spPr>
          <a:xfrm>
            <a:off x="9189720" y="1609344"/>
            <a:ext cx="365760" cy="365760"/>
          </a:xfrm>
          <a:prstGeom prst="ellipse">
            <a:avLst/>
          </a:prstGeom>
          <a:solidFill>
            <a:srgbClr val="1E2761"/>
          </a:solidFill>
          <a:ln w="6350">
            <a:solidFill>
              <a:srgbClr val="1E2761"/>
            </a:solidFill>
            <a:prstDash val="solid"/>
          </a:ln>
        </p:spPr>
      </p:sp>
      <p:sp>
        <p:nvSpPr>
          <p:cNvPr id="26" name="Text 24"/>
          <p:cNvSpPr/>
          <p:nvPr/>
        </p:nvSpPr>
        <p:spPr>
          <a:xfrm>
            <a:off x="9189720" y="1609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p:nvPr/>
        </p:nvSpPr>
        <p:spPr>
          <a:xfrm>
            <a:off x="9628632" y="1645920"/>
            <a:ext cx="1828800" cy="237744"/>
          </a:xfrm>
          <a:prstGeom prst="rect">
            <a:avLst/>
          </a:prstGeom>
          <a:noFill/>
          <a:ln/>
        </p:spPr>
        <p:txBody>
          <a:bodyPr wrap="square" lIns="0" tIns="0" rIns="0" bIns="0" rtlCol="0" anchor="ctr"/>
          <a:lstStyle/>
          <a:p>
            <a:pPr indent="0" marL="0">
              <a:buNone/>
            </a:pPr>
            <a:r>
              <a:rPr lang="en-US" sz="950" b="1" spc="110" kern="0" dirty="0">
                <a:solidFill>
                  <a:srgbClr val="5A6272"/>
                </a:solidFill>
                <a:latin typeface="Calibri" pitchFamily="34" charset="0"/>
                <a:ea typeface="Calibri" pitchFamily="34" charset="-122"/>
                <a:cs typeface="Calibri" pitchFamily="34" charset="-120"/>
              </a:rPr>
              <a:t>VOICE IDENTITY</a:t>
            </a:r>
            <a:endParaRPr lang="en-US" sz="950" dirty="0"/>
          </a:p>
        </p:txBody>
      </p:sp>
      <p:sp>
        <p:nvSpPr>
          <p:cNvPr id="28" name="Text 26"/>
          <p:cNvSpPr/>
          <p:nvPr/>
        </p:nvSpPr>
        <p:spPr>
          <a:xfrm>
            <a:off x="9189720" y="2048256"/>
            <a:ext cx="2331720" cy="621792"/>
          </a:xfrm>
          <a:prstGeom prst="rect">
            <a:avLst/>
          </a:prstGeom>
          <a:noFill/>
          <a:ln/>
        </p:spPr>
        <p:txBody>
          <a:bodyPr wrap="square" lIns="0" tIns="0" rIns="0" bIns="0" rtlCol="0" anchor="t"/>
          <a:lstStyle/>
          <a:p>
            <a:pPr indent="0" marL="0">
              <a:lnSpc>
                <a:spcPts val="1800"/>
              </a:lnSpc>
              <a:buNone/>
            </a:pPr>
            <a:r>
              <a:rPr lang="en-US" sz="1450" b="1" dirty="0">
                <a:solidFill>
                  <a:srgbClr val="1E2761"/>
                </a:solidFill>
                <a:latin typeface="Cambria" pitchFamily="34" charset="0"/>
                <a:ea typeface="Cambria" pitchFamily="34" charset="-122"/>
                <a:cs typeface="Cambria" pitchFamily="34" charset="-120"/>
              </a:rPr>
              <a:t>ECAPA-TDNN</a:t>
            </a:r>
            <a:endParaRPr lang="en-US" sz="1450" dirty="0"/>
          </a:p>
          <a:p>
            <a:pPr indent="0" marL="0">
              <a:lnSpc>
                <a:spcPts val="1800"/>
              </a:lnSpc>
              <a:buNone/>
            </a:pPr>
            <a:r>
              <a:rPr lang="en-US" sz="1450" b="1" dirty="0">
                <a:solidFill>
                  <a:srgbClr val="1E2761"/>
                </a:solidFill>
                <a:latin typeface="Cambria" pitchFamily="34" charset="0"/>
                <a:ea typeface="Cambria" pitchFamily="34" charset="-122"/>
                <a:cs typeface="Cambria" pitchFamily="34" charset="-120"/>
              </a:rPr>
              <a:t>VoxCeleb</a:t>
            </a:r>
            <a:endParaRPr lang="en-US" sz="1450" dirty="0"/>
          </a:p>
        </p:txBody>
      </p:sp>
      <p:sp>
        <p:nvSpPr>
          <p:cNvPr id="29" name="Text 27"/>
          <p:cNvSpPr/>
          <p:nvPr/>
        </p:nvSpPr>
        <p:spPr>
          <a:xfrm>
            <a:off x="9189720" y="2724912"/>
            <a:ext cx="2331720" cy="914400"/>
          </a:xfrm>
          <a:prstGeom prst="rect">
            <a:avLst/>
          </a:prstGeom>
          <a:noFill/>
          <a:ln/>
        </p:spPr>
        <p:txBody>
          <a:bodyPr wrap="square" lIns="0" tIns="0" rIns="0" bIns="0" rtlCol="0" anchor="t"/>
          <a:lstStyle/>
          <a:p>
            <a:pPr indent="0" marL="0">
              <a:lnSpc>
                <a:spcPts val="1400"/>
              </a:lnSpc>
              <a:buNone/>
            </a:pPr>
            <a:r>
              <a:rPr lang="en-US" sz="1050" dirty="0">
                <a:solidFill>
                  <a:srgbClr val="1B2030"/>
                </a:solidFill>
                <a:latin typeface="Calibri" pitchFamily="34" charset="0"/>
                <a:ea typeface="Calibri" pitchFamily="34" charset="-122"/>
                <a:cs typeface="Calibri" pitchFamily="34" charset="-120"/>
              </a:rPr>
              <a:t>Speaker embedding. Threshold 0.25 is ECAPA's own published figure.</a:t>
            </a:r>
            <a:endParaRPr lang="en-US" sz="1050" dirty="0"/>
          </a:p>
        </p:txBody>
      </p:sp>
      <p:sp>
        <p:nvSpPr>
          <p:cNvPr id="30" name="Text 28"/>
          <p:cNvSpPr/>
          <p:nvPr/>
        </p:nvSpPr>
        <p:spPr>
          <a:xfrm>
            <a:off x="502920" y="3931920"/>
            <a:ext cx="11155680" cy="292608"/>
          </a:xfrm>
          <a:prstGeom prst="rect">
            <a:avLst/>
          </a:prstGeom>
          <a:noFill/>
          <a:ln/>
        </p:spPr>
        <p:txBody>
          <a:bodyPr wrap="square" lIns="0" tIns="0" rIns="0" bIns="0" rtlCol="0" anchor="ctr"/>
          <a:lstStyle/>
          <a:p>
            <a:pPr indent="0" marL="0">
              <a:buNone/>
            </a:pPr>
            <a:r>
              <a:rPr lang="en-US" sz="1400" b="1" dirty="0">
                <a:solidFill>
                  <a:srgbClr val="B06A00"/>
                </a:solidFill>
                <a:latin typeface="Calibri" pitchFamily="34" charset="0"/>
                <a:ea typeface="Calibri" pitchFamily="34" charset="-122"/>
                <a:cs typeface="Calibri" pitchFamily="34" charset="-120"/>
              </a:rPr>
              <a:t>Deliberately not a model — and labelled as such everywhere it surfaces</a:t>
            </a:r>
            <a:endParaRPr lang="en-US" sz="1400" dirty="0"/>
          </a:p>
        </p:txBody>
      </p:sp>
      <p:sp>
        <p:nvSpPr>
          <p:cNvPr id="31" name="Shape 29"/>
          <p:cNvSpPr/>
          <p:nvPr/>
        </p:nvSpPr>
        <p:spPr>
          <a:xfrm>
            <a:off x="502920" y="4297680"/>
            <a:ext cx="2084832" cy="1298448"/>
          </a:xfrm>
          <a:prstGeom prst="roundRect">
            <a:avLst>
              <a:gd name="adj" fmla="val 6338"/>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32" name="Text 30"/>
          <p:cNvSpPr/>
          <p:nvPr/>
        </p:nvSpPr>
        <p:spPr>
          <a:xfrm>
            <a:off x="649224" y="4425696"/>
            <a:ext cx="1792224" cy="384048"/>
          </a:xfrm>
          <a:prstGeom prst="rect">
            <a:avLst/>
          </a:prstGeom>
          <a:noFill/>
          <a:ln/>
        </p:spPr>
        <p:txBody>
          <a:bodyPr wrap="square" lIns="0" tIns="0" rIns="0" bIns="0" rtlCol="0" anchor="t"/>
          <a:lstStyle/>
          <a:p>
            <a:pPr indent="0" marL="0">
              <a:lnSpc>
                <a:spcPts val="1400"/>
              </a:lnSpc>
              <a:buNone/>
            </a:pPr>
            <a:r>
              <a:rPr lang="en-US" sz="1150" b="1" dirty="0">
                <a:solidFill>
                  <a:srgbClr val="B06A00"/>
                </a:solidFill>
                <a:latin typeface="Calibri" pitchFamily="34" charset="0"/>
                <a:ea typeface="Calibri" pitchFamily="34" charset="-122"/>
                <a:cs typeface="Calibri" pitchFamily="34" charset="-120"/>
              </a:rPr>
              <a:t>Localization overlay</a:t>
            </a:r>
            <a:endParaRPr lang="en-US" sz="1150" dirty="0"/>
          </a:p>
        </p:txBody>
      </p:sp>
      <p:sp>
        <p:nvSpPr>
          <p:cNvPr id="33" name="Text 31"/>
          <p:cNvSpPr/>
          <p:nvPr/>
        </p:nvSpPr>
        <p:spPr>
          <a:xfrm>
            <a:off x="649224" y="4809744"/>
            <a:ext cx="1792224" cy="694944"/>
          </a:xfrm>
          <a:prstGeom prst="rect">
            <a:avLst/>
          </a:prstGeom>
          <a:noFill/>
          <a:ln/>
        </p:spPr>
        <p:txBody>
          <a:bodyPr wrap="square" lIns="0" tIns="0" rIns="0" bIns="0" rtlCol="0" anchor="t"/>
          <a:lstStyle/>
          <a:p>
            <a:pPr indent="0" marL="0">
              <a:lnSpc>
                <a:spcPts val="1200"/>
              </a:lnSpc>
              <a:buNone/>
            </a:pPr>
            <a:r>
              <a:rPr lang="en-US" sz="950" dirty="0">
                <a:solidFill>
                  <a:srgbClr val="1B2030"/>
                </a:solidFill>
                <a:latin typeface="Calibri" pitchFamily="34" charset="0"/>
                <a:ea typeface="Calibri" pitchFamily="34" charset="-122"/>
                <a:cs typeface="Calibri" pitchFamily="34" charset="-120"/>
              </a:rPr>
              <a:t>High-frequency residual — not a trained segmentation mask</a:t>
            </a:r>
            <a:endParaRPr lang="en-US" sz="950" dirty="0"/>
          </a:p>
        </p:txBody>
      </p:sp>
      <p:sp>
        <p:nvSpPr>
          <p:cNvPr id="34" name="Shape 32"/>
          <p:cNvSpPr/>
          <p:nvPr/>
        </p:nvSpPr>
        <p:spPr>
          <a:xfrm>
            <a:off x="2743200" y="4297680"/>
            <a:ext cx="2084832" cy="1298448"/>
          </a:xfrm>
          <a:prstGeom prst="roundRect">
            <a:avLst>
              <a:gd name="adj" fmla="val 6338"/>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35" name="Text 33"/>
          <p:cNvSpPr/>
          <p:nvPr/>
        </p:nvSpPr>
        <p:spPr>
          <a:xfrm>
            <a:off x="2889504" y="4425696"/>
            <a:ext cx="1792224" cy="384048"/>
          </a:xfrm>
          <a:prstGeom prst="rect">
            <a:avLst/>
          </a:prstGeom>
          <a:noFill/>
          <a:ln/>
        </p:spPr>
        <p:txBody>
          <a:bodyPr wrap="square" lIns="0" tIns="0" rIns="0" bIns="0" rtlCol="0" anchor="t"/>
          <a:lstStyle/>
          <a:p>
            <a:pPr indent="0" marL="0">
              <a:lnSpc>
                <a:spcPts val="1400"/>
              </a:lnSpc>
              <a:buNone/>
            </a:pPr>
            <a:r>
              <a:rPr lang="en-US" sz="1150" b="1" dirty="0">
                <a:solidFill>
                  <a:srgbClr val="B06A00"/>
                </a:solidFill>
                <a:latin typeface="Calibri" pitchFamily="34" charset="0"/>
                <a:ea typeface="Calibri" pitchFamily="34" charset="-122"/>
                <a:cs typeface="Calibri" pitchFamily="34" charset="-120"/>
              </a:rPr>
              <a:t>Audio-video consistency</a:t>
            </a:r>
            <a:endParaRPr lang="en-US" sz="1150" dirty="0"/>
          </a:p>
        </p:txBody>
      </p:sp>
      <p:sp>
        <p:nvSpPr>
          <p:cNvPr id="36" name="Text 34"/>
          <p:cNvSpPr/>
          <p:nvPr/>
        </p:nvSpPr>
        <p:spPr>
          <a:xfrm>
            <a:off x="2889504" y="4809744"/>
            <a:ext cx="1792224" cy="694944"/>
          </a:xfrm>
          <a:prstGeom prst="rect">
            <a:avLst/>
          </a:prstGeom>
          <a:noFill/>
          <a:ln/>
        </p:spPr>
        <p:txBody>
          <a:bodyPr wrap="square" lIns="0" tIns="0" rIns="0" bIns="0" rtlCol="0" anchor="t"/>
          <a:lstStyle/>
          <a:p>
            <a:pPr indent="0" marL="0">
              <a:lnSpc>
                <a:spcPts val="1200"/>
              </a:lnSpc>
              <a:buNone/>
            </a:pPr>
            <a:r>
              <a:rPr lang="en-US" sz="950" dirty="0">
                <a:solidFill>
                  <a:srgbClr val="1B2030"/>
                </a:solidFill>
                <a:latin typeface="Calibri" pitchFamily="34" charset="0"/>
                <a:ea typeface="Calibri" pitchFamily="34" charset="-122"/>
                <a:cs typeface="Calibri" pitchFamily="34" charset="-120"/>
              </a:rPr>
              <a:t>Face presence vs audio energy — not SyncNet</a:t>
            </a:r>
            <a:endParaRPr lang="en-US" sz="950" dirty="0"/>
          </a:p>
        </p:txBody>
      </p:sp>
      <p:sp>
        <p:nvSpPr>
          <p:cNvPr id="37" name="Shape 35"/>
          <p:cNvSpPr/>
          <p:nvPr/>
        </p:nvSpPr>
        <p:spPr>
          <a:xfrm>
            <a:off x="4983480" y="4297680"/>
            <a:ext cx="2084832" cy="1298448"/>
          </a:xfrm>
          <a:prstGeom prst="roundRect">
            <a:avLst>
              <a:gd name="adj" fmla="val 6338"/>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38" name="Text 36"/>
          <p:cNvSpPr/>
          <p:nvPr/>
        </p:nvSpPr>
        <p:spPr>
          <a:xfrm>
            <a:off x="5129784" y="4425696"/>
            <a:ext cx="1792224" cy="384048"/>
          </a:xfrm>
          <a:prstGeom prst="rect">
            <a:avLst/>
          </a:prstGeom>
          <a:noFill/>
          <a:ln/>
        </p:spPr>
        <p:txBody>
          <a:bodyPr wrap="square" lIns="0" tIns="0" rIns="0" bIns="0" rtlCol="0" anchor="t"/>
          <a:lstStyle/>
          <a:p>
            <a:pPr indent="0" marL="0">
              <a:lnSpc>
                <a:spcPts val="1400"/>
              </a:lnSpc>
              <a:buNone/>
            </a:pPr>
            <a:r>
              <a:rPr lang="en-US" sz="1150" b="1" dirty="0">
                <a:solidFill>
                  <a:srgbClr val="B06A00"/>
                </a:solidFill>
                <a:latin typeface="Calibri" pitchFamily="34" charset="0"/>
                <a:ea typeface="Calibri" pitchFamily="34" charset="-122"/>
                <a:cs typeface="Calibri" pitchFamily="34" charset="-120"/>
              </a:rPr>
              <a:t>Audio editing indicators</a:t>
            </a:r>
            <a:endParaRPr lang="en-US" sz="1150" dirty="0"/>
          </a:p>
        </p:txBody>
      </p:sp>
      <p:sp>
        <p:nvSpPr>
          <p:cNvPr id="39" name="Text 37"/>
          <p:cNvSpPr/>
          <p:nvPr/>
        </p:nvSpPr>
        <p:spPr>
          <a:xfrm>
            <a:off x="5129784" y="4809744"/>
            <a:ext cx="1792224" cy="694944"/>
          </a:xfrm>
          <a:prstGeom prst="rect">
            <a:avLst/>
          </a:prstGeom>
          <a:noFill/>
          <a:ln/>
        </p:spPr>
        <p:txBody>
          <a:bodyPr wrap="square" lIns="0" tIns="0" rIns="0" bIns="0" rtlCol="0" anchor="t"/>
          <a:lstStyle/>
          <a:p>
            <a:pPr indent="0" marL="0">
              <a:lnSpc>
                <a:spcPts val="1200"/>
              </a:lnSpc>
              <a:buNone/>
            </a:pPr>
            <a:r>
              <a:rPr lang="en-US" sz="950" dirty="0">
                <a:solidFill>
                  <a:srgbClr val="1B2030"/>
                </a:solidFill>
                <a:latin typeface="Calibri" pitchFamily="34" charset="0"/>
                <a:ea typeface="Calibri" pitchFamily="34" charset="-122"/>
                <a:cs typeface="Calibri" pitchFamily="34" charset="-120"/>
              </a:rPr>
              <a:t>Container probe + PCM statistics — no model</a:t>
            </a:r>
            <a:endParaRPr lang="en-US" sz="950" dirty="0"/>
          </a:p>
        </p:txBody>
      </p:sp>
      <p:sp>
        <p:nvSpPr>
          <p:cNvPr id="40" name="Shape 38"/>
          <p:cNvSpPr/>
          <p:nvPr/>
        </p:nvSpPr>
        <p:spPr>
          <a:xfrm>
            <a:off x="7223760" y="4297680"/>
            <a:ext cx="2084832" cy="1298448"/>
          </a:xfrm>
          <a:prstGeom prst="roundRect">
            <a:avLst>
              <a:gd name="adj" fmla="val 6338"/>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41" name="Text 39"/>
          <p:cNvSpPr/>
          <p:nvPr/>
        </p:nvSpPr>
        <p:spPr>
          <a:xfrm>
            <a:off x="7370064" y="4425696"/>
            <a:ext cx="1792224" cy="384048"/>
          </a:xfrm>
          <a:prstGeom prst="rect">
            <a:avLst/>
          </a:prstGeom>
          <a:noFill/>
          <a:ln/>
        </p:spPr>
        <p:txBody>
          <a:bodyPr wrap="square" lIns="0" tIns="0" rIns="0" bIns="0" rtlCol="0" anchor="t"/>
          <a:lstStyle/>
          <a:p>
            <a:pPr indent="0" marL="0">
              <a:lnSpc>
                <a:spcPts val="1400"/>
              </a:lnSpc>
              <a:buNone/>
            </a:pPr>
            <a:r>
              <a:rPr lang="en-US" sz="1150" b="1" dirty="0">
                <a:solidFill>
                  <a:srgbClr val="B06A00"/>
                </a:solidFill>
                <a:latin typeface="Calibri" pitchFamily="34" charset="0"/>
                <a:ea typeface="Calibri" pitchFamily="34" charset="-122"/>
                <a:cs typeface="Calibri" pitchFamily="34" charset="-120"/>
              </a:rPr>
              <a:t>Copy detection</a:t>
            </a:r>
            <a:endParaRPr lang="en-US" sz="1150" dirty="0"/>
          </a:p>
        </p:txBody>
      </p:sp>
      <p:sp>
        <p:nvSpPr>
          <p:cNvPr id="42" name="Text 40"/>
          <p:cNvSpPr/>
          <p:nvPr/>
        </p:nvSpPr>
        <p:spPr>
          <a:xfrm>
            <a:off x="7370064" y="4809744"/>
            <a:ext cx="1792224" cy="694944"/>
          </a:xfrm>
          <a:prstGeom prst="rect">
            <a:avLst/>
          </a:prstGeom>
          <a:noFill/>
          <a:ln/>
        </p:spPr>
        <p:txBody>
          <a:bodyPr wrap="square" lIns="0" tIns="0" rIns="0" bIns="0" rtlCol="0" anchor="t"/>
          <a:lstStyle/>
          <a:p>
            <a:pPr indent="0" marL="0">
              <a:lnSpc>
                <a:spcPts val="1200"/>
              </a:lnSpc>
              <a:buNone/>
            </a:pPr>
            <a:r>
              <a:rPr lang="en-US" sz="950" dirty="0">
                <a:solidFill>
                  <a:srgbClr val="1B2030"/>
                </a:solidFill>
                <a:latin typeface="Calibri" pitchFamily="34" charset="0"/>
                <a:ea typeface="Calibri" pitchFamily="34" charset="-122"/>
                <a:cs typeface="Calibri" pitchFamily="34" charset="-120"/>
              </a:rPr>
              <a:t>Perceptual hashing: pHash, dHash, aHash</a:t>
            </a:r>
            <a:endParaRPr lang="en-US" sz="950" dirty="0"/>
          </a:p>
        </p:txBody>
      </p:sp>
      <p:sp>
        <p:nvSpPr>
          <p:cNvPr id="43" name="Shape 41"/>
          <p:cNvSpPr/>
          <p:nvPr/>
        </p:nvSpPr>
        <p:spPr>
          <a:xfrm>
            <a:off x="9464040" y="4297680"/>
            <a:ext cx="2084832" cy="1298448"/>
          </a:xfrm>
          <a:prstGeom prst="roundRect">
            <a:avLst>
              <a:gd name="adj" fmla="val 6338"/>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44" name="Text 42"/>
          <p:cNvSpPr/>
          <p:nvPr/>
        </p:nvSpPr>
        <p:spPr>
          <a:xfrm>
            <a:off x="9610344" y="4425696"/>
            <a:ext cx="1792224" cy="384048"/>
          </a:xfrm>
          <a:prstGeom prst="rect">
            <a:avLst/>
          </a:prstGeom>
          <a:noFill/>
          <a:ln/>
        </p:spPr>
        <p:txBody>
          <a:bodyPr wrap="square" lIns="0" tIns="0" rIns="0" bIns="0" rtlCol="0" anchor="t"/>
          <a:lstStyle/>
          <a:p>
            <a:pPr indent="0" marL="0">
              <a:lnSpc>
                <a:spcPts val="1400"/>
              </a:lnSpc>
              <a:buNone/>
            </a:pPr>
            <a:r>
              <a:rPr lang="en-US" sz="1150" b="1" dirty="0">
                <a:solidFill>
                  <a:srgbClr val="B06A00"/>
                </a:solidFill>
                <a:latin typeface="Calibri" pitchFamily="34" charset="0"/>
                <a:ea typeface="Calibri" pitchFamily="34" charset="-122"/>
                <a:cs typeface="Calibri" pitchFamily="34" charset="-120"/>
              </a:rPr>
              <a:t>Final risk score</a:t>
            </a:r>
            <a:endParaRPr lang="en-US" sz="1150" dirty="0"/>
          </a:p>
        </p:txBody>
      </p:sp>
      <p:sp>
        <p:nvSpPr>
          <p:cNvPr id="45" name="Text 43"/>
          <p:cNvSpPr/>
          <p:nvPr/>
        </p:nvSpPr>
        <p:spPr>
          <a:xfrm>
            <a:off x="9610344" y="4809744"/>
            <a:ext cx="1792224" cy="694944"/>
          </a:xfrm>
          <a:prstGeom prst="rect">
            <a:avLst/>
          </a:prstGeom>
          <a:noFill/>
          <a:ln/>
        </p:spPr>
        <p:txBody>
          <a:bodyPr wrap="square" lIns="0" tIns="0" rIns="0" bIns="0" rtlCol="0" anchor="t"/>
          <a:lstStyle/>
          <a:p>
            <a:pPr indent="0" marL="0">
              <a:lnSpc>
                <a:spcPts val="1200"/>
              </a:lnSpc>
              <a:buNone/>
            </a:pPr>
            <a:r>
              <a:rPr lang="en-US" sz="950" dirty="0">
                <a:solidFill>
                  <a:srgbClr val="1B2030"/>
                </a:solidFill>
                <a:latin typeface="Calibri" pitchFamily="34" charset="0"/>
                <a:ea typeface="Calibri" pitchFamily="34" charset="-122"/>
                <a:cs typeface="Calibri" pitchFamily="34" charset="-120"/>
              </a:rPr>
              <a:t>Transparent weighted sum — not a black box</a:t>
            </a:r>
            <a:endParaRPr lang="en-US" sz="950" dirty="0"/>
          </a:p>
        </p:txBody>
      </p:sp>
      <p:sp>
        <p:nvSpPr>
          <p:cNvPr id="46" name="Shape 44"/>
          <p:cNvSpPr/>
          <p:nvPr/>
        </p:nvSpPr>
        <p:spPr>
          <a:xfrm>
            <a:off x="502920" y="5742432"/>
            <a:ext cx="11155680" cy="640080"/>
          </a:xfrm>
          <a:prstGeom prst="roundRect">
            <a:avLst>
              <a:gd name="adj" fmla="val 12857"/>
            </a:avLst>
          </a:prstGeom>
          <a:solidFill>
            <a:srgbClr val="1E2761"/>
          </a:solidFill>
          <a:ln w="6350">
            <a:solidFill>
              <a:srgbClr val="1E2761"/>
            </a:solidFill>
            <a:prstDash val="solid"/>
          </a:ln>
          <a:effectLst>
            <a:outerShdw sx="100000" sy="100000" kx="0" ky="0" algn="bl" rotWithShape="0" blurRad="101600" dist="25400" dir="5400000">
              <a:srgbClr val="8A93A8">
                <a:alpha val="22000"/>
              </a:srgbClr>
            </a:outerShdw>
          </a:effectLst>
        </p:spPr>
      </p:sp>
      <p:sp>
        <p:nvSpPr>
          <p:cNvPr id="47" name="Text 45"/>
          <p:cNvSpPr/>
          <p:nvPr/>
        </p:nvSpPr>
        <p:spPr>
          <a:xfrm>
            <a:off x="777240" y="5742432"/>
            <a:ext cx="10607040" cy="64008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Risk fusion weights:  manipulation 0.35  ·  face identity 0.25  ·  voice 0.12  ·  A/V consistency 0.10  ·  provenance 0.08  ·  audio editing 0.05  ·  propagation 0.05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CRITERIA 4 &amp; 7</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Measured — including the weak numbers</a:t>
            </a:r>
            <a:endParaRPr lang="en-US" sz="3200" dirty="0"/>
          </a:p>
        </p:txBody>
      </p:sp>
      <p:sp>
        <p:nvSpPr>
          <p:cNvPr id="4" name="Shape 2"/>
          <p:cNvSpPr/>
          <p:nvPr/>
        </p:nvSpPr>
        <p:spPr>
          <a:xfrm>
            <a:off x="9144000" y="329184"/>
            <a:ext cx="2514600" cy="384048"/>
          </a:xfrm>
          <a:prstGeom prst="roundRect">
            <a:avLst>
              <a:gd name="adj" fmla="val 50000"/>
            </a:avLst>
          </a:prstGeom>
          <a:solidFill>
            <a:srgbClr val="1E2761"/>
          </a:solidFill>
          <a:ln w="9525">
            <a:solidFill>
              <a:srgbClr val="1E2761"/>
            </a:solidFill>
            <a:prstDash val="solid"/>
          </a:ln>
        </p:spPr>
      </p:sp>
      <p:sp>
        <p:nvSpPr>
          <p:cNvPr id="5" name="Text 3"/>
          <p:cNvSpPr/>
          <p:nvPr/>
        </p:nvSpPr>
        <p:spPr>
          <a:xfrm>
            <a:off x="9144000" y="329184"/>
            <a:ext cx="2514600" cy="384048"/>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Criteria 4 + 7</a:t>
            </a:r>
            <a:endParaRPr lang="en-US" sz="1100" dirty="0"/>
          </a:p>
        </p:txBody>
      </p:sp>
      <p:sp>
        <p:nvSpPr>
          <p:cNvPr id="6" name="Shape 4"/>
          <p:cNvSpPr/>
          <p:nvPr/>
        </p:nvSpPr>
        <p:spPr>
          <a:xfrm>
            <a:off x="502920" y="1426464"/>
            <a:ext cx="3566160" cy="2139696"/>
          </a:xfrm>
          <a:prstGeom prst="roundRect">
            <a:avLst>
              <a:gd name="adj" fmla="val 3846"/>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7" name="Text 5"/>
          <p:cNvSpPr/>
          <p:nvPr/>
        </p:nvSpPr>
        <p:spPr>
          <a:xfrm>
            <a:off x="685800" y="1591056"/>
            <a:ext cx="3200400" cy="566928"/>
          </a:xfrm>
          <a:prstGeom prst="rect">
            <a:avLst/>
          </a:prstGeom>
          <a:noFill/>
          <a:ln/>
        </p:spPr>
        <p:txBody>
          <a:bodyPr wrap="square" lIns="0" tIns="0" rIns="0" bIns="0" rtlCol="0" anchor="ctr"/>
          <a:lstStyle/>
          <a:p>
            <a:pPr algn="ctr" indent="0" marL="0">
              <a:buNone/>
            </a:pPr>
            <a:r>
              <a:rPr lang="en-US" sz="3400" b="1" dirty="0">
                <a:solidFill>
                  <a:srgbClr val="1F6B4D"/>
                </a:solidFill>
                <a:latin typeface="Cambria" pitchFamily="34" charset="0"/>
                <a:ea typeface="Cambria" pitchFamily="34" charset="-122"/>
                <a:cs typeface="Cambria" pitchFamily="34" charset="-120"/>
              </a:rPr>
              <a:t>91.5%</a:t>
            </a:r>
            <a:endParaRPr lang="en-US" sz="3400" dirty="0"/>
          </a:p>
        </p:txBody>
      </p:sp>
      <p:sp>
        <p:nvSpPr>
          <p:cNvPr id="8" name="Text 6"/>
          <p:cNvSpPr/>
          <p:nvPr/>
        </p:nvSpPr>
        <p:spPr>
          <a:xfrm>
            <a:off x="685800" y="2139696"/>
            <a:ext cx="3200400" cy="457200"/>
          </a:xfrm>
          <a:prstGeom prst="rect">
            <a:avLst/>
          </a:prstGeom>
          <a:noFill/>
          <a:ln/>
        </p:spPr>
        <p:txBody>
          <a:bodyPr wrap="square" lIns="0" tIns="0" rIns="0" bIns="0" rtlCol="0" anchor="t"/>
          <a:lstStyle/>
          <a:p>
            <a:pPr algn="ctr" indent="0" marL="0">
              <a:buNone/>
            </a:pPr>
            <a:r>
              <a:rPr lang="en-US" sz="1100" dirty="0">
                <a:solidFill>
                  <a:srgbClr val="5A6272"/>
                </a:solidFill>
                <a:latin typeface="Calibri" pitchFamily="34" charset="0"/>
                <a:ea typeface="Calibri" pitchFamily="34" charset="-122"/>
                <a:cs typeface="Calibri" pitchFamily="34" charset="-120"/>
              </a:rPr>
              <a:t>Face identity accuracy — LFW public pairs, n = 200</a:t>
            </a:r>
            <a:endParaRPr lang="en-US" sz="1100" dirty="0"/>
          </a:p>
        </p:txBody>
      </p:sp>
      <p:sp>
        <p:nvSpPr>
          <p:cNvPr id="9" name="Text 7"/>
          <p:cNvSpPr/>
          <p:nvPr/>
        </p:nvSpPr>
        <p:spPr>
          <a:xfrm>
            <a:off x="777240" y="2651760"/>
            <a:ext cx="3017520" cy="786384"/>
          </a:xfrm>
          <a:prstGeom prst="rect">
            <a:avLst/>
          </a:prstGeom>
          <a:noFill/>
          <a:ln/>
        </p:spPr>
        <p:txBody>
          <a:bodyPr wrap="square" lIns="0" tIns="0" rIns="0" bIns="0" rtlCol="0" anchor="ctr"/>
          <a:lstStyle/>
          <a:p>
            <a:pPr algn="ctr" indent="0" marL="0">
              <a:lnSpc>
                <a:spcPts val="1600"/>
              </a:lnSpc>
              <a:buNone/>
            </a:pPr>
            <a:r>
              <a:rPr lang="en-US" sz="1150" b="1" dirty="0">
                <a:solidFill>
                  <a:srgbClr val="1F6B4D"/>
                </a:solidFill>
                <a:latin typeface="Calibri" pitchFamily="34" charset="0"/>
                <a:ea typeface="Calibri" pitchFamily="34" charset="-122"/>
                <a:cs typeface="Calibri" pitchFamily="34" charset="-120"/>
              </a:rPr>
              <a:t>Precision 1.00  ·  Specificity 1.00</a:t>
            </a:r>
            <a:endParaRPr lang="en-US" sz="1150" dirty="0"/>
          </a:p>
          <a:p>
            <a:pPr algn="ctr" indent="0" marL="0">
              <a:lnSpc>
                <a:spcPts val="1600"/>
              </a:lnSpc>
              <a:buNone/>
            </a:pPr>
            <a:r>
              <a:rPr lang="en-US" sz="1150" b="1" dirty="0">
                <a:solidFill>
                  <a:srgbClr val="1F6B4D"/>
                </a:solidFill>
                <a:latin typeface="Calibri" pitchFamily="34" charset="0"/>
                <a:ea typeface="Calibri" pitchFamily="34" charset="-122"/>
                <a:cs typeface="Calibri" pitchFamily="34" charset="-120"/>
              </a:rPr>
              <a:t>Zero false matches in 200 pairs</a:t>
            </a:r>
            <a:endParaRPr lang="en-US" sz="1150" dirty="0"/>
          </a:p>
        </p:txBody>
      </p:sp>
      <p:sp>
        <p:nvSpPr>
          <p:cNvPr id="10" name="Shape 8"/>
          <p:cNvSpPr/>
          <p:nvPr/>
        </p:nvSpPr>
        <p:spPr>
          <a:xfrm>
            <a:off x="4343400" y="1426464"/>
            <a:ext cx="3566160" cy="2139696"/>
          </a:xfrm>
          <a:prstGeom prst="roundRect">
            <a:avLst>
              <a:gd name="adj" fmla="val 3846"/>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11" name="Text 9"/>
          <p:cNvSpPr/>
          <p:nvPr/>
        </p:nvSpPr>
        <p:spPr>
          <a:xfrm>
            <a:off x="4526280" y="1591056"/>
            <a:ext cx="3200400" cy="566928"/>
          </a:xfrm>
          <a:prstGeom prst="rect">
            <a:avLst/>
          </a:prstGeom>
          <a:noFill/>
          <a:ln/>
        </p:spPr>
        <p:txBody>
          <a:bodyPr wrap="square" lIns="0" tIns="0" rIns="0" bIns="0" rtlCol="0" anchor="ctr"/>
          <a:lstStyle/>
          <a:p>
            <a:pPr algn="ctr" indent="0" marL="0">
              <a:buNone/>
            </a:pPr>
            <a:r>
              <a:rPr lang="en-US" sz="3400" b="1" dirty="0">
                <a:solidFill>
                  <a:srgbClr val="1F6B4D"/>
                </a:solidFill>
                <a:latin typeface="Cambria" pitchFamily="34" charset="0"/>
                <a:ea typeface="Cambria" pitchFamily="34" charset="-122"/>
                <a:cs typeface="Cambria" pitchFamily="34" charset="-120"/>
              </a:rPr>
              <a:t>87.5%</a:t>
            </a:r>
            <a:endParaRPr lang="en-US" sz="3400" dirty="0"/>
          </a:p>
        </p:txBody>
      </p:sp>
      <p:sp>
        <p:nvSpPr>
          <p:cNvPr id="12" name="Text 10"/>
          <p:cNvSpPr/>
          <p:nvPr/>
        </p:nvSpPr>
        <p:spPr>
          <a:xfrm>
            <a:off x="4526280" y="2139696"/>
            <a:ext cx="3200400" cy="457200"/>
          </a:xfrm>
          <a:prstGeom prst="rect">
            <a:avLst/>
          </a:prstGeom>
          <a:noFill/>
          <a:ln/>
        </p:spPr>
        <p:txBody>
          <a:bodyPr wrap="square" lIns="0" tIns="0" rIns="0" bIns="0" rtlCol="0" anchor="t"/>
          <a:lstStyle/>
          <a:p>
            <a:pPr algn="ctr" indent="0" marL="0">
              <a:buNone/>
            </a:pPr>
            <a:r>
              <a:rPr lang="en-US" sz="1100" dirty="0">
                <a:solidFill>
                  <a:srgbClr val="5A6272"/>
                </a:solidFill>
                <a:latin typeface="Calibri" pitchFamily="34" charset="0"/>
                <a:ea typeface="Calibri" pitchFamily="34" charset="-122"/>
                <a:cs typeface="Calibri" pitchFamily="34" charset="-120"/>
              </a:rPr>
              <a:t>Decision stability under compression — 80 paired transforms</a:t>
            </a:r>
            <a:endParaRPr lang="en-US" sz="1100" dirty="0"/>
          </a:p>
        </p:txBody>
      </p:sp>
      <p:sp>
        <p:nvSpPr>
          <p:cNvPr id="13" name="Text 11"/>
          <p:cNvSpPr/>
          <p:nvPr/>
        </p:nvSpPr>
        <p:spPr>
          <a:xfrm>
            <a:off x="4617720" y="2651760"/>
            <a:ext cx="3017520" cy="786384"/>
          </a:xfrm>
          <a:prstGeom prst="rect">
            <a:avLst/>
          </a:prstGeom>
          <a:noFill/>
          <a:ln/>
        </p:spPr>
        <p:txBody>
          <a:bodyPr wrap="square" lIns="0" tIns="0" rIns="0" bIns="0" rtlCol="0" anchor="ctr"/>
          <a:lstStyle/>
          <a:p>
            <a:pPr algn="ctr" indent="0" marL="0">
              <a:lnSpc>
                <a:spcPts val="1600"/>
              </a:lnSpc>
              <a:buNone/>
            </a:pPr>
            <a:r>
              <a:rPr lang="en-US" sz="1150" b="1" dirty="0">
                <a:solidFill>
                  <a:srgbClr val="1F6B4D"/>
                </a:solidFill>
                <a:latin typeface="Calibri" pitchFamily="34" charset="0"/>
                <a:ea typeface="Calibri" pitchFamily="34" charset="-122"/>
                <a:cs typeface="Calibri" pitchFamily="34" charset="-120"/>
              </a:rPr>
              <a:t>16 real ffmpeg transforms</a:t>
            </a:r>
            <a:endParaRPr lang="en-US" sz="1150" dirty="0"/>
          </a:p>
          <a:p>
            <a:pPr algn="ctr" indent="0" marL="0">
              <a:lnSpc>
                <a:spcPts val="1600"/>
              </a:lnSpc>
              <a:buNone/>
            </a:pPr>
            <a:r>
              <a:rPr lang="en-US" sz="1150" b="1" dirty="0">
                <a:solidFill>
                  <a:srgbClr val="1F6B4D"/>
                </a:solidFill>
                <a:latin typeface="Calibri" pitchFamily="34" charset="0"/>
                <a:ea typeface="Calibri" pitchFamily="34" charset="-122"/>
                <a:cs typeface="Calibri" pitchFamily="34" charset="-120"/>
              </a:rPr>
              <a:t>95% CI  0.785 – 0.931</a:t>
            </a:r>
            <a:endParaRPr lang="en-US" sz="1150" dirty="0"/>
          </a:p>
        </p:txBody>
      </p:sp>
      <p:sp>
        <p:nvSpPr>
          <p:cNvPr id="14" name="Shape 12"/>
          <p:cNvSpPr/>
          <p:nvPr/>
        </p:nvSpPr>
        <p:spPr>
          <a:xfrm>
            <a:off x="8183880" y="1426464"/>
            <a:ext cx="3474720" cy="2139696"/>
          </a:xfrm>
          <a:prstGeom prst="roundRect">
            <a:avLst>
              <a:gd name="adj" fmla="val 3846"/>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15" name="Text 13"/>
          <p:cNvSpPr/>
          <p:nvPr/>
        </p:nvSpPr>
        <p:spPr>
          <a:xfrm>
            <a:off x="8366760" y="1591056"/>
            <a:ext cx="3108960" cy="566928"/>
          </a:xfrm>
          <a:prstGeom prst="rect">
            <a:avLst/>
          </a:prstGeom>
          <a:noFill/>
          <a:ln/>
        </p:spPr>
        <p:txBody>
          <a:bodyPr wrap="square" lIns="0" tIns="0" rIns="0" bIns="0" rtlCol="0" anchor="ctr"/>
          <a:lstStyle/>
          <a:p>
            <a:pPr algn="ctr" indent="0" marL="0">
              <a:buNone/>
            </a:pPr>
            <a:r>
              <a:rPr lang="en-US" sz="3400" b="1" dirty="0">
                <a:solidFill>
                  <a:srgbClr val="B06A00"/>
                </a:solidFill>
                <a:latin typeface="Cambria" pitchFamily="34" charset="0"/>
                <a:ea typeface="Cambria" pitchFamily="34" charset="-122"/>
                <a:cs typeface="Cambria" pitchFamily="34" charset="-120"/>
              </a:rPr>
              <a:t>46.6%</a:t>
            </a:r>
            <a:endParaRPr lang="en-US" sz="3400" dirty="0"/>
          </a:p>
        </p:txBody>
      </p:sp>
      <p:sp>
        <p:nvSpPr>
          <p:cNvPr id="16" name="Text 14"/>
          <p:cNvSpPr/>
          <p:nvPr/>
        </p:nvSpPr>
        <p:spPr>
          <a:xfrm>
            <a:off x="8366760" y="2139696"/>
            <a:ext cx="3108960" cy="457200"/>
          </a:xfrm>
          <a:prstGeom prst="rect">
            <a:avLst/>
          </a:prstGeom>
          <a:noFill/>
          <a:ln/>
        </p:spPr>
        <p:txBody>
          <a:bodyPr wrap="square" lIns="0" tIns="0" rIns="0" bIns="0" rtlCol="0" anchor="t"/>
          <a:lstStyle/>
          <a:p>
            <a:pPr algn="ctr" indent="0" marL="0">
              <a:buNone/>
            </a:pPr>
            <a:r>
              <a:rPr lang="en-US" sz="1100" dirty="0">
                <a:solidFill>
                  <a:srgbClr val="5A6272"/>
                </a:solidFill>
                <a:latin typeface="Calibri" pitchFamily="34" charset="0"/>
                <a:ea typeface="Calibri" pitchFamily="34" charset="-122"/>
                <a:cs typeface="Calibri" pitchFamily="34" charset="-120"/>
              </a:rPr>
              <a:t>Manipulation accuracy, out-of-distribution — n = 500</a:t>
            </a:r>
            <a:endParaRPr lang="en-US" sz="1100" dirty="0"/>
          </a:p>
        </p:txBody>
      </p:sp>
      <p:sp>
        <p:nvSpPr>
          <p:cNvPr id="17" name="Text 15"/>
          <p:cNvSpPr/>
          <p:nvPr/>
        </p:nvSpPr>
        <p:spPr>
          <a:xfrm>
            <a:off x="8275320" y="2651760"/>
            <a:ext cx="3291840" cy="786384"/>
          </a:xfrm>
          <a:prstGeom prst="rect">
            <a:avLst/>
          </a:prstGeom>
          <a:noFill/>
          <a:ln/>
        </p:spPr>
        <p:txBody>
          <a:bodyPr wrap="square" lIns="0" tIns="0" rIns="0" bIns="0" rtlCol="0" anchor="ctr"/>
          <a:lstStyle/>
          <a:p>
            <a:pPr algn="ctr" indent="0" marL="0">
              <a:lnSpc>
                <a:spcPts val="1600"/>
              </a:lnSpc>
              <a:buNone/>
            </a:pPr>
            <a:r>
              <a:rPr lang="en-US" sz="1150" b="1" dirty="0">
                <a:solidFill>
                  <a:srgbClr val="B06A00"/>
                </a:solidFill>
                <a:latin typeface="Calibri" pitchFamily="34" charset="0"/>
                <a:ea typeface="Calibri" pitchFamily="34" charset="-122"/>
                <a:cs typeface="Calibri" pitchFamily="34" charset="-120"/>
              </a:rPr>
              <a:t>ROC-AUC 0.417 on StyleGAN faces</a:t>
            </a:r>
            <a:endParaRPr lang="en-US" sz="1150" dirty="0"/>
          </a:p>
          <a:p>
            <a:pPr algn="ctr" indent="0" marL="0">
              <a:lnSpc>
                <a:spcPts val="1600"/>
              </a:lnSpc>
              <a:buNone/>
            </a:pPr>
            <a:r>
              <a:rPr lang="en-US" sz="1150" b="1" dirty="0">
                <a:solidFill>
                  <a:srgbClr val="B06A00"/>
                </a:solidFill>
                <a:latin typeface="Calibri" pitchFamily="34" charset="0"/>
                <a:ea typeface="Calibri" pitchFamily="34" charset="-122"/>
                <a:cs typeface="Calibri" pitchFamily="34" charset="-120"/>
              </a:rPr>
              <a:t>We report this, we do not hide it</a:t>
            </a:r>
            <a:endParaRPr lang="en-US" sz="1150" dirty="0"/>
          </a:p>
        </p:txBody>
      </p:sp>
      <p:sp>
        <p:nvSpPr>
          <p:cNvPr id="18" name="Text 16"/>
          <p:cNvSpPr/>
          <p:nvPr/>
        </p:nvSpPr>
        <p:spPr>
          <a:xfrm>
            <a:off x="502920" y="3712464"/>
            <a:ext cx="1115568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Why the third number is low — and why it does not sink the system</a:t>
            </a:r>
            <a:endParaRPr lang="en-US" sz="1400" dirty="0"/>
          </a:p>
        </p:txBody>
      </p:sp>
      <p:sp>
        <p:nvSpPr>
          <p:cNvPr id="19" name="Text 17"/>
          <p:cNvSpPr/>
          <p:nvPr/>
        </p:nvSpPr>
        <p:spPr>
          <a:xfrm>
            <a:off x="502920" y="4059936"/>
            <a:ext cx="11155680" cy="182880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250" dirty="0">
                <a:solidFill>
                  <a:srgbClr val="1B2030"/>
                </a:solidFill>
                <a:latin typeface="Calibri" pitchFamily="34" charset="0"/>
                <a:ea typeface="Calibri" pitchFamily="34" charset="-122"/>
                <a:cs typeface="Calibri" pitchFamily="34" charset="-120"/>
              </a:rPr>
              <a:t>It is a cross-generator test. The Xception checkpoint was trained on FaceForensics++ face swaps; the corpus is StyleGAN whole-face synthesis. A lower bound, not an in-distribution figure.</a:t>
            </a:r>
            <a:endParaRPr lang="en-US" sz="1250" dirty="0"/>
          </a:p>
          <a:p>
            <a:pPr marL="342900" indent="-342900">
              <a:lnSpc>
                <a:spcPts val="1900"/>
              </a:lnSpc>
              <a:spcAft>
                <a:spcPts val="700"/>
              </a:spcAft>
              <a:buSzPct val="100000"/>
              <a:buChar char="•"/>
            </a:pPr>
            <a:r>
              <a:rPr lang="en-US" sz="1250" dirty="0">
                <a:solidFill>
                  <a:srgbClr val="1B2030"/>
                </a:solidFill>
                <a:latin typeface="Calibri" pitchFamily="34" charset="0"/>
                <a:ea typeface="Calibri" pitchFamily="34" charset="-122"/>
                <a:cs typeface="Calibri" pitchFamily="34" charset="-120"/>
              </a:rPr>
              <a:t>We used a corpus we could license and publish; FaceForensics++ and Celeb-DF need signed EULAs.</a:t>
            </a:r>
            <a:endParaRPr lang="en-US" sz="1250" dirty="0"/>
          </a:p>
          <a:p>
            <a:pPr marL="342900" indent="-342900">
              <a:lnSpc>
                <a:spcPts val="1900"/>
              </a:lnSpc>
              <a:spcAft>
                <a:spcPts val="700"/>
              </a:spcAft>
              <a:buSzPct val="100000"/>
              <a:buChar char="•"/>
            </a:pPr>
            <a:r>
              <a:rPr lang="en-US" sz="1250" dirty="0">
                <a:solidFill>
                  <a:srgbClr val="1B2030"/>
                </a:solidFill>
                <a:latin typeface="Calibri" pitchFamily="34" charset="0"/>
                <a:ea typeface="Calibri" pitchFamily="34" charset="-122"/>
                <a:cs typeface="Calibri" pitchFamily="34" charset="-120"/>
              </a:rPr>
              <a:t>It is why DeepTrace outputs indicators, never a verdict — identity signals combined (0.37) outweigh manipulation (0.35).</a:t>
            </a:r>
            <a:endParaRPr lang="en-US" sz="1250" dirty="0"/>
          </a:p>
          <a:p>
            <a:pPr marL="342900" indent="-342900">
              <a:lnSpc>
                <a:spcPts val="1900"/>
              </a:lnSpc>
              <a:spcAft>
                <a:spcPts val="700"/>
              </a:spcAft>
              <a:buSzPct val="100000"/>
              <a:buChar char="•"/>
            </a:pPr>
            <a:r>
              <a:rPr lang="en-US" sz="1250" dirty="0">
                <a:solidFill>
                  <a:srgbClr val="1B2030"/>
                </a:solidFill>
                <a:latin typeface="Calibri" pitchFamily="34" charset="0"/>
                <a:ea typeface="Calibri" pitchFamily="34" charset="-122"/>
                <a:cs typeface="Calibri" pitchFamily="34" charset="-120"/>
              </a:rPr>
              <a:t>A 10-point threshold sweep and Wilson intervals ship with it, so the operating point is inspectable.</a:t>
            </a:r>
            <a:endParaRPr lang="en-US" sz="1250" dirty="0"/>
          </a:p>
        </p:txBody>
      </p:sp>
      <p:sp>
        <p:nvSpPr>
          <p:cNvPr id="20" name="Shape 18"/>
          <p:cNvSpPr/>
          <p:nvPr/>
        </p:nvSpPr>
        <p:spPr>
          <a:xfrm>
            <a:off x="502920" y="5943600"/>
            <a:ext cx="11155680" cy="566928"/>
          </a:xfrm>
          <a:prstGeom prst="roundRect">
            <a:avLst>
              <a:gd name="adj" fmla="val 14516"/>
            </a:avLst>
          </a:prstGeom>
          <a:solidFill>
            <a:srgbClr val="1E2761"/>
          </a:solidFill>
          <a:ln w="6350">
            <a:solidFill>
              <a:srgbClr val="1E2761"/>
            </a:solidFill>
            <a:prstDash val="solid"/>
          </a:ln>
          <a:effectLst>
            <a:outerShdw sx="100000" sy="100000" kx="0" ky="0" algn="bl" rotWithShape="0" blurRad="101600" dist="25400" dir="5400000">
              <a:srgbClr val="8A93A8">
                <a:alpha val="22000"/>
              </a:srgbClr>
            </a:outerShdw>
          </a:effectLst>
        </p:spPr>
      </p:sp>
      <p:sp>
        <p:nvSpPr>
          <p:cNvPr id="21" name="Text 19"/>
          <p:cNvSpPr/>
          <p:nvPr/>
        </p:nvSpPr>
        <p:spPr>
          <a:xfrm>
            <a:off x="777240" y="5943600"/>
            <a:ext cx="10607040" cy="566928"/>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Every figure computed by scripts/benchmark.py running the real pipeline. No value is estimated, copied from a paper, or carried over from another dataset.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CRITERION 4</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Compression — measured, not assumed</a:t>
            </a:r>
            <a:endParaRPr lang="en-US" sz="3200" dirty="0"/>
          </a:p>
        </p:txBody>
      </p:sp>
      <p:sp>
        <p:nvSpPr>
          <p:cNvPr id="4" name="Shape 2"/>
          <p:cNvSpPr/>
          <p:nvPr/>
        </p:nvSpPr>
        <p:spPr>
          <a:xfrm>
            <a:off x="9144000" y="329184"/>
            <a:ext cx="2514600" cy="384048"/>
          </a:xfrm>
          <a:prstGeom prst="roundRect">
            <a:avLst>
              <a:gd name="adj" fmla="val 50000"/>
            </a:avLst>
          </a:prstGeom>
          <a:solidFill>
            <a:srgbClr val="1E2761"/>
          </a:solidFill>
          <a:ln w="9525">
            <a:solidFill>
              <a:srgbClr val="1E2761"/>
            </a:solidFill>
            <a:prstDash val="solid"/>
          </a:ln>
        </p:spPr>
      </p:sp>
      <p:sp>
        <p:nvSpPr>
          <p:cNvPr id="5" name="Text 3"/>
          <p:cNvSpPr/>
          <p:nvPr/>
        </p:nvSpPr>
        <p:spPr>
          <a:xfrm>
            <a:off x="9144000" y="329184"/>
            <a:ext cx="2514600" cy="384048"/>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Criterion 4  ·  15 marks</a:t>
            </a:r>
            <a:endParaRPr lang="en-US" sz="1100" dirty="0"/>
          </a:p>
        </p:txBody>
      </p:sp>
      <p:sp>
        <p:nvSpPr>
          <p:cNvPr id="6" name="Shape 4"/>
          <p:cNvSpPr/>
          <p:nvPr/>
        </p:nvSpPr>
        <p:spPr>
          <a:xfrm>
            <a:off x="502920" y="1444752"/>
            <a:ext cx="3593592" cy="1975104"/>
          </a:xfrm>
          <a:prstGeom prst="roundRect">
            <a:avLst>
              <a:gd name="adj" fmla="val 4167"/>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7" name="Shape 5"/>
          <p:cNvSpPr/>
          <p:nvPr/>
        </p:nvSpPr>
        <p:spPr>
          <a:xfrm>
            <a:off x="704088" y="1627632"/>
            <a:ext cx="384048" cy="384048"/>
          </a:xfrm>
          <a:prstGeom prst="ellipse">
            <a:avLst/>
          </a:prstGeom>
          <a:solidFill>
            <a:srgbClr val="1E2761"/>
          </a:solidFill>
          <a:ln w="6350">
            <a:solidFill>
              <a:srgbClr val="1E2761"/>
            </a:solidFill>
            <a:prstDash val="solid"/>
          </a:ln>
        </p:spPr>
      </p:sp>
      <p:sp>
        <p:nvSpPr>
          <p:cNvPr id="8" name="Text 6"/>
          <p:cNvSpPr/>
          <p:nvPr/>
        </p:nvSpPr>
        <p:spPr>
          <a:xfrm>
            <a:off x="704088" y="16276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197864" y="1664208"/>
            <a:ext cx="2743200" cy="310896"/>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Two hash layers</a:t>
            </a:r>
            <a:endParaRPr lang="en-US" sz="1350" dirty="0"/>
          </a:p>
        </p:txBody>
      </p:sp>
      <p:sp>
        <p:nvSpPr>
          <p:cNvPr id="10" name="Text 8"/>
          <p:cNvSpPr/>
          <p:nvPr/>
        </p:nvSpPr>
        <p:spPr>
          <a:xfrm>
            <a:off x="722376" y="2103120"/>
            <a:ext cx="3182112" cy="1207008"/>
          </a:xfrm>
          <a:prstGeom prst="rect">
            <a:avLst/>
          </a:prstGeom>
          <a:noFill/>
          <a:ln/>
        </p:spPr>
        <p:txBody>
          <a:bodyPr wrap="square" lIns="0" tIns="0" rIns="0" bIns="0" rtlCol="0" anchor="t"/>
          <a:lstStyle/>
          <a:p>
            <a:pPr indent="0" marL="0">
              <a:lnSpc>
                <a:spcPts val="1400"/>
              </a:lnSpc>
              <a:buNone/>
            </a:pPr>
            <a:r>
              <a:rPr lang="en-US" sz="1100" dirty="0">
                <a:solidFill>
                  <a:srgbClr val="1B2030"/>
                </a:solidFill>
                <a:latin typeface="Calibri" pitchFamily="34" charset="0"/>
                <a:ea typeface="Calibri" pitchFamily="34" charset="-122"/>
                <a:cs typeface="Calibri" pitchFamily="34" charset="-120"/>
              </a:rPr>
              <a:t>SHA-256 dies on re-encoding, so perceptual hashes run alongside it. pHash + dHash + aHash, combined threshold 0.78, survive the transcode that breaks the digest.</a:t>
            </a:r>
            <a:endParaRPr lang="en-US" sz="1100" dirty="0"/>
          </a:p>
        </p:txBody>
      </p:sp>
      <p:sp>
        <p:nvSpPr>
          <p:cNvPr id="11" name="Shape 9"/>
          <p:cNvSpPr/>
          <p:nvPr/>
        </p:nvSpPr>
        <p:spPr>
          <a:xfrm>
            <a:off x="4279392" y="1444752"/>
            <a:ext cx="3593592" cy="1975104"/>
          </a:xfrm>
          <a:prstGeom prst="roundRect">
            <a:avLst>
              <a:gd name="adj" fmla="val 4167"/>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2" name="Shape 10"/>
          <p:cNvSpPr/>
          <p:nvPr/>
        </p:nvSpPr>
        <p:spPr>
          <a:xfrm>
            <a:off x="4480560" y="1627632"/>
            <a:ext cx="384048" cy="384048"/>
          </a:xfrm>
          <a:prstGeom prst="ellipse">
            <a:avLst/>
          </a:prstGeom>
          <a:solidFill>
            <a:srgbClr val="1E2761"/>
          </a:solidFill>
          <a:ln w="6350">
            <a:solidFill>
              <a:srgbClr val="1E2761"/>
            </a:solidFill>
            <a:prstDash val="solid"/>
          </a:ln>
        </p:spPr>
      </p:sp>
      <p:sp>
        <p:nvSpPr>
          <p:cNvPr id="13" name="Text 11"/>
          <p:cNvSpPr/>
          <p:nvPr/>
        </p:nvSpPr>
        <p:spPr>
          <a:xfrm>
            <a:off x="4480560" y="16276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4974336" y="1664208"/>
            <a:ext cx="2743200" cy="310896"/>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Compression is not evidence</a:t>
            </a:r>
            <a:endParaRPr lang="en-US" sz="1350" dirty="0"/>
          </a:p>
        </p:txBody>
      </p:sp>
      <p:sp>
        <p:nvSpPr>
          <p:cNvPr id="15" name="Text 13"/>
          <p:cNvSpPr/>
          <p:nvPr/>
        </p:nvSpPr>
        <p:spPr>
          <a:xfrm>
            <a:off x="4498848" y="2103120"/>
            <a:ext cx="3182112" cy="1207008"/>
          </a:xfrm>
          <a:prstGeom prst="rect">
            <a:avLst/>
          </a:prstGeom>
          <a:noFill/>
          <a:ln/>
        </p:spPr>
        <p:txBody>
          <a:bodyPr wrap="square" lIns="0" tIns="0" rIns="0" bIns="0" rtlCol="0" anchor="t"/>
          <a:lstStyle/>
          <a:p>
            <a:pPr indent="0" marL="0">
              <a:lnSpc>
                <a:spcPts val="1400"/>
              </a:lnSpc>
              <a:buNone/>
            </a:pPr>
            <a:r>
              <a:rPr lang="en-US" sz="1100" dirty="0">
                <a:solidFill>
                  <a:srgbClr val="1B2030"/>
                </a:solidFill>
                <a:latin typeface="Calibri" pitchFamily="34" charset="0"/>
                <a:ea typeface="Calibri" pitchFamily="34" charset="-122"/>
                <a:cs typeface="Calibri" pitchFamily="34" charset="-120"/>
              </a:rPr>
              <a:t>Re-encoding artefacts look like editing artefacts. Five modules explicitly say so in their own output rather than cashing it in as suspicion.</a:t>
            </a:r>
            <a:endParaRPr lang="en-US" sz="1100" dirty="0"/>
          </a:p>
        </p:txBody>
      </p:sp>
      <p:sp>
        <p:nvSpPr>
          <p:cNvPr id="16" name="Shape 14"/>
          <p:cNvSpPr/>
          <p:nvPr/>
        </p:nvSpPr>
        <p:spPr>
          <a:xfrm>
            <a:off x="8055864" y="1444752"/>
            <a:ext cx="3593592" cy="1975104"/>
          </a:xfrm>
          <a:prstGeom prst="roundRect">
            <a:avLst>
              <a:gd name="adj" fmla="val 4167"/>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7" name="Shape 15"/>
          <p:cNvSpPr/>
          <p:nvPr/>
        </p:nvSpPr>
        <p:spPr>
          <a:xfrm>
            <a:off x="8257032" y="1627632"/>
            <a:ext cx="384048" cy="384048"/>
          </a:xfrm>
          <a:prstGeom prst="ellipse">
            <a:avLst/>
          </a:prstGeom>
          <a:solidFill>
            <a:srgbClr val="1E2761"/>
          </a:solidFill>
          <a:ln w="6350">
            <a:solidFill>
              <a:srgbClr val="1E2761"/>
            </a:solidFill>
            <a:prstDash val="solid"/>
          </a:ln>
        </p:spPr>
      </p:sp>
      <p:sp>
        <p:nvSpPr>
          <p:cNvPr id="18" name="Text 16"/>
          <p:cNvSpPr/>
          <p:nvPr/>
        </p:nvSpPr>
        <p:spPr>
          <a:xfrm>
            <a:off x="8257032" y="16276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750808" y="1664208"/>
            <a:ext cx="2743200" cy="310896"/>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Then we measured it</a:t>
            </a:r>
            <a:endParaRPr lang="en-US" sz="1350" dirty="0"/>
          </a:p>
        </p:txBody>
      </p:sp>
      <p:sp>
        <p:nvSpPr>
          <p:cNvPr id="20" name="Text 18"/>
          <p:cNvSpPr/>
          <p:nvPr/>
        </p:nvSpPr>
        <p:spPr>
          <a:xfrm>
            <a:off x="8275320" y="2103120"/>
            <a:ext cx="3182112" cy="1207008"/>
          </a:xfrm>
          <a:prstGeom prst="rect">
            <a:avLst/>
          </a:prstGeom>
          <a:noFill/>
          <a:ln/>
        </p:spPr>
        <p:txBody>
          <a:bodyPr wrap="square" lIns="0" tIns="0" rIns="0" bIns="0" rtlCol="0" anchor="t"/>
          <a:lstStyle/>
          <a:p>
            <a:pPr indent="0" marL="0">
              <a:lnSpc>
                <a:spcPts val="1400"/>
              </a:lnSpc>
              <a:buNone/>
            </a:pPr>
            <a:r>
              <a:rPr lang="en-US" sz="1100" dirty="0">
                <a:solidFill>
                  <a:srgbClr val="1B2030"/>
                </a:solidFill>
                <a:latin typeface="Calibri" pitchFamily="34" charset="0"/>
                <a:ea typeface="Calibri" pitchFamily="34" charset="-122"/>
                <a:cs typeface="Calibri" pitchFamily="34" charset="-120"/>
              </a:rPr>
              <a:t>16 real ffmpeg transforms in 4 families: compression, resolution, re-upload, screen capture — plus chains, because forwarded evidence has been through several.</a:t>
            </a:r>
            <a:endParaRPr lang="en-US" sz="1100" dirty="0"/>
          </a:p>
        </p:txBody>
      </p:sp>
      <p:graphicFrame>
        <p:nvGraphicFramePr>
          <p:cNvPr id="21" name="Chart 0" descr=""/>
          <p:cNvGraphicFramePr/>
          <p:nvPr/>
        </p:nvGraphicFramePr>
        <p:xfrm>
          <a:off x="502920" y="3584448"/>
          <a:ext cx="6903720" cy="2212848"/>
        </p:xfrm>
        <a:graphic xmlns:a="http://schemas.openxmlformats.org/drawingml/2006/main">
          <a:graphicData uri="http://schemas.openxmlformats.org/drawingml/2006/chart">
            <c:chart xmlns:c="http://schemas.openxmlformats.org/drawingml/2006/chart" r:id="rId1"/>
          </a:graphicData>
        </a:graphic>
      </p:graphicFrame>
      <p:sp>
        <p:nvSpPr>
          <p:cNvPr id="22" name="Shape 19"/>
          <p:cNvSpPr/>
          <p:nvPr/>
        </p:nvSpPr>
        <p:spPr>
          <a:xfrm>
            <a:off x="7680960" y="3584448"/>
            <a:ext cx="3977640" cy="2212848"/>
          </a:xfrm>
          <a:prstGeom prst="roundRect">
            <a:avLst>
              <a:gd name="adj" fmla="val 3719"/>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23" name="Text 20"/>
          <p:cNvSpPr/>
          <p:nvPr/>
        </p:nvSpPr>
        <p:spPr>
          <a:xfrm>
            <a:off x="7909560" y="3730752"/>
            <a:ext cx="3566160" cy="274320"/>
          </a:xfrm>
          <a:prstGeom prst="rect">
            <a:avLst/>
          </a:prstGeom>
          <a:noFill/>
          <a:ln/>
        </p:spPr>
        <p:txBody>
          <a:bodyPr wrap="square" lIns="0" tIns="0" rIns="0" bIns="0" rtlCol="0" anchor="ctr"/>
          <a:lstStyle/>
          <a:p>
            <a:pPr indent="0" marL="0">
              <a:buNone/>
            </a:pPr>
            <a:r>
              <a:rPr lang="en-US" sz="1250" b="1" dirty="0">
                <a:solidFill>
                  <a:srgbClr val="B06A00"/>
                </a:solidFill>
                <a:latin typeface="Calibri" pitchFamily="34" charset="0"/>
                <a:ea typeface="Calibri" pitchFamily="34" charset="-122"/>
                <a:cs typeface="Calibri" pitchFamily="34" charset="-120"/>
              </a:rPr>
              <a:t>The finding worth saying out loud</a:t>
            </a:r>
            <a:endParaRPr lang="en-US" sz="1250" dirty="0"/>
          </a:p>
        </p:txBody>
      </p:sp>
      <p:sp>
        <p:nvSpPr>
          <p:cNvPr id="24" name="Text 21"/>
          <p:cNvSpPr/>
          <p:nvPr/>
        </p:nvSpPr>
        <p:spPr>
          <a:xfrm>
            <a:off x="7909560" y="4041648"/>
            <a:ext cx="3566160" cy="1645920"/>
          </a:xfrm>
          <a:prstGeom prst="rect">
            <a:avLst/>
          </a:prstGeom>
          <a:noFill/>
          <a:ln/>
        </p:spPr>
        <p:txBody>
          <a:bodyPr wrap="square" lIns="0" tIns="0" rIns="0" bIns="0" rtlCol="0" anchor="t"/>
          <a:lstStyle/>
          <a:p>
            <a:pPr indent="0" marL="0">
              <a:lnSpc>
                <a:spcPts val="1350"/>
              </a:lnSpc>
              <a:buNone/>
            </a:pPr>
            <a:r>
              <a:rPr lang="en-US" sz="1050" dirty="0">
                <a:solidFill>
                  <a:srgbClr val="1B2030"/>
                </a:solidFill>
                <a:latin typeface="Calibri" pitchFamily="34" charset="0"/>
                <a:ea typeface="Calibri" pitchFamily="34" charset="-122"/>
                <a:cs typeface="Calibri" pitchFamily="34" charset="-120"/>
              </a:rPr>
              <a:t>Four of five image transforms RAISE the manipulation score. Compression makes authentic media look more manipulated — it is false-positive pressure, not noise. Our harness names the direction instead of hiding it behind an absolute delta.</a:t>
            </a:r>
            <a:endParaRPr lang="en-US" sz="1050" dirty="0"/>
          </a:p>
          <a:p>
            <a:pPr indent="0" marL="0">
              <a:lnSpc>
                <a:spcPts val="1350"/>
              </a:lnSpc>
              <a:buNone/>
            </a:pPr>
            <a:endParaRPr lang="en-US" sz="1050" dirty="0"/>
          </a:p>
          <a:p>
            <a:pPr indent="0" marL="0">
              <a:lnSpc>
                <a:spcPts val="1350"/>
              </a:lnSpc>
              <a:buNone/>
            </a:pPr>
            <a:r>
              <a:rPr lang="en-US" sz="1050" dirty="0">
                <a:solidFill>
                  <a:srgbClr val="1B2030"/>
                </a:solidFill>
                <a:latin typeface="Calibri" pitchFamily="34" charset="0"/>
                <a:ea typeface="Calibri" pitchFamily="34" charset="-122"/>
                <a:cs typeface="Calibri" pitchFamily="34" charset="-120"/>
              </a:rPr>
              <a:t>Audio stability is 0.375 on 8 pairs. We publish that as a known gap: the editing indicator uses a per-minute discontinuity rate, so clips under 10 s saturate it.</a:t>
            </a:r>
            <a:endParaRPr lang="en-US" sz="1050" dirty="0"/>
          </a:p>
        </p:txBody>
      </p:sp>
      <p:sp>
        <p:nvSpPr>
          <p:cNvPr id="25" name="Text 22"/>
          <p:cNvSpPr/>
          <p:nvPr/>
        </p:nvSpPr>
        <p:spPr>
          <a:xfrm>
            <a:off x="502920" y="5943600"/>
            <a:ext cx="11155680" cy="457200"/>
          </a:xfrm>
          <a:prstGeom prst="rect">
            <a:avLst/>
          </a:prstGeom>
          <a:noFill/>
          <a:ln/>
        </p:spPr>
        <p:txBody>
          <a:bodyPr wrap="square" lIns="0" tIns="0" rIns="0" bIns="0" rtlCol="0" anchor="ctr"/>
          <a:lstStyle/>
          <a:p>
            <a:pPr indent="0" marL="0">
              <a:buNone/>
            </a:pPr>
            <a:r>
              <a:rPr lang="en-US" sz="1250" i="1" dirty="0">
                <a:solidFill>
                  <a:srgbClr val="5A6272"/>
                </a:solidFill>
                <a:latin typeface="Calibri" pitchFamily="34" charset="0"/>
                <a:ea typeface="Calibri" pitchFamily="34" charset="-122"/>
                <a:cs typeface="Calibri" pitchFamily="34" charset="-120"/>
              </a:rPr>
              <a:t>This is why identity carries the argument: perceptual hashes and face embeddings survive re-encoding — artefact detection is exactly what compression attacks.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CRITERION 4</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Evidence integrity, not just a score</a:t>
            </a:r>
            <a:endParaRPr lang="en-US" sz="3200" dirty="0"/>
          </a:p>
        </p:txBody>
      </p:sp>
      <p:sp>
        <p:nvSpPr>
          <p:cNvPr id="4" name="Shape 2"/>
          <p:cNvSpPr/>
          <p:nvPr/>
        </p:nvSpPr>
        <p:spPr>
          <a:xfrm>
            <a:off x="9144000" y="329184"/>
            <a:ext cx="2514600" cy="384048"/>
          </a:xfrm>
          <a:prstGeom prst="roundRect">
            <a:avLst>
              <a:gd name="adj" fmla="val 50000"/>
            </a:avLst>
          </a:prstGeom>
          <a:solidFill>
            <a:srgbClr val="1E2761"/>
          </a:solidFill>
          <a:ln w="9525">
            <a:solidFill>
              <a:srgbClr val="1E2761"/>
            </a:solidFill>
            <a:prstDash val="solid"/>
          </a:ln>
        </p:spPr>
      </p:sp>
      <p:sp>
        <p:nvSpPr>
          <p:cNvPr id="5" name="Text 3"/>
          <p:cNvSpPr/>
          <p:nvPr/>
        </p:nvSpPr>
        <p:spPr>
          <a:xfrm>
            <a:off x="9144000" y="329184"/>
            <a:ext cx="2514600" cy="384048"/>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Criterion 4  ·  15 marks</a:t>
            </a:r>
            <a:endParaRPr lang="en-US" sz="1100" dirty="0"/>
          </a:p>
        </p:txBody>
      </p:sp>
      <p:sp>
        <p:nvSpPr>
          <p:cNvPr id="6" name="Shape 4"/>
          <p:cNvSpPr/>
          <p:nvPr/>
        </p:nvSpPr>
        <p:spPr>
          <a:xfrm>
            <a:off x="502920" y="1463040"/>
            <a:ext cx="7223760" cy="786384"/>
          </a:xfrm>
          <a:prstGeom prst="roundRect">
            <a:avLst>
              <a:gd name="adj" fmla="val 10465"/>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7" name="Shape 5"/>
          <p:cNvSpPr/>
          <p:nvPr/>
        </p:nvSpPr>
        <p:spPr>
          <a:xfrm>
            <a:off x="685800" y="1655064"/>
            <a:ext cx="402336" cy="402336"/>
          </a:xfrm>
          <a:prstGeom prst="ellipse">
            <a:avLst/>
          </a:prstGeom>
          <a:solidFill>
            <a:srgbClr val="1E2761"/>
          </a:solidFill>
          <a:ln w="6350">
            <a:solidFill>
              <a:srgbClr val="1E2761"/>
            </a:solidFill>
            <a:prstDash val="solid"/>
          </a:ln>
        </p:spPr>
      </p:sp>
      <p:sp>
        <p:nvSpPr>
          <p:cNvPr id="8" name="Text 6"/>
          <p:cNvSpPr/>
          <p:nvPr/>
        </p:nvSpPr>
        <p:spPr>
          <a:xfrm>
            <a:off x="685800" y="165506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34440" y="1554480"/>
            <a:ext cx="630936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Hashes computed server-side</a:t>
            </a:r>
            <a:endParaRPr lang="en-US" sz="1350" dirty="0"/>
          </a:p>
        </p:txBody>
      </p:sp>
      <p:sp>
        <p:nvSpPr>
          <p:cNvPr id="10" name="Text 8"/>
          <p:cNvSpPr/>
          <p:nvPr/>
        </p:nvSpPr>
        <p:spPr>
          <a:xfrm>
            <a:off x="1234440" y="1847088"/>
            <a:ext cx="6309360" cy="329184"/>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A client-supplied digest is never trusted. SHA-256 is calculated on the bytes as received.</a:t>
            </a:r>
            <a:endParaRPr lang="en-US" sz="1150" dirty="0"/>
          </a:p>
        </p:txBody>
      </p:sp>
      <p:sp>
        <p:nvSpPr>
          <p:cNvPr id="11" name="Shape 9"/>
          <p:cNvSpPr/>
          <p:nvPr/>
        </p:nvSpPr>
        <p:spPr>
          <a:xfrm>
            <a:off x="502920" y="2359152"/>
            <a:ext cx="7223760" cy="786384"/>
          </a:xfrm>
          <a:prstGeom prst="roundRect">
            <a:avLst>
              <a:gd name="adj" fmla="val 10465"/>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2" name="Shape 10"/>
          <p:cNvSpPr/>
          <p:nvPr/>
        </p:nvSpPr>
        <p:spPr>
          <a:xfrm>
            <a:off x="685800" y="2551176"/>
            <a:ext cx="402336" cy="402336"/>
          </a:xfrm>
          <a:prstGeom prst="ellipse">
            <a:avLst/>
          </a:prstGeom>
          <a:solidFill>
            <a:srgbClr val="1E2761"/>
          </a:solidFill>
          <a:ln w="6350">
            <a:solidFill>
              <a:srgbClr val="1E2761"/>
            </a:solidFill>
            <a:prstDash val="solid"/>
          </a:ln>
        </p:spPr>
      </p:sp>
      <p:sp>
        <p:nvSpPr>
          <p:cNvPr id="13" name="Text 11"/>
          <p:cNvSpPr/>
          <p:nvPr/>
        </p:nvSpPr>
        <p:spPr>
          <a:xfrm>
            <a:off x="685800" y="255117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234440" y="2450592"/>
            <a:ext cx="630936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Chain of custody, timestamped</a:t>
            </a:r>
            <a:endParaRPr lang="en-US" sz="1350" dirty="0"/>
          </a:p>
        </p:txBody>
      </p:sp>
      <p:sp>
        <p:nvSpPr>
          <p:cNvPr id="15" name="Text 13"/>
          <p:cNvSpPr/>
          <p:nvPr/>
        </p:nvSpPr>
        <p:spPr>
          <a:xfrm>
            <a:off x="1234440" y="2743200"/>
            <a:ext cx="6309360" cy="329184"/>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Every stage writes a timeline event: who submitted, what ran, when, and what it produced.</a:t>
            </a:r>
            <a:endParaRPr lang="en-US" sz="1150" dirty="0"/>
          </a:p>
        </p:txBody>
      </p:sp>
      <p:sp>
        <p:nvSpPr>
          <p:cNvPr id="16" name="Shape 14"/>
          <p:cNvSpPr/>
          <p:nvPr/>
        </p:nvSpPr>
        <p:spPr>
          <a:xfrm>
            <a:off x="502920" y="3255264"/>
            <a:ext cx="7223760" cy="786384"/>
          </a:xfrm>
          <a:prstGeom prst="roundRect">
            <a:avLst>
              <a:gd name="adj" fmla="val 10465"/>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7" name="Shape 15"/>
          <p:cNvSpPr/>
          <p:nvPr/>
        </p:nvSpPr>
        <p:spPr>
          <a:xfrm>
            <a:off x="685800" y="3447288"/>
            <a:ext cx="402336" cy="402336"/>
          </a:xfrm>
          <a:prstGeom prst="ellipse">
            <a:avLst/>
          </a:prstGeom>
          <a:solidFill>
            <a:srgbClr val="1E2761"/>
          </a:solidFill>
          <a:ln w="6350">
            <a:solidFill>
              <a:srgbClr val="1E2761"/>
            </a:solidFill>
            <a:prstDash val="solid"/>
          </a:ln>
        </p:spPr>
      </p:sp>
      <p:sp>
        <p:nvSpPr>
          <p:cNvPr id="18" name="Text 16"/>
          <p:cNvSpPr/>
          <p:nvPr/>
        </p:nvSpPr>
        <p:spPr>
          <a:xfrm>
            <a:off x="685800" y="344728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234440" y="3346704"/>
            <a:ext cx="630936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Integrity re-verification on demand</a:t>
            </a:r>
            <a:endParaRPr lang="en-US" sz="1350" dirty="0"/>
          </a:p>
        </p:txBody>
      </p:sp>
      <p:sp>
        <p:nvSpPr>
          <p:cNvPr id="20" name="Text 18"/>
          <p:cNvSpPr/>
          <p:nvPr/>
        </p:nvSpPr>
        <p:spPr>
          <a:xfrm>
            <a:off x="1234440" y="3639312"/>
            <a:ext cx="6309360" cy="329184"/>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A dedicated endpoint recomputes the hash and reports verified, mismatch or file missing.</a:t>
            </a:r>
            <a:endParaRPr lang="en-US" sz="1150" dirty="0"/>
          </a:p>
        </p:txBody>
      </p:sp>
      <p:sp>
        <p:nvSpPr>
          <p:cNvPr id="21" name="Shape 19"/>
          <p:cNvSpPr/>
          <p:nvPr/>
        </p:nvSpPr>
        <p:spPr>
          <a:xfrm>
            <a:off x="502920" y="4151376"/>
            <a:ext cx="7223760" cy="786384"/>
          </a:xfrm>
          <a:prstGeom prst="roundRect">
            <a:avLst>
              <a:gd name="adj" fmla="val 10465"/>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22" name="Shape 20"/>
          <p:cNvSpPr/>
          <p:nvPr/>
        </p:nvSpPr>
        <p:spPr>
          <a:xfrm>
            <a:off x="685800" y="4343400"/>
            <a:ext cx="402336" cy="402336"/>
          </a:xfrm>
          <a:prstGeom prst="ellipse">
            <a:avLst/>
          </a:prstGeom>
          <a:solidFill>
            <a:srgbClr val="1E2761"/>
          </a:solidFill>
          <a:ln w="6350">
            <a:solidFill>
              <a:srgbClr val="1E2761"/>
            </a:solidFill>
            <a:prstDash val="solid"/>
          </a:ln>
        </p:spPr>
      </p:sp>
      <p:sp>
        <p:nvSpPr>
          <p:cNvPr id="23" name="Text 21"/>
          <p:cNvSpPr/>
          <p:nvPr/>
        </p:nvSpPr>
        <p:spPr>
          <a:xfrm>
            <a:off x="685800" y="434340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p:nvPr/>
        </p:nvSpPr>
        <p:spPr>
          <a:xfrm>
            <a:off x="1234440" y="4242816"/>
            <a:ext cx="630936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Consent recorded before analysis</a:t>
            </a:r>
            <a:endParaRPr lang="en-US" sz="1350" dirty="0"/>
          </a:p>
        </p:txBody>
      </p:sp>
      <p:sp>
        <p:nvSpPr>
          <p:cNvPr id="25" name="Text 23"/>
          <p:cNvSpPr/>
          <p:nvPr/>
        </p:nvSpPr>
        <p:spPr>
          <a:xfrm>
            <a:off x="1234440" y="4535424"/>
            <a:ext cx="6309360" cy="329184"/>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The reference identity is enrolled with consent text and a submitter record on file.</a:t>
            </a:r>
            <a:endParaRPr lang="en-US" sz="1150" dirty="0"/>
          </a:p>
        </p:txBody>
      </p:sp>
      <p:sp>
        <p:nvSpPr>
          <p:cNvPr id="26" name="Shape 24"/>
          <p:cNvSpPr/>
          <p:nvPr/>
        </p:nvSpPr>
        <p:spPr>
          <a:xfrm>
            <a:off x="502920" y="5047488"/>
            <a:ext cx="7223760" cy="786384"/>
          </a:xfrm>
          <a:prstGeom prst="roundRect">
            <a:avLst>
              <a:gd name="adj" fmla="val 10465"/>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27" name="Shape 25"/>
          <p:cNvSpPr/>
          <p:nvPr/>
        </p:nvSpPr>
        <p:spPr>
          <a:xfrm>
            <a:off x="685800" y="5239512"/>
            <a:ext cx="402336" cy="402336"/>
          </a:xfrm>
          <a:prstGeom prst="ellipse">
            <a:avLst/>
          </a:prstGeom>
          <a:solidFill>
            <a:srgbClr val="1E2761"/>
          </a:solidFill>
          <a:ln w="6350">
            <a:solidFill>
              <a:srgbClr val="1E2761"/>
            </a:solidFill>
            <a:prstDash val="solid"/>
          </a:ln>
        </p:spPr>
      </p:sp>
      <p:sp>
        <p:nvSpPr>
          <p:cNvPr id="28" name="Text 26"/>
          <p:cNvSpPr/>
          <p:nvPr/>
        </p:nvSpPr>
        <p:spPr>
          <a:xfrm>
            <a:off x="685800" y="523951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9" name="Text 27"/>
          <p:cNvSpPr/>
          <p:nvPr/>
        </p:nvSpPr>
        <p:spPr>
          <a:xfrm>
            <a:off x="1234440" y="5138928"/>
            <a:ext cx="630936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23-section forensic report</a:t>
            </a:r>
            <a:endParaRPr lang="en-US" sz="1350" dirty="0"/>
          </a:p>
        </p:txBody>
      </p:sp>
      <p:sp>
        <p:nvSpPr>
          <p:cNvPr id="30" name="Text 28"/>
          <p:cNvSpPr/>
          <p:nvPr/>
        </p:nvSpPr>
        <p:spPr>
          <a:xfrm>
            <a:off x="1234440" y="5431536"/>
            <a:ext cx="6309360" cy="329184"/>
          </a:xfrm>
          <a:prstGeom prst="rect">
            <a:avLst/>
          </a:prstGeom>
          <a:noFill/>
          <a:ln/>
        </p:spPr>
        <p:txBody>
          <a:bodyPr wrap="square" lIns="0" tIns="0" rIns="0" bIns="0" rtlCol="0" anchor="ctr"/>
          <a:lstStyle/>
          <a:p>
            <a:pPr indent="0" marL="0">
              <a:buNone/>
            </a:pPr>
            <a:r>
              <a:rPr lang="en-US" sz="1150" dirty="0">
                <a:solidFill>
                  <a:srgbClr val="5A6272"/>
                </a:solidFill>
                <a:latin typeface="Calibri" pitchFamily="34" charset="0"/>
                <a:ea typeface="Calibri" pitchFamily="34" charset="-122"/>
                <a:cs typeface="Calibri" pitchFamily="34" charset="-120"/>
              </a:rPr>
              <a:t>Full digests, per-module method and limitations, the measured figures, in an officer's reading order.</a:t>
            </a:r>
            <a:endParaRPr lang="en-US" sz="1150" dirty="0"/>
          </a:p>
        </p:txBody>
      </p:sp>
      <p:sp>
        <p:nvSpPr>
          <p:cNvPr id="31" name="Shape 29"/>
          <p:cNvSpPr/>
          <p:nvPr/>
        </p:nvSpPr>
        <p:spPr>
          <a:xfrm>
            <a:off x="8001000" y="1463040"/>
            <a:ext cx="3657600" cy="3986784"/>
          </a:xfrm>
          <a:prstGeom prst="roundRect">
            <a:avLst>
              <a:gd name="adj" fmla="val 2250"/>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32" name="Text 30"/>
          <p:cNvSpPr/>
          <p:nvPr/>
        </p:nvSpPr>
        <p:spPr>
          <a:xfrm>
            <a:off x="8238744" y="1645920"/>
            <a:ext cx="3200400" cy="274320"/>
          </a:xfrm>
          <a:prstGeom prst="rect">
            <a:avLst/>
          </a:prstGeom>
          <a:noFill/>
          <a:ln/>
        </p:spPr>
        <p:txBody>
          <a:bodyPr wrap="square" lIns="0" tIns="0" rIns="0" bIns="0" rtlCol="0" anchor="ctr"/>
          <a:lstStyle/>
          <a:p>
            <a:pPr indent="0" marL="0">
              <a:buNone/>
            </a:pPr>
            <a:r>
              <a:rPr lang="en-US" sz="1350" b="1" dirty="0">
                <a:solidFill>
                  <a:srgbClr val="B06A00"/>
                </a:solidFill>
                <a:latin typeface="Calibri" pitchFamily="34" charset="0"/>
                <a:ea typeface="Calibri" pitchFamily="34" charset="-122"/>
                <a:cs typeface="Calibri" pitchFamily="34" charset="-120"/>
              </a:rPr>
              <a:t>What we do NOT claim</a:t>
            </a:r>
            <a:endParaRPr lang="en-US" sz="1350" dirty="0"/>
          </a:p>
        </p:txBody>
      </p:sp>
      <p:sp>
        <p:nvSpPr>
          <p:cNvPr id="33" name="Text 31"/>
          <p:cNvSpPr/>
          <p:nvPr/>
        </p:nvSpPr>
        <p:spPr>
          <a:xfrm>
            <a:off x="8238744" y="2011680"/>
            <a:ext cx="3200400" cy="329184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150" dirty="0">
                <a:solidFill>
                  <a:srgbClr val="1B2030"/>
                </a:solidFill>
                <a:latin typeface="Calibri" pitchFamily="34" charset="0"/>
                <a:ea typeface="Calibri" pitchFamily="34" charset="-122"/>
                <a:cs typeface="Calibri" pitchFamily="34" charset="-120"/>
              </a:rPr>
              <a:t>Not third-party timestamping or notarisation.</a:t>
            </a:r>
            <a:endParaRPr lang="en-US" sz="1150" dirty="0"/>
          </a:p>
          <a:p>
            <a:pPr marL="342900" indent="-342900">
              <a:lnSpc>
                <a:spcPts val="1900"/>
              </a:lnSpc>
              <a:spcAft>
                <a:spcPts val="700"/>
              </a:spcAft>
              <a:buSzPct val="100000"/>
              <a:buChar char="•"/>
            </a:pPr>
            <a:r>
              <a:rPr lang="en-US" sz="1150" dirty="0">
                <a:solidFill>
                  <a:srgbClr val="1B2030"/>
                </a:solidFill>
                <a:latin typeface="Calibri" pitchFamily="34" charset="0"/>
                <a:ea typeface="Calibri" pitchFamily="34" charset="-122"/>
                <a:cs typeface="Calibri" pitchFamily="34" charset="-120"/>
              </a:rPr>
              <a:t>Does not by itself establish legal admissibility.</a:t>
            </a:r>
            <a:endParaRPr lang="en-US" sz="1150" dirty="0"/>
          </a:p>
          <a:p>
            <a:pPr marL="342900" indent="-342900">
              <a:lnSpc>
                <a:spcPts val="1900"/>
              </a:lnSpc>
              <a:spcAft>
                <a:spcPts val="700"/>
              </a:spcAft>
              <a:buSzPct val="100000"/>
              <a:buChar char="•"/>
            </a:pPr>
            <a:r>
              <a:rPr lang="en-US" sz="1150" dirty="0">
                <a:solidFill>
                  <a:srgbClr val="1B2030"/>
                </a:solidFill>
                <a:latin typeface="Calibri" pitchFamily="34" charset="0"/>
                <a:ea typeface="Calibri" pitchFamily="34" charset="-122"/>
                <a:cs typeface="Calibri" pitchFamily="34" charset="-120"/>
              </a:rPr>
              <a:t>Does not identify who created or uploaded the media.</a:t>
            </a:r>
            <a:endParaRPr lang="en-US" sz="1150" dirty="0"/>
          </a:p>
          <a:p>
            <a:pPr marL="342900" indent="-342900">
              <a:lnSpc>
                <a:spcPts val="1900"/>
              </a:lnSpc>
              <a:spcAft>
                <a:spcPts val="700"/>
              </a:spcAft>
              <a:buSzPct val="100000"/>
              <a:buChar char="•"/>
            </a:pPr>
            <a:r>
              <a:rPr lang="en-US" sz="1150" dirty="0">
                <a:solidFill>
                  <a:srgbClr val="1B2030"/>
                </a:solidFill>
                <a:latin typeface="Calibri" pitchFamily="34" charset="0"/>
                <a:ea typeface="Calibri" pitchFamily="34" charset="-122"/>
                <a:cs typeface="Calibri" pitchFamily="34" charset="-120"/>
              </a:rPr>
              <a:t>Not internet-wide search — one reverse-image index, named.</a:t>
            </a:r>
            <a:endParaRPr lang="en-US" sz="1150" dirty="0"/>
          </a:p>
          <a:p>
            <a:pPr marL="342900" indent="-342900">
              <a:lnSpc>
                <a:spcPts val="1900"/>
              </a:lnSpc>
              <a:spcAft>
                <a:spcPts val="700"/>
              </a:spcAft>
              <a:buSzPct val="100000"/>
              <a:buChar char="•"/>
            </a:pPr>
            <a:r>
              <a:rPr lang="en-US" sz="1150" dirty="0">
                <a:solidFill>
                  <a:srgbClr val="1B2030"/>
                </a:solidFill>
                <a:latin typeface="Calibri" pitchFamily="34" charset="0"/>
                <a:ea typeface="Calibri" pitchFamily="34" charset="-122"/>
                <a:cs typeface="Calibri" pitchFamily="34" charset="-120"/>
              </a:rPr>
              <a:t>Not 100% detection. Model outputs are indicators for expert review.</a:t>
            </a:r>
            <a:endParaRPr lang="en-US" sz="1150" dirty="0"/>
          </a:p>
        </p:txBody>
      </p:sp>
      <p:sp>
        <p:nvSpPr>
          <p:cNvPr id="34" name="Text 32"/>
          <p:cNvSpPr/>
          <p:nvPr/>
        </p:nvSpPr>
        <p:spPr>
          <a:xfrm>
            <a:off x="502920" y="5943600"/>
            <a:ext cx="11155680" cy="457200"/>
          </a:xfrm>
          <a:prstGeom prst="rect">
            <a:avLst/>
          </a:prstGeom>
          <a:noFill/>
          <a:ln/>
        </p:spPr>
        <p:txBody>
          <a:bodyPr wrap="square" lIns="0" tIns="0" rIns="0" bIns="0" rtlCol="0" anchor="ctr"/>
          <a:lstStyle/>
          <a:p>
            <a:pPr indent="0" marL="0">
              <a:buNone/>
            </a:pPr>
            <a:r>
              <a:rPr lang="en-US" sz="1250" i="1" dirty="0">
                <a:solidFill>
                  <a:srgbClr val="5A6272"/>
                </a:solidFill>
                <a:latin typeface="Calibri" pitchFamily="34" charset="0"/>
                <a:ea typeface="Calibri" pitchFamily="34" charset="-122"/>
                <a:cs typeface="Calibri" pitchFamily="34" charset="-120"/>
              </a:rPr>
              <a:t>Hash-based preservation demonstrates the integrity of this local evidence store. Saying precisely that — and no more — is what makes the rest of the report credible.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CRITERION 5</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What is genuinely different</a:t>
            </a:r>
            <a:endParaRPr lang="en-US" sz="3200" dirty="0"/>
          </a:p>
        </p:txBody>
      </p:sp>
      <p:sp>
        <p:nvSpPr>
          <p:cNvPr id="4" name="Shape 2"/>
          <p:cNvSpPr/>
          <p:nvPr/>
        </p:nvSpPr>
        <p:spPr>
          <a:xfrm>
            <a:off x="9144000" y="329184"/>
            <a:ext cx="2514600" cy="384048"/>
          </a:xfrm>
          <a:prstGeom prst="roundRect">
            <a:avLst>
              <a:gd name="adj" fmla="val 50000"/>
            </a:avLst>
          </a:prstGeom>
          <a:solidFill>
            <a:srgbClr val="1E2761"/>
          </a:solidFill>
          <a:ln w="9525">
            <a:solidFill>
              <a:srgbClr val="1E2761"/>
            </a:solidFill>
            <a:prstDash val="solid"/>
          </a:ln>
        </p:spPr>
      </p:sp>
      <p:sp>
        <p:nvSpPr>
          <p:cNvPr id="5" name="Text 3"/>
          <p:cNvSpPr/>
          <p:nvPr/>
        </p:nvSpPr>
        <p:spPr>
          <a:xfrm>
            <a:off x="9144000" y="329184"/>
            <a:ext cx="2514600" cy="384048"/>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Criterion 5  ·  10 marks</a:t>
            </a:r>
            <a:endParaRPr lang="en-US" sz="1100" dirty="0"/>
          </a:p>
        </p:txBody>
      </p:sp>
      <p:sp>
        <p:nvSpPr>
          <p:cNvPr id="6" name="Text 4"/>
          <p:cNvSpPr/>
          <p:nvPr/>
        </p:nvSpPr>
        <p:spPr>
          <a:xfrm>
            <a:off x="777240" y="1463040"/>
            <a:ext cx="5120640" cy="292608"/>
          </a:xfrm>
          <a:prstGeom prst="rect">
            <a:avLst/>
          </a:prstGeom>
          <a:noFill/>
          <a:ln/>
        </p:spPr>
        <p:txBody>
          <a:bodyPr wrap="square" lIns="0" tIns="0" rIns="0" bIns="0" rtlCol="0" anchor="ctr"/>
          <a:lstStyle/>
          <a:p>
            <a:pPr indent="0" marL="0">
              <a:buNone/>
            </a:pPr>
            <a:r>
              <a:rPr lang="en-US" sz="1400" b="1" dirty="0">
                <a:solidFill>
                  <a:srgbClr val="B06A00"/>
                </a:solidFill>
                <a:latin typeface="Calibri" pitchFamily="34" charset="0"/>
                <a:ea typeface="Calibri" pitchFamily="34" charset="-122"/>
                <a:cs typeface="Calibri" pitchFamily="34" charset="-120"/>
              </a:rPr>
              <a:t>Typical deepfake tool</a:t>
            </a:r>
            <a:endParaRPr lang="en-US" sz="1400" dirty="0"/>
          </a:p>
        </p:txBody>
      </p:sp>
      <p:sp>
        <p:nvSpPr>
          <p:cNvPr id="7" name="Text 5"/>
          <p:cNvSpPr/>
          <p:nvPr/>
        </p:nvSpPr>
        <p:spPr>
          <a:xfrm>
            <a:off x="6492240" y="1463040"/>
            <a:ext cx="5120640" cy="292608"/>
          </a:xfrm>
          <a:prstGeom prst="rect">
            <a:avLst/>
          </a:prstGeom>
          <a:noFill/>
          <a:ln/>
        </p:spPr>
        <p:txBody>
          <a:bodyPr wrap="square" lIns="0" tIns="0" rIns="0" bIns="0" rtlCol="0" anchor="ctr"/>
          <a:lstStyle/>
          <a:p>
            <a:pPr indent="0" marL="0">
              <a:buNone/>
            </a:pPr>
            <a:r>
              <a:rPr lang="en-US" sz="1400" b="1" dirty="0">
                <a:solidFill>
                  <a:srgbClr val="1F6B4D"/>
                </a:solidFill>
                <a:latin typeface="Calibri" pitchFamily="34" charset="0"/>
                <a:ea typeface="Calibri" pitchFamily="34" charset="-122"/>
                <a:cs typeface="Calibri" pitchFamily="34" charset="-120"/>
              </a:rPr>
              <a:t>DeepTrace</a:t>
            </a:r>
            <a:endParaRPr lang="en-US" sz="1400" dirty="0"/>
          </a:p>
        </p:txBody>
      </p:sp>
      <p:sp>
        <p:nvSpPr>
          <p:cNvPr id="8" name="Shape 6"/>
          <p:cNvSpPr/>
          <p:nvPr/>
        </p:nvSpPr>
        <p:spPr>
          <a:xfrm>
            <a:off x="502920" y="1847088"/>
            <a:ext cx="5394960" cy="566928"/>
          </a:xfrm>
          <a:prstGeom prst="roundRect">
            <a:avLst>
              <a:gd name="adj" fmla="val 14516"/>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9" name="Text 7"/>
          <p:cNvSpPr/>
          <p:nvPr/>
        </p:nvSpPr>
        <p:spPr>
          <a:xfrm>
            <a:off x="740664" y="1847088"/>
            <a:ext cx="4937760" cy="566928"/>
          </a:xfrm>
          <a:prstGeom prst="rect">
            <a:avLst/>
          </a:prstGeom>
          <a:noFill/>
          <a:ln/>
        </p:spPr>
        <p:txBody>
          <a:bodyPr wrap="square" lIns="0" tIns="0" rIns="0" bIns="0" rtlCol="0" anchor="ctr"/>
          <a:lstStyle/>
          <a:p>
            <a:pPr indent="0" marL="0">
              <a:buNone/>
            </a:pPr>
            <a:r>
              <a:rPr lang="en-US" sz="1200" dirty="0">
                <a:solidFill>
                  <a:srgbClr val="1B2030"/>
                </a:solidFill>
                <a:latin typeface="Calibri" pitchFamily="34" charset="0"/>
                <a:ea typeface="Calibri" pitchFamily="34" charset="-122"/>
                <a:cs typeface="Calibri" pitchFamily="34" charset="-120"/>
              </a:rPr>
              <a:t>Answers “is this fake?”</a:t>
            </a:r>
            <a:endParaRPr lang="en-US" sz="1200" dirty="0"/>
          </a:p>
        </p:txBody>
      </p:sp>
      <p:sp>
        <p:nvSpPr>
          <p:cNvPr id="10" name="Shape 8"/>
          <p:cNvSpPr/>
          <p:nvPr/>
        </p:nvSpPr>
        <p:spPr>
          <a:xfrm>
            <a:off x="6263640" y="1847088"/>
            <a:ext cx="5394960" cy="566928"/>
          </a:xfrm>
          <a:prstGeom prst="roundRect">
            <a:avLst>
              <a:gd name="adj" fmla="val 14516"/>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11" name="Text 9"/>
          <p:cNvSpPr/>
          <p:nvPr/>
        </p:nvSpPr>
        <p:spPr>
          <a:xfrm>
            <a:off x="6501384" y="1847088"/>
            <a:ext cx="4937760" cy="566928"/>
          </a:xfrm>
          <a:prstGeom prst="rect">
            <a:avLst/>
          </a:prstGeom>
          <a:noFill/>
          <a:ln/>
        </p:spPr>
        <p:txBody>
          <a:bodyPr wrap="square" lIns="0" tIns="0" rIns="0" bIns="0" rtlCol="0" anchor="ctr"/>
          <a:lstStyle/>
          <a:p>
            <a:pPr indent="0" marL="0">
              <a:buNone/>
            </a:pPr>
            <a:r>
              <a:rPr lang="en-US" sz="1200" b="1" dirty="0">
                <a:solidFill>
                  <a:srgbClr val="1F6B4D"/>
                </a:solidFill>
                <a:latin typeface="Calibri" pitchFamily="34" charset="0"/>
                <a:ea typeface="Calibri" pitchFamily="34" charset="-122"/>
                <a:cs typeface="Calibri" pitchFamily="34" charset="-120"/>
              </a:rPr>
              <a:t>Answers “is this a named, consented identity?”</a:t>
            </a:r>
            <a:endParaRPr lang="en-US" sz="1200" dirty="0"/>
          </a:p>
        </p:txBody>
      </p:sp>
      <p:sp>
        <p:nvSpPr>
          <p:cNvPr id="12" name="Shape 10"/>
          <p:cNvSpPr/>
          <p:nvPr/>
        </p:nvSpPr>
        <p:spPr>
          <a:xfrm>
            <a:off x="502920" y="2505456"/>
            <a:ext cx="5394960" cy="566928"/>
          </a:xfrm>
          <a:prstGeom prst="roundRect">
            <a:avLst>
              <a:gd name="adj" fmla="val 14516"/>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13" name="Text 11"/>
          <p:cNvSpPr/>
          <p:nvPr/>
        </p:nvSpPr>
        <p:spPr>
          <a:xfrm>
            <a:off x="740664" y="2505456"/>
            <a:ext cx="4937760" cy="566928"/>
          </a:xfrm>
          <a:prstGeom prst="rect">
            <a:avLst/>
          </a:prstGeom>
          <a:noFill/>
          <a:ln/>
        </p:spPr>
        <p:txBody>
          <a:bodyPr wrap="square" lIns="0" tIns="0" rIns="0" bIns="0" rtlCol="0" anchor="ctr"/>
          <a:lstStyle/>
          <a:p>
            <a:pPr indent="0" marL="0">
              <a:buNone/>
            </a:pPr>
            <a:r>
              <a:rPr lang="en-US" sz="1200" dirty="0">
                <a:solidFill>
                  <a:srgbClr val="1B2030"/>
                </a:solidFill>
                <a:latin typeface="Calibri" pitchFamily="34" charset="0"/>
                <a:ea typeface="Calibri" pitchFamily="34" charset="-122"/>
                <a:cs typeface="Calibri" pitchFamily="34" charset="-120"/>
              </a:rPr>
              <a:t>One score, no provenance</a:t>
            </a:r>
            <a:endParaRPr lang="en-US" sz="1200" dirty="0"/>
          </a:p>
        </p:txBody>
      </p:sp>
      <p:sp>
        <p:nvSpPr>
          <p:cNvPr id="14" name="Shape 12"/>
          <p:cNvSpPr/>
          <p:nvPr/>
        </p:nvSpPr>
        <p:spPr>
          <a:xfrm>
            <a:off x="6263640" y="2505456"/>
            <a:ext cx="5394960" cy="566928"/>
          </a:xfrm>
          <a:prstGeom prst="roundRect">
            <a:avLst>
              <a:gd name="adj" fmla="val 14516"/>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15" name="Text 13"/>
          <p:cNvSpPr/>
          <p:nvPr/>
        </p:nvSpPr>
        <p:spPr>
          <a:xfrm>
            <a:off x="6501384" y="2505456"/>
            <a:ext cx="4937760" cy="566928"/>
          </a:xfrm>
          <a:prstGeom prst="rect">
            <a:avLst/>
          </a:prstGeom>
          <a:noFill/>
          <a:ln/>
        </p:spPr>
        <p:txBody>
          <a:bodyPr wrap="square" lIns="0" tIns="0" rIns="0" bIns="0" rtlCol="0" anchor="ctr"/>
          <a:lstStyle/>
          <a:p>
            <a:pPr indent="0" marL="0">
              <a:buNone/>
            </a:pPr>
            <a:r>
              <a:rPr lang="en-US" sz="1200" b="1" dirty="0">
                <a:solidFill>
                  <a:srgbClr val="1F6B4D"/>
                </a:solidFill>
                <a:latin typeface="Calibri" pitchFamily="34" charset="0"/>
                <a:ea typeface="Calibri" pitchFamily="34" charset="-122"/>
                <a:cs typeface="Calibri" pitchFamily="34" charset="-120"/>
              </a:rPr>
              <a:t>Located copies, each re-fetched and verified locally</a:t>
            </a:r>
            <a:endParaRPr lang="en-US" sz="1200" dirty="0"/>
          </a:p>
        </p:txBody>
      </p:sp>
      <p:sp>
        <p:nvSpPr>
          <p:cNvPr id="16" name="Shape 14"/>
          <p:cNvSpPr/>
          <p:nvPr/>
        </p:nvSpPr>
        <p:spPr>
          <a:xfrm>
            <a:off x="502920" y="3163824"/>
            <a:ext cx="5394960" cy="566928"/>
          </a:xfrm>
          <a:prstGeom prst="roundRect">
            <a:avLst>
              <a:gd name="adj" fmla="val 14516"/>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17" name="Text 15"/>
          <p:cNvSpPr/>
          <p:nvPr/>
        </p:nvSpPr>
        <p:spPr>
          <a:xfrm>
            <a:off x="740664" y="3163824"/>
            <a:ext cx="4937760" cy="566928"/>
          </a:xfrm>
          <a:prstGeom prst="rect">
            <a:avLst/>
          </a:prstGeom>
          <a:noFill/>
          <a:ln/>
        </p:spPr>
        <p:txBody>
          <a:bodyPr wrap="square" lIns="0" tIns="0" rIns="0" bIns="0" rtlCol="0" anchor="ctr"/>
          <a:lstStyle/>
          <a:p>
            <a:pPr indent="0" marL="0">
              <a:buNone/>
            </a:pPr>
            <a:r>
              <a:rPr lang="en-US" sz="1200" dirty="0">
                <a:solidFill>
                  <a:srgbClr val="1B2030"/>
                </a:solidFill>
                <a:latin typeface="Calibri" pitchFamily="34" charset="0"/>
                <a:ea typeface="Calibri" pitchFamily="34" charset="-122"/>
                <a:cs typeface="Calibri" pitchFamily="34" charset="-120"/>
              </a:rPr>
              <a:t>Screenshot as output</a:t>
            </a:r>
            <a:endParaRPr lang="en-US" sz="1200" dirty="0"/>
          </a:p>
        </p:txBody>
      </p:sp>
      <p:sp>
        <p:nvSpPr>
          <p:cNvPr id="18" name="Shape 16"/>
          <p:cNvSpPr/>
          <p:nvPr/>
        </p:nvSpPr>
        <p:spPr>
          <a:xfrm>
            <a:off x="6263640" y="3163824"/>
            <a:ext cx="5394960" cy="566928"/>
          </a:xfrm>
          <a:prstGeom prst="roundRect">
            <a:avLst>
              <a:gd name="adj" fmla="val 14516"/>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19" name="Text 17"/>
          <p:cNvSpPr/>
          <p:nvPr/>
        </p:nvSpPr>
        <p:spPr>
          <a:xfrm>
            <a:off x="6501384" y="3163824"/>
            <a:ext cx="4937760" cy="566928"/>
          </a:xfrm>
          <a:prstGeom prst="rect">
            <a:avLst/>
          </a:prstGeom>
          <a:noFill/>
          <a:ln/>
        </p:spPr>
        <p:txBody>
          <a:bodyPr wrap="square" lIns="0" tIns="0" rIns="0" bIns="0" rtlCol="0" anchor="ctr"/>
          <a:lstStyle/>
          <a:p>
            <a:pPr indent="0" marL="0">
              <a:buNone/>
            </a:pPr>
            <a:r>
              <a:rPr lang="en-US" sz="1200" b="1" dirty="0">
                <a:solidFill>
                  <a:srgbClr val="1F6B4D"/>
                </a:solidFill>
                <a:latin typeface="Calibri" pitchFamily="34" charset="0"/>
                <a:ea typeface="Calibri" pitchFamily="34" charset="-122"/>
                <a:cs typeface="Calibri" pitchFamily="34" charset="-120"/>
              </a:rPr>
              <a:t>SHA-256 evidence store with chain of custody</a:t>
            </a:r>
            <a:endParaRPr lang="en-US" sz="1200" dirty="0"/>
          </a:p>
        </p:txBody>
      </p:sp>
      <p:sp>
        <p:nvSpPr>
          <p:cNvPr id="20" name="Shape 18"/>
          <p:cNvSpPr/>
          <p:nvPr/>
        </p:nvSpPr>
        <p:spPr>
          <a:xfrm>
            <a:off x="502920" y="3822192"/>
            <a:ext cx="5394960" cy="566928"/>
          </a:xfrm>
          <a:prstGeom prst="roundRect">
            <a:avLst>
              <a:gd name="adj" fmla="val 14516"/>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21" name="Text 19"/>
          <p:cNvSpPr/>
          <p:nvPr/>
        </p:nvSpPr>
        <p:spPr>
          <a:xfrm>
            <a:off x="740664" y="3822192"/>
            <a:ext cx="4937760" cy="566928"/>
          </a:xfrm>
          <a:prstGeom prst="rect">
            <a:avLst/>
          </a:prstGeom>
          <a:noFill/>
          <a:ln/>
        </p:spPr>
        <p:txBody>
          <a:bodyPr wrap="square" lIns="0" tIns="0" rIns="0" bIns="0" rtlCol="0" anchor="ctr"/>
          <a:lstStyle/>
          <a:p>
            <a:pPr indent="0" marL="0">
              <a:buNone/>
            </a:pPr>
            <a:r>
              <a:rPr lang="en-US" sz="1200" dirty="0">
                <a:solidFill>
                  <a:srgbClr val="1B2030"/>
                </a:solidFill>
                <a:latin typeface="Calibri" pitchFamily="34" charset="0"/>
                <a:ea typeface="Calibri" pitchFamily="34" charset="-122"/>
                <a:cs typeface="Calibri" pitchFamily="34" charset="-120"/>
              </a:rPr>
              <a:t>Accuracy claimed, not shown</a:t>
            </a:r>
            <a:endParaRPr lang="en-US" sz="1200" dirty="0"/>
          </a:p>
        </p:txBody>
      </p:sp>
      <p:sp>
        <p:nvSpPr>
          <p:cNvPr id="22" name="Shape 20"/>
          <p:cNvSpPr/>
          <p:nvPr/>
        </p:nvSpPr>
        <p:spPr>
          <a:xfrm>
            <a:off x="6263640" y="3822192"/>
            <a:ext cx="5394960" cy="566928"/>
          </a:xfrm>
          <a:prstGeom prst="roundRect">
            <a:avLst>
              <a:gd name="adj" fmla="val 14516"/>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23" name="Text 21"/>
          <p:cNvSpPr/>
          <p:nvPr/>
        </p:nvSpPr>
        <p:spPr>
          <a:xfrm>
            <a:off x="6501384" y="3822192"/>
            <a:ext cx="4937760" cy="566928"/>
          </a:xfrm>
          <a:prstGeom prst="rect">
            <a:avLst/>
          </a:prstGeom>
          <a:noFill/>
          <a:ln/>
        </p:spPr>
        <p:txBody>
          <a:bodyPr wrap="square" lIns="0" tIns="0" rIns="0" bIns="0" rtlCol="0" anchor="ctr"/>
          <a:lstStyle/>
          <a:p>
            <a:pPr indent="0" marL="0">
              <a:buNone/>
            </a:pPr>
            <a:r>
              <a:rPr lang="en-US" sz="1200" b="1" dirty="0">
                <a:solidFill>
                  <a:srgbClr val="1F6B4D"/>
                </a:solidFill>
                <a:latin typeface="Calibri" pitchFamily="34" charset="0"/>
                <a:ea typeface="Calibri" pitchFamily="34" charset="-122"/>
                <a:cs typeface="Calibri" pitchFamily="34" charset="-120"/>
              </a:rPr>
              <a:t>Public-corpus benchmarks with confidence intervals published</a:t>
            </a:r>
            <a:endParaRPr lang="en-US" sz="1200" dirty="0"/>
          </a:p>
        </p:txBody>
      </p:sp>
      <p:sp>
        <p:nvSpPr>
          <p:cNvPr id="24" name="Shape 22"/>
          <p:cNvSpPr/>
          <p:nvPr/>
        </p:nvSpPr>
        <p:spPr>
          <a:xfrm>
            <a:off x="502920" y="4480560"/>
            <a:ext cx="5394960" cy="566928"/>
          </a:xfrm>
          <a:prstGeom prst="roundRect">
            <a:avLst>
              <a:gd name="adj" fmla="val 14516"/>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25" name="Text 23"/>
          <p:cNvSpPr/>
          <p:nvPr/>
        </p:nvSpPr>
        <p:spPr>
          <a:xfrm>
            <a:off x="740664" y="4480560"/>
            <a:ext cx="4937760" cy="566928"/>
          </a:xfrm>
          <a:prstGeom prst="rect">
            <a:avLst/>
          </a:prstGeom>
          <a:noFill/>
          <a:ln/>
        </p:spPr>
        <p:txBody>
          <a:bodyPr wrap="square" lIns="0" tIns="0" rIns="0" bIns="0" rtlCol="0" anchor="ctr"/>
          <a:lstStyle/>
          <a:p>
            <a:pPr indent="0" marL="0">
              <a:buNone/>
            </a:pPr>
            <a:r>
              <a:rPr lang="en-US" sz="1200" dirty="0">
                <a:solidFill>
                  <a:srgbClr val="1B2030"/>
                </a:solidFill>
                <a:latin typeface="Calibri" pitchFamily="34" charset="0"/>
                <a:ea typeface="Calibri" pitchFamily="34" charset="-122"/>
                <a:cs typeface="Calibri" pitchFamily="34" charset="-120"/>
              </a:rPr>
              <a:t>Silent under compression</a:t>
            </a:r>
            <a:endParaRPr lang="en-US" sz="1200" dirty="0"/>
          </a:p>
        </p:txBody>
      </p:sp>
      <p:sp>
        <p:nvSpPr>
          <p:cNvPr id="26" name="Shape 24"/>
          <p:cNvSpPr/>
          <p:nvPr/>
        </p:nvSpPr>
        <p:spPr>
          <a:xfrm>
            <a:off x="6263640" y="4480560"/>
            <a:ext cx="5394960" cy="566928"/>
          </a:xfrm>
          <a:prstGeom prst="roundRect">
            <a:avLst>
              <a:gd name="adj" fmla="val 14516"/>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27" name="Text 25"/>
          <p:cNvSpPr/>
          <p:nvPr/>
        </p:nvSpPr>
        <p:spPr>
          <a:xfrm>
            <a:off x="6501384" y="4480560"/>
            <a:ext cx="4937760" cy="566928"/>
          </a:xfrm>
          <a:prstGeom prst="rect">
            <a:avLst/>
          </a:prstGeom>
          <a:noFill/>
          <a:ln/>
        </p:spPr>
        <p:txBody>
          <a:bodyPr wrap="square" lIns="0" tIns="0" rIns="0" bIns="0" rtlCol="0" anchor="ctr"/>
          <a:lstStyle/>
          <a:p>
            <a:pPr indent="0" marL="0">
              <a:buNone/>
            </a:pPr>
            <a:r>
              <a:rPr lang="en-US" sz="1200" b="1" dirty="0">
                <a:solidFill>
                  <a:srgbClr val="1F6B4D"/>
                </a:solidFill>
                <a:latin typeface="Calibri" pitchFamily="34" charset="0"/>
                <a:ea typeface="Calibri" pitchFamily="34" charset="-122"/>
                <a:cs typeface="Calibri" pitchFamily="34" charset="-120"/>
              </a:rPr>
              <a:t>16 measured transforms; the direction of drift is reported</a:t>
            </a:r>
            <a:endParaRPr lang="en-US" sz="1200" dirty="0"/>
          </a:p>
        </p:txBody>
      </p:sp>
      <p:sp>
        <p:nvSpPr>
          <p:cNvPr id="28" name="Shape 26"/>
          <p:cNvSpPr/>
          <p:nvPr/>
        </p:nvSpPr>
        <p:spPr>
          <a:xfrm>
            <a:off x="502920" y="5138928"/>
            <a:ext cx="5394960" cy="566928"/>
          </a:xfrm>
          <a:prstGeom prst="roundRect">
            <a:avLst>
              <a:gd name="adj" fmla="val 14516"/>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29" name="Text 27"/>
          <p:cNvSpPr/>
          <p:nvPr/>
        </p:nvSpPr>
        <p:spPr>
          <a:xfrm>
            <a:off x="740664" y="5138928"/>
            <a:ext cx="4937760" cy="566928"/>
          </a:xfrm>
          <a:prstGeom prst="rect">
            <a:avLst/>
          </a:prstGeom>
          <a:noFill/>
          <a:ln/>
        </p:spPr>
        <p:txBody>
          <a:bodyPr wrap="square" lIns="0" tIns="0" rIns="0" bIns="0" rtlCol="0" anchor="ctr"/>
          <a:lstStyle/>
          <a:p>
            <a:pPr indent="0" marL="0">
              <a:buNone/>
            </a:pPr>
            <a:r>
              <a:rPr lang="en-US" sz="1200" dirty="0">
                <a:solidFill>
                  <a:srgbClr val="1B2030"/>
                </a:solidFill>
                <a:latin typeface="Calibri" pitchFamily="34" charset="0"/>
                <a:ea typeface="Calibri" pitchFamily="34" charset="-122"/>
                <a:cs typeface="Calibri" pitchFamily="34" charset="-120"/>
              </a:rPr>
              <a:t>Black-box verdict</a:t>
            </a:r>
            <a:endParaRPr lang="en-US" sz="1200" dirty="0"/>
          </a:p>
        </p:txBody>
      </p:sp>
      <p:sp>
        <p:nvSpPr>
          <p:cNvPr id="30" name="Shape 28"/>
          <p:cNvSpPr/>
          <p:nvPr/>
        </p:nvSpPr>
        <p:spPr>
          <a:xfrm>
            <a:off x="6263640" y="5138928"/>
            <a:ext cx="5394960" cy="566928"/>
          </a:xfrm>
          <a:prstGeom prst="roundRect">
            <a:avLst>
              <a:gd name="adj" fmla="val 14516"/>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31" name="Text 29"/>
          <p:cNvSpPr/>
          <p:nvPr/>
        </p:nvSpPr>
        <p:spPr>
          <a:xfrm>
            <a:off x="6501384" y="5138928"/>
            <a:ext cx="4937760" cy="566928"/>
          </a:xfrm>
          <a:prstGeom prst="rect">
            <a:avLst/>
          </a:prstGeom>
          <a:noFill/>
          <a:ln/>
        </p:spPr>
        <p:txBody>
          <a:bodyPr wrap="square" lIns="0" tIns="0" rIns="0" bIns="0" rtlCol="0" anchor="ctr"/>
          <a:lstStyle/>
          <a:p>
            <a:pPr indent="0" marL="0">
              <a:buNone/>
            </a:pPr>
            <a:r>
              <a:rPr lang="en-US" sz="1200" b="1" dirty="0">
                <a:solidFill>
                  <a:srgbClr val="1F6B4D"/>
                </a:solidFill>
                <a:latin typeface="Calibri" pitchFamily="34" charset="0"/>
                <a:ea typeface="Calibri" pitchFamily="34" charset="-122"/>
                <a:cs typeface="Calibri" pitchFamily="34" charset="-120"/>
              </a:rPr>
              <a:t>Weighted fusion that names every excluded signal and why</a:t>
            </a:r>
            <a:endParaRPr lang="en-US" sz="1200" dirty="0"/>
          </a:p>
        </p:txBody>
      </p:sp>
      <p:sp>
        <p:nvSpPr>
          <p:cNvPr id="32" name="Shape 30"/>
          <p:cNvSpPr/>
          <p:nvPr/>
        </p:nvSpPr>
        <p:spPr>
          <a:xfrm>
            <a:off x="502920" y="5870448"/>
            <a:ext cx="11155680" cy="603504"/>
          </a:xfrm>
          <a:prstGeom prst="roundRect">
            <a:avLst>
              <a:gd name="adj" fmla="val 13636"/>
            </a:avLst>
          </a:prstGeom>
          <a:solidFill>
            <a:srgbClr val="1E2761"/>
          </a:solidFill>
          <a:ln w="6350">
            <a:solidFill>
              <a:srgbClr val="1E2761"/>
            </a:solidFill>
            <a:prstDash val="solid"/>
          </a:ln>
          <a:effectLst>
            <a:outerShdw sx="100000" sy="100000" kx="0" ky="0" algn="bl" rotWithShape="0" blurRad="101600" dist="25400" dir="5400000">
              <a:srgbClr val="8A93A8">
                <a:alpha val="22000"/>
              </a:srgbClr>
            </a:outerShdw>
          </a:effectLst>
        </p:spPr>
      </p:sp>
      <p:sp>
        <p:nvSpPr>
          <p:cNvPr id="33" name="Text 31"/>
          <p:cNvSpPr/>
          <p:nvPr/>
        </p:nvSpPr>
        <p:spPr>
          <a:xfrm>
            <a:off x="777240" y="5870448"/>
            <a:ext cx="10607040" cy="603504"/>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The innovation is not a new model. It is the insight that the victim's question is an identity question, and that an answer is worthless unless it survives as evidence.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CRITERION 5</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Feasibility and the path to scale</a:t>
            </a:r>
            <a:endParaRPr lang="en-US" sz="3200" dirty="0"/>
          </a:p>
        </p:txBody>
      </p:sp>
      <p:sp>
        <p:nvSpPr>
          <p:cNvPr id="4" name="Shape 2"/>
          <p:cNvSpPr/>
          <p:nvPr/>
        </p:nvSpPr>
        <p:spPr>
          <a:xfrm>
            <a:off x="9144000" y="329184"/>
            <a:ext cx="2514600" cy="384048"/>
          </a:xfrm>
          <a:prstGeom prst="roundRect">
            <a:avLst>
              <a:gd name="adj" fmla="val 50000"/>
            </a:avLst>
          </a:prstGeom>
          <a:solidFill>
            <a:srgbClr val="1E2761"/>
          </a:solidFill>
          <a:ln w="9525">
            <a:solidFill>
              <a:srgbClr val="1E2761"/>
            </a:solidFill>
            <a:prstDash val="solid"/>
          </a:ln>
        </p:spPr>
      </p:sp>
      <p:sp>
        <p:nvSpPr>
          <p:cNvPr id="5" name="Text 3"/>
          <p:cNvSpPr/>
          <p:nvPr/>
        </p:nvSpPr>
        <p:spPr>
          <a:xfrm>
            <a:off x="9144000" y="329184"/>
            <a:ext cx="2514600" cy="384048"/>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Criterion 5  ·  10 marks</a:t>
            </a:r>
            <a:endParaRPr lang="en-US" sz="1100" dirty="0"/>
          </a:p>
        </p:txBody>
      </p:sp>
      <p:sp>
        <p:nvSpPr>
          <p:cNvPr id="6" name="Text 4"/>
          <p:cNvSpPr/>
          <p:nvPr/>
        </p:nvSpPr>
        <p:spPr>
          <a:xfrm>
            <a:off x="777240" y="1463040"/>
            <a:ext cx="5120640" cy="292608"/>
          </a:xfrm>
          <a:prstGeom prst="rect">
            <a:avLst/>
          </a:prstGeom>
          <a:noFill/>
          <a:ln/>
        </p:spPr>
        <p:txBody>
          <a:bodyPr wrap="square" lIns="0" tIns="0" rIns="0" bIns="0" rtlCol="0" anchor="ctr"/>
          <a:lstStyle/>
          <a:p>
            <a:pPr indent="0" marL="0">
              <a:buNone/>
            </a:pPr>
            <a:r>
              <a:rPr lang="en-US" sz="1400" b="1" dirty="0">
                <a:solidFill>
                  <a:srgbClr val="1F6B4D"/>
                </a:solidFill>
                <a:latin typeface="Calibri" pitchFamily="34" charset="0"/>
                <a:ea typeface="Calibri" pitchFamily="34" charset="-122"/>
                <a:cs typeface="Calibri" pitchFamily="34" charset="-120"/>
              </a:rPr>
              <a:t>Feasible now — demonstrated on this machine</a:t>
            </a:r>
            <a:endParaRPr lang="en-US" sz="1400" dirty="0"/>
          </a:p>
        </p:txBody>
      </p:sp>
      <p:sp>
        <p:nvSpPr>
          <p:cNvPr id="7" name="Shape 5"/>
          <p:cNvSpPr/>
          <p:nvPr/>
        </p:nvSpPr>
        <p:spPr>
          <a:xfrm>
            <a:off x="502920" y="1828800"/>
            <a:ext cx="5394960" cy="914400"/>
          </a:xfrm>
          <a:prstGeom prst="roundRect">
            <a:avLst>
              <a:gd name="adj" fmla="val 9000"/>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8" name="Text 6"/>
          <p:cNvSpPr/>
          <p:nvPr/>
        </p:nvSpPr>
        <p:spPr>
          <a:xfrm>
            <a:off x="740664" y="1938528"/>
            <a:ext cx="4937760" cy="274320"/>
          </a:xfrm>
          <a:prstGeom prst="rect">
            <a:avLst/>
          </a:prstGeom>
          <a:noFill/>
          <a:ln/>
        </p:spPr>
        <p:txBody>
          <a:bodyPr wrap="square" lIns="0" tIns="0" rIns="0" bIns="0" rtlCol="0" anchor="ctr"/>
          <a:lstStyle/>
          <a:p>
            <a:pPr indent="0" marL="0">
              <a:buNone/>
            </a:pPr>
            <a:r>
              <a:rPr lang="en-US" sz="1250" b="1" dirty="0">
                <a:solidFill>
                  <a:srgbClr val="1F6B4D"/>
                </a:solidFill>
                <a:latin typeface="Calibri" pitchFamily="34" charset="0"/>
                <a:ea typeface="Calibri" pitchFamily="34" charset="-122"/>
                <a:cs typeface="Calibri" pitchFamily="34" charset="-120"/>
              </a:rPr>
              <a:t>Runs today on one laptop</a:t>
            </a:r>
            <a:endParaRPr lang="en-US" sz="1250" dirty="0"/>
          </a:p>
        </p:txBody>
      </p:sp>
      <p:sp>
        <p:nvSpPr>
          <p:cNvPr id="9" name="Text 7"/>
          <p:cNvSpPr/>
          <p:nvPr/>
        </p:nvSpPr>
        <p:spPr>
          <a:xfrm>
            <a:off x="740664" y="2212848"/>
            <a:ext cx="4937760" cy="457200"/>
          </a:xfrm>
          <a:prstGeom prst="rect">
            <a:avLst/>
          </a:prstGeom>
          <a:noFill/>
          <a:ln/>
        </p:spPr>
        <p:txBody>
          <a:bodyPr wrap="square" lIns="0" tIns="0" rIns="0" bIns="0" rtlCol="0" anchor="t"/>
          <a:lstStyle/>
          <a:p>
            <a:pPr indent="0" marL="0">
              <a:lnSpc>
                <a:spcPts val="1400"/>
              </a:lnSpc>
              <a:buNone/>
            </a:pPr>
            <a:r>
              <a:rPr lang="en-US" sz="1100" dirty="0">
                <a:solidFill>
                  <a:srgbClr val="1B2030"/>
                </a:solidFill>
                <a:latin typeface="Calibri" pitchFamily="34" charset="0"/>
                <a:ea typeface="Calibri" pitchFamily="34" charset="-122"/>
                <a:cs typeface="Calibri" pitchFamily="34" charset="-120"/>
              </a:rPr>
              <a:t>CPU-only PyTorch 2.2.2, Python 3.11, SQLite. No GPU and no cloud account required.</a:t>
            </a:r>
            <a:endParaRPr lang="en-US" sz="1100" dirty="0"/>
          </a:p>
        </p:txBody>
      </p:sp>
      <p:sp>
        <p:nvSpPr>
          <p:cNvPr id="10" name="Shape 8"/>
          <p:cNvSpPr/>
          <p:nvPr/>
        </p:nvSpPr>
        <p:spPr>
          <a:xfrm>
            <a:off x="502920" y="2871216"/>
            <a:ext cx="5394960" cy="914400"/>
          </a:xfrm>
          <a:prstGeom prst="roundRect">
            <a:avLst>
              <a:gd name="adj" fmla="val 9000"/>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11" name="Text 9"/>
          <p:cNvSpPr/>
          <p:nvPr/>
        </p:nvSpPr>
        <p:spPr>
          <a:xfrm>
            <a:off x="740664" y="2980944"/>
            <a:ext cx="4937760" cy="274320"/>
          </a:xfrm>
          <a:prstGeom prst="rect">
            <a:avLst/>
          </a:prstGeom>
          <a:noFill/>
          <a:ln/>
        </p:spPr>
        <p:txBody>
          <a:bodyPr wrap="square" lIns="0" tIns="0" rIns="0" bIns="0" rtlCol="0" anchor="ctr"/>
          <a:lstStyle/>
          <a:p>
            <a:pPr indent="0" marL="0">
              <a:buNone/>
            </a:pPr>
            <a:r>
              <a:rPr lang="en-US" sz="1250" b="1" dirty="0">
                <a:solidFill>
                  <a:srgbClr val="1F6B4D"/>
                </a:solidFill>
                <a:latin typeface="Calibri" pitchFamily="34" charset="0"/>
                <a:ea typeface="Calibri" pitchFamily="34" charset="-122"/>
                <a:cs typeface="Calibri" pitchFamily="34" charset="-120"/>
              </a:rPr>
              <a:t>Zero recurring cost</a:t>
            </a:r>
            <a:endParaRPr lang="en-US" sz="1250" dirty="0"/>
          </a:p>
        </p:txBody>
      </p:sp>
      <p:sp>
        <p:nvSpPr>
          <p:cNvPr id="12" name="Text 10"/>
          <p:cNvSpPr/>
          <p:nvPr/>
        </p:nvSpPr>
        <p:spPr>
          <a:xfrm>
            <a:off x="740664" y="3255264"/>
            <a:ext cx="4937760" cy="457200"/>
          </a:xfrm>
          <a:prstGeom prst="rect">
            <a:avLst/>
          </a:prstGeom>
          <a:noFill/>
          <a:ln/>
        </p:spPr>
        <p:txBody>
          <a:bodyPr wrap="square" lIns="0" tIns="0" rIns="0" bIns="0" rtlCol="0" anchor="t"/>
          <a:lstStyle/>
          <a:p>
            <a:pPr indent="0" marL="0">
              <a:lnSpc>
                <a:spcPts val="1400"/>
              </a:lnSpc>
              <a:buNone/>
            </a:pPr>
            <a:r>
              <a:rPr lang="en-US" sz="1100" dirty="0">
                <a:solidFill>
                  <a:srgbClr val="1B2030"/>
                </a:solidFill>
                <a:latin typeface="Calibri" pitchFamily="34" charset="0"/>
                <a:ea typeface="Calibri" pitchFamily="34" charset="-122"/>
                <a:cs typeface="Calibri" pitchFamily="34" charset="-120"/>
              </a:rPr>
              <a:t>All four models are local checkpoints. Nothing is billed per inference.</a:t>
            </a:r>
            <a:endParaRPr lang="en-US" sz="1100" dirty="0"/>
          </a:p>
        </p:txBody>
      </p:sp>
      <p:sp>
        <p:nvSpPr>
          <p:cNvPr id="13" name="Shape 11"/>
          <p:cNvSpPr/>
          <p:nvPr/>
        </p:nvSpPr>
        <p:spPr>
          <a:xfrm>
            <a:off x="502920" y="3913632"/>
            <a:ext cx="5394960" cy="914400"/>
          </a:xfrm>
          <a:prstGeom prst="roundRect">
            <a:avLst>
              <a:gd name="adj" fmla="val 9000"/>
            </a:avLst>
          </a:prstGeom>
          <a:solidFill>
            <a:srgbClr val="E6F2EC"/>
          </a:solidFill>
          <a:ln w="6350">
            <a:solidFill>
              <a:srgbClr val="E6F2EC"/>
            </a:solidFill>
            <a:prstDash val="solid"/>
          </a:ln>
          <a:effectLst>
            <a:outerShdw sx="100000" sy="100000" kx="0" ky="0" algn="bl" rotWithShape="0" blurRad="101600" dist="25400" dir="5400000">
              <a:srgbClr val="8A93A8">
                <a:alpha val="22000"/>
              </a:srgbClr>
            </a:outerShdw>
          </a:effectLst>
        </p:spPr>
      </p:sp>
      <p:sp>
        <p:nvSpPr>
          <p:cNvPr id="14" name="Text 12"/>
          <p:cNvSpPr/>
          <p:nvPr/>
        </p:nvSpPr>
        <p:spPr>
          <a:xfrm>
            <a:off x="740664" y="4023360"/>
            <a:ext cx="4937760" cy="274320"/>
          </a:xfrm>
          <a:prstGeom prst="rect">
            <a:avLst/>
          </a:prstGeom>
          <a:noFill/>
          <a:ln/>
        </p:spPr>
        <p:txBody>
          <a:bodyPr wrap="square" lIns="0" tIns="0" rIns="0" bIns="0" rtlCol="0" anchor="ctr"/>
          <a:lstStyle/>
          <a:p>
            <a:pPr indent="0" marL="0">
              <a:buNone/>
            </a:pPr>
            <a:r>
              <a:rPr lang="en-US" sz="1250" b="1" dirty="0">
                <a:solidFill>
                  <a:srgbClr val="1F6B4D"/>
                </a:solidFill>
                <a:latin typeface="Calibri" pitchFamily="34" charset="0"/>
                <a:ea typeface="Calibri" pitchFamily="34" charset="-122"/>
                <a:cs typeface="Calibri" pitchFamily="34" charset="-120"/>
              </a:rPr>
              <a:t>Offline-capable</a:t>
            </a:r>
            <a:endParaRPr lang="en-US" sz="1250" dirty="0"/>
          </a:p>
        </p:txBody>
      </p:sp>
      <p:sp>
        <p:nvSpPr>
          <p:cNvPr id="15" name="Text 13"/>
          <p:cNvSpPr/>
          <p:nvPr/>
        </p:nvSpPr>
        <p:spPr>
          <a:xfrm>
            <a:off x="740664" y="4297680"/>
            <a:ext cx="4937760" cy="457200"/>
          </a:xfrm>
          <a:prstGeom prst="rect">
            <a:avLst/>
          </a:prstGeom>
          <a:noFill/>
          <a:ln/>
        </p:spPr>
        <p:txBody>
          <a:bodyPr wrap="square" lIns="0" tIns="0" rIns="0" bIns="0" rtlCol="0" anchor="t"/>
          <a:lstStyle/>
          <a:p>
            <a:pPr indent="0" marL="0">
              <a:lnSpc>
                <a:spcPts val="1400"/>
              </a:lnSpc>
              <a:buNone/>
            </a:pPr>
            <a:r>
              <a:rPr lang="en-US" sz="1100" dirty="0">
                <a:solidFill>
                  <a:srgbClr val="1B2030"/>
                </a:solidFill>
                <a:latin typeface="Calibri" pitchFamily="34" charset="0"/>
                <a:ea typeface="Calibri" pitchFamily="34" charset="-122"/>
                <a:cs typeface="Calibri" pitchFamily="34" charset="-120"/>
              </a:rPr>
              <a:t>Only the reverse-image lookup needs a network; its absence is a reported state, not a failure.</a:t>
            </a:r>
            <a:endParaRPr lang="en-US" sz="1100" dirty="0"/>
          </a:p>
        </p:txBody>
      </p:sp>
      <p:sp>
        <p:nvSpPr>
          <p:cNvPr id="16" name="Text 14"/>
          <p:cNvSpPr/>
          <p:nvPr/>
        </p:nvSpPr>
        <p:spPr>
          <a:xfrm>
            <a:off x="6501384" y="1463040"/>
            <a:ext cx="512064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Scales without redesign</a:t>
            </a:r>
            <a:endParaRPr lang="en-US" sz="1400" dirty="0"/>
          </a:p>
        </p:txBody>
      </p:sp>
      <p:sp>
        <p:nvSpPr>
          <p:cNvPr id="17" name="Shape 15"/>
          <p:cNvSpPr/>
          <p:nvPr/>
        </p:nvSpPr>
        <p:spPr>
          <a:xfrm>
            <a:off x="6263640" y="1828800"/>
            <a:ext cx="5394960" cy="914400"/>
          </a:xfrm>
          <a:prstGeom prst="roundRect">
            <a:avLst>
              <a:gd name="adj" fmla="val 9000"/>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8" name="Text 16"/>
          <p:cNvSpPr/>
          <p:nvPr/>
        </p:nvSpPr>
        <p:spPr>
          <a:xfrm>
            <a:off x="6501384" y="1938528"/>
            <a:ext cx="493776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Deployable at a cyber cell</a:t>
            </a:r>
            <a:endParaRPr lang="en-US" sz="1250" dirty="0"/>
          </a:p>
        </p:txBody>
      </p:sp>
      <p:sp>
        <p:nvSpPr>
          <p:cNvPr id="19" name="Text 17"/>
          <p:cNvSpPr/>
          <p:nvPr/>
        </p:nvSpPr>
        <p:spPr>
          <a:xfrm>
            <a:off x="6501384" y="2212848"/>
            <a:ext cx="4937760" cy="457200"/>
          </a:xfrm>
          <a:prstGeom prst="rect">
            <a:avLst/>
          </a:prstGeom>
          <a:noFill/>
          <a:ln/>
        </p:spPr>
        <p:txBody>
          <a:bodyPr wrap="square" lIns="0" tIns="0" rIns="0" bIns="0" rtlCol="0" anchor="t"/>
          <a:lstStyle/>
          <a:p>
            <a:pPr indent="0" marL="0">
              <a:lnSpc>
                <a:spcPts val="1400"/>
              </a:lnSpc>
              <a:buNone/>
            </a:pPr>
            <a:r>
              <a:rPr lang="en-US" sz="1100" dirty="0">
                <a:solidFill>
                  <a:srgbClr val="1B2030"/>
                </a:solidFill>
                <a:latin typeface="Calibri" pitchFamily="34" charset="0"/>
                <a:ea typeface="Calibri" pitchFamily="34" charset="-122"/>
                <a:cs typeface="Calibri" pitchFamily="34" charset="-120"/>
              </a:rPr>
              <a:t>Same monolith, one box per unit. Evidence never leaves the custodian's machine.</a:t>
            </a:r>
            <a:endParaRPr lang="en-US" sz="1100" dirty="0"/>
          </a:p>
        </p:txBody>
      </p:sp>
      <p:sp>
        <p:nvSpPr>
          <p:cNvPr id="20" name="Shape 18"/>
          <p:cNvSpPr/>
          <p:nvPr/>
        </p:nvSpPr>
        <p:spPr>
          <a:xfrm>
            <a:off x="6263640" y="2871216"/>
            <a:ext cx="5394960" cy="914400"/>
          </a:xfrm>
          <a:prstGeom prst="roundRect">
            <a:avLst>
              <a:gd name="adj" fmla="val 9000"/>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21" name="Text 19"/>
          <p:cNvSpPr/>
          <p:nvPr/>
        </p:nvSpPr>
        <p:spPr>
          <a:xfrm>
            <a:off x="6501384" y="2980944"/>
            <a:ext cx="493776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Throughput scales by queueing</a:t>
            </a:r>
            <a:endParaRPr lang="en-US" sz="1250" dirty="0"/>
          </a:p>
        </p:txBody>
      </p:sp>
      <p:sp>
        <p:nvSpPr>
          <p:cNvPr id="22" name="Text 20"/>
          <p:cNvSpPr/>
          <p:nvPr/>
        </p:nvSpPr>
        <p:spPr>
          <a:xfrm>
            <a:off x="6501384" y="3255264"/>
            <a:ext cx="4937760" cy="457200"/>
          </a:xfrm>
          <a:prstGeom prst="rect">
            <a:avLst/>
          </a:prstGeom>
          <a:noFill/>
          <a:ln/>
        </p:spPr>
        <p:txBody>
          <a:bodyPr wrap="square" lIns="0" tIns="0" rIns="0" bIns="0" rtlCol="0" anchor="t"/>
          <a:lstStyle/>
          <a:p>
            <a:pPr indent="0" marL="0">
              <a:lnSpc>
                <a:spcPts val="1400"/>
              </a:lnSpc>
              <a:buNone/>
            </a:pPr>
            <a:r>
              <a:rPr lang="en-US" sz="1100" dirty="0">
                <a:solidFill>
                  <a:srgbClr val="1B2030"/>
                </a:solidFill>
                <a:latin typeface="Calibri" pitchFamily="34" charset="0"/>
                <a:ea typeface="Calibri" pitchFamily="34" charset="-122"/>
                <a:cs typeface="Calibri" pitchFamily="34" charset="-120"/>
              </a:rPr>
              <a:t>Analysis is per-case and stateless after ingest — add workers, not architecture.</a:t>
            </a:r>
            <a:endParaRPr lang="en-US" sz="1100" dirty="0"/>
          </a:p>
        </p:txBody>
      </p:sp>
      <p:sp>
        <p:nvSpPr>
          <p:cNvPr id="23" name="Shape 21"/>
          <p:cNvSpPr/>
          <p:nvPr/>
        </p:nvSpPr>
        <p:spPr>
          <a:xfrm>
            <a:off x="6263640" y="3913632"/>
            <a:ext cx="5394960" cy="914400"/>
          </a:xfrm>
          <a:prstGeom prst="roundRect">
            <a:avLst>
              <a:gd name="adj" fmla="val 9000"/>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24" name="Text 22"/>
          <p:cNvSpPr/>
          <p:nvPr/>
        </p:nvSpPr>
        <p:spPr>
          <a:xfrm>
            <a:off x="6501384" y="4023360"/>
            <a:ext cx="493776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Accuracy scales with licensing</a:t>
            </a:r>
            <a:endParaRPr lang="en-US" sz="1250" dirty="0"/>
          </a:p>
        </p:txBody>
      </p:sp>
      <p:sp>
        <p:nvSpPr>
          <p:cNvPr id="25" name="Text 23"/>
          <p:cNvSpPr/>
          <p:nvPr/>
        </p:nvSpPr>
        <p:spPr>
          <a:xfrm>
            <a:off x="6501384" y="4297680"/>
            <a:ext cx="4937760" cy="457200"/>
          </a:xfrm>
          <a:prstGeom prst="rect">
            <a:avLst/>
          </a:prstGeom>
          <a:noFill/>
          <a:ln/>
        </p:spPr>
        <p:txBody>
          <a:bodyPr wrap="square" lIns="0" tIns="0" rIns="0" bIns="0" rtlCol="0" anchor="t"/>
          <a:lstStyle/>
          <a:p>
            <a:pPr indent="0" marL="0">
              <a:lnSpc>
                <a:spcPts val="1400"/>
              </a:lnSpc>
              <a:buNone/>
            </a:pPr>
            <a:r>
              <a:rPr lang="en-US" sz="1100" dirty="0">
                <a:solidFill>
                  <a:srgbClr val="1B2030"/>
                </a:solidFill>
                <a:latin typeface="Calibri" pitchFamily="34" charset="0"/>
                <a:ea typeface="Calibri" pitchFamily="34" charset="-122"/>
                <a:cs typeface="Calibri" pitchFamily="34" charset="-120"/>
              </a:rPr>
              <a:t>scripts/import_eval_set.py already accepts FaceForensics++ or Celeb-DF for an in-distribution figure.</a:t>
            </a:r>
            <a:endParaRPr lang="en-US" sz="1100" dirty="0"/>
          </a:p>
        </p:txBody>
      </p:sp>
      <p:sp>
        <p:nvSpPr>
          <p:cNvPr id="26" name="Shape 24"/>
          <p:cNvSpPr/>
          <p:nvPr/>
        </p:nvSpPr>
        <p:spPr>
          <a:xfrm>
            <a:off x="6263640" y="4956048"/>
            <a:ext cx="5394960" cy="914400"/>
          </a:xfrm>
          <a:prstGeom prst="roundRect">
            <a:avLst>
              <a:gd name="adj" fmla="val 9000"/>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27" name="Text 25"/>
          <p:cNvSpPr/>
          <p:nvPr/>
        </p:nvSpPr>
        <p:spPr>
          <a:xfrm>
            <a:off x="6501384" y="5065776"/>
            <a:ext cx="493776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Indices are pluggable</a:t>
            </a:r>
            <a:endParaRPr lang="en-US" sz="1250" dirty="0"/>
          </a:p>
        </p:txBody>
      </p:sp>
      <p:sp>
        <p:nvSpPr>
          <p:cNvPr id="28" name="Text 26"/>
          <p:cNvSpPr/>
          <p:nvPr/>
        </p:nvSpPr>
        <p:spPr>
          <a:xfrm>
            <a:off x="6501384" y="5340096"/>
            <a:ext cx="4937760" cy="457200"/>
          </a:xfrm>
          <a:prstGeom prst="rect">
            <a:avLst/>
          </a:prstGeom>
          <a:noFill/>
          <a:ln/>
        </p:spPr>
        <p:txBody>
          <a:bodyPr wrap="square" lIns="0" tIns="0" rIns="0" bIns="0" rtlCol="0" anchor="t"/>
          <a:lstStyle/>
          <a:p>
            <a:pPr indent="0" marL="0">
              <a:lnSpc>
                <a:spcPts val="1400"/>
              </a:lnSpc>
              <a:buNone/>
            </a:pPr>
            <a:r>
              <a:rPr lang="en-US" sz="1100" dirty="0">
                <a:solidFill>
                  <a:srgbClr val="1B2030"/>
                </a:solidFill>
                <a:latin typeface="Calibri" pitchFamily="34" charset="0"/>
                <a:ea typeface="Calibri" pitchFamily="34" charset="-122"/>
                <a:cs typeface="Calibri" pitchFamily="34" charset="-120"/>
              </a:rPr>
              <a:t>The provenance estimator is one named index behind an interface — add authorised sources without touching the pipeline.</a:t>
            </a:r>
            <a:endParaRPr lang="en-US" sz="1100" dirty="0"/>
          </a:p>
        </p:txBody>
      </p:sp>
      <p:sp>
        <p:nvSpPr>
          <p:cNvPr id="29" name="Text 27"/>
          <p:cNvSpPr/>
          <p:nvPr/>
        </p:nvSpPr>
        <p:spPr>
          <a:xfrm>
            <a:off x="502920" y="6053328"/>
            <a:ext cx="11155680" cy="365760"/>
          </a:xfrm>
          <a:prstGeom prst="rect">
            <a:avLst/>
          </a:prstGeom>
          <a:noFill/>
          <a:ln/>
        </p:spPr>
        <p:txBody>
          <a:bodyPr wrap="square" lIns="0" tIns="0" rIns="0" bIns="0" rtlCol="0" anchor="ctr"/>
          <a:lstStyle/>
          <a:p>
            <a:pPr indent="0" marL="0">
              <a:buNone/>
            </a:pPr>
            <a:r>
              <a:rPr lang="en-US" sz="1250" i="1" dirty="0">
                <a:solidFill>
                  <a:srgbClr val="5A6272"/>
                </a:solidFill>
                <a:latin typeface="Calibri" pitchFamily="34" charset="0"/>
                <a:ea typeface="Calibri" pitchFamily="34" charset="-122"/>
                <a:cs typeface="Calibri" pitchFamily="34" charset="-120"/>
              </a:rPr>
              <a:t>The scale story is deliberately boring: the same process, more boxes. Nothing about the chain of custody has to change.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CRITERION 7</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Limitations we state before you ask</a:t>
            </a:r>
            <a:endParaRPr lang="en-US" sz="3200" dirty="0"/>
          </a:p>
        </p:txBody>
      </p:sp>
      <p:sp>
        <p:nvSpPr>
          <p:cNvPr id="4" name="Shape 2"/>
          <p:cNvSpPr/>
          <p:nvPr/>
        </p:nvSpPr>
        <p:spPr>
          <a:xfrm>
            <a:off x="9144000" y="329184"/>
            <a:ext cx="2514600" cy="384048"/>
          </a:xfrm>
          <a:prstGeom prst="roundRect">
            <a:avLst>
              <a:gd name="adj" fmla="val 50000"/>
            </a:avLst>
          </a:prstGeom>
          <a:solidFill>
            <a:srgbClr val="1E2761"/>
          </a:solidFill>
          <a:ln w="9525">
            <a:solidFill>
              <a:srgbClr val="1E2761"/>
            </a:solidFill>
            <a:prstDash val="solid"/>
          </a:ln>
        </p:spPr>
      </p:sp>
      <p:sp>
        <p:nvSpPr>
          <p:cNvPr id="5" name="Text 3"/>
          <p:cNvSpPr/>
          <p:nvPr/>
        </p:nvSpPr>
        <p:spPr>
          <a:xfrm>
            <a:off x="9144000" y="329184"/>
            <a:ext cx="2514600" cy="384048"/>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Criterion 7  ·  15 marks</a:t>
            </a:r>
            <a:endParaRPr lang="en-US" sz="1100" dirty="0"/>
          </a:p>
        </p:txBody>
      </p:sp>
      <p:sp>
        <p:nvSpPr>
          <p:cNvPr id="6" name="Shape 4"/>
          <p:cNvSpPr/>
          <p:nvPr/>
        </p:nvSpPr>
        <p:spPr>
          <a:xfrm>
            <a:off x="502920" y="1426464"/>
            <a:ext cx="5440680" cy="1335024"/>
          </a:xfrm>
          <a:prstGeom prst="roundRect">
            <a:avLst>
              <a:gd name="adj" fmla="val 6164"/>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7" name="Shape 5"/>
          <p:cNvSpPr/>
          <p:nvPr/>
        </p:nvSpPr>
        <p:spPr>
          <a:xfrm>
            <a:off x="704088" y="1609344"/>
            <a:ext cx="347472" cy="347472"/>
          </a:xfrm>
          <a:prstGeom prst="ellipse">
            <a:avLst/>
          </a:prstGeom>
          <a:solidFill>
            <a:srgbClr val="B06A00"/>
          </a:solidFill>
          <a:ln w="6350">
            <a:solidFill>
              <a:srgbClr val="B06A00"/>
            </a:solidFill>
            <a:prstDash val="solid"/>
          </a:ln>
        </p:spPr>
      </p:sp>
      <p:sp>
        <p:nvSpPr>
          <p:cNvPr id="8" name="Text 6"/>
          <p:cNvSpPr/>
          <p:nvPr/>
        </p:nvSpPr>
        <p:spPr>
          <a:xfrm>
            <a:off x="704088" y="1609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161288" y="1554480"/>
            <a:ext cx="4572000" cy="475488"/>
          </a:xfrm>
          <a:prstGeom prst="rect">
            <a:avLst/>
          </a:prstGeom>
          <a:noFill/>
          <a:ln/>
        </p:spPr>
        <p:txBody>
          <a:bodyPr wrap="square" lIns="0" tIns="0" rIns="0" bIns="0" rtlCol="0" anchor="t"/>
          <a:lstStyle/>
          <a:p>
            <a:pPr indent="0" marL="0">
              <a:lnSpc>
                <a:spcPts val="1500"/>
              </a:lnSpc>
              <a:buNone/>
            </a:pPr>
            <a:r>
              <a:rPr lang="en-US" sz="1200" b="1" dirty="0">
                <a:solidFill>
                  <a:srgbClr val="B06A00"/>
                </a:solidFill>
                <a:latin typeface="Calibri" pitchFamily="34" charset="0"/>
                <a:ea typeface="Calibri" pitchFamily="34" charset="-122"/>
                <a:cs typeface="Calibri" pitchFamily="34" charset="-120"/>
              </a:rPr>
              <a:t>Manipulation detection generalises poorly out-of-distribution</a:t>
            </a:r>
            <a:endParaRPr lang="en-US" sz="1200" dirty="0"/>
          </a:p>
        </p:txBody>
      </p:sp>
      <p:sp>
        <p:nvSpPr>
          <p:cNvPr id="10" name="Text 8"/>
          <p:cNvSpPr/>
          <p:nvPr/>
        </p:nvSpPr>
        <p:spPr>
          <a:xfrm>
            <a:off x="722376" y="2066544"/>
            <a:ext cx="5010912" cy="621792"/>
          </a:xfrm>
          <a:prstGeom prst="rect">
            <a:avLst/>
          </a:prstGeom>
          <a:noFill/>
          <a:ln/>
        </p:spPr>
        <p:txBody>
          <a:bodyPr wrap="square" lIns="0" tIns="0" rIns="0" bIns="0" rtlCol="0" anchor="t"/>
          <a:lstStyle/>
          <a:p>
            <a:pPr indent="0" marL="0">
              <a:lnSpc>
                <a:spcPts val="1300"/>
              </a:lnSpc>
              <a:buNone/>
            </a:pPr>
            <a:r>
              <a:rPr lang="en-US" sz="1050" dirty="0">
                <a:solidFill>
                  <a:srgbClr val="1B2030"/>
                </a:solidFill>
                <a:latin typeface="Calibri" pitchFamily="34" charset="0"/>
                <a:ea typeface="Calibri" pitchFamily="34" charset="-122"/>
                <a:cs typeface="Calibri" pitchFamily="34" charset="-120"/>
              </a:rPr>
              <a:t>0.466 accuracy, AUC 0.417 on StyleGAN faces. The checkpoint was trained on face swaps. Published with the caveat attached.</a:t>
            </a:r>
            <a:endParaRPr lang="en-US" sz="1050" dirty="0"/>
          </a:p>
        </p:txBody>
      </p:sp>
      <p:sp>
        <p:nvSpPr>
          <p:cNvPr id="11" name="Shape 9"/>
          <p:cNvSpPr/>
          <p:nvPr/>
        </p:nvSpPr>
        <p:spPr>
          <a:xfrm>
            <a:off x="6217920" y="1426464"/>
            <a:ext cx="5440680" cy="1335024"/>
          </a:xfrm>
          <a:prstGeom prst="roundRect">
            <a:avLst>
              <a:gd name="adj" fmla="val 6164"/>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12" name="Shape 10"/>
          <p:cNvSpPr/>
          <p:nvPr/>
        </p:nvSpPr>
        <p:spPr>
          <a:xfrm>
            <a:off x="6419088" y="1609344"/>
            <a:ext cx="347472" cy="347472"/>
          </a:xfrm>
          <a:prstGeom prst="ellipse">
            <a:avLst/>
          </a:prstGeom>
          <a:solidFill>
            <a:srgbClr val="B06A00"/>
          </a:solidFill>
          <a:ln w="6350">
            <a:solidFill>
              <a:srgbClr val="B06A00"/>
            </a:solidFill>
            <a:prstDash val="solid"/>
          </a:ln>
        </p:spPr>
      </p:sp>
      <p:sp>
        <p:nvSpPr>
          <p:cNvPr id="13" name="Text 11"/>
          <p:cNvSpPr/>
          <p:nvPr/>
        </p:nvSpPr>
        <p:spPr>
          <a:xfrm>
            <a:off x="6419088" y="1609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6876288" y="1554480"/>
            <a:ext cx="4572000" cy="475488"/>
          </a:xfrm>
          <a:prstGeom prst="rect">
            <a:avLst/>
          </a:prstGeom>
          <a:noFill/>
          <a:ln/>
        </p:spPr>
        <p:txBody>
          <a:bodyPr wrap="square" lIns="0" tIns="0" rIns="0" bIns="0" rtlCol="0" anchor="t"/>
          <a:lstStyle/>
          <a:p>
            <a:pPr indent="0" marL="0">
              <a:lnSpc>
                <a:spcPts val="1500"/>
              </a:lnSpc>
              <a:buNone/>
            </a:pPr>
            <a:r>
              <a:rPr lang="en-US" sz="1200" b="1" dirty="0">
                <a:solidFill>
                  <a:srgbClr val="B06A00"/>
                </a:solidFill>
                <a:latin typeface="Calibri" pitchFamily="34" charset="0"/>
                <a:ea typeface="Calibri" pitchFamily="34" charset="-122"/>
                <a:cs typeface="Calibri" pitchFamily="34" charset="-120"/>
              </a:rPr>
              <a:t>Audio robustness under compression is weak</a:t>
            </a:r>
            <a:endParaRPr lang="en-US" sz="1200" dirty="0"/>
          </a:p>
        </p:txBody>
      </p:sp>
      <p:sp>
        <p:nvSpPr>
          <p:cNvPr id="15" name="Text 13"/>
          <p:cNvSpPr/>
          <p:nvPr/>
        </p:nvSpPr>
        <p:spPr>
          <a:xfrm>
            <a:off x="6437376" y="2066544"/>
            <a:ext cx="5010912" cy="621792"/>
          </a:xfrm>
          <a:prstGeom prst="rect">
            <a:avLst/>
          </a:prstGeom>
          <a:noFill/>
          <a:ln/>
        </p:spPr>
        <p:txBody>
          <a:bodyPr wrap="square" lIns="0" tIns="0" rIns="0" bIns="0" rtlCol="0" anchor="t"/>
          <a:lstStyle/>
          <a:p>
            <a:pPr indent="0" marL="0">
              <a:lnSpc>
                <a:spcPts val="1300"/>
              </a:lnSpc>
              <a:buNone/>
            </a:pPr>
            <a:r>
              <a:rPr lang="en-US" sz="1050" dirty="0">
                <a:solidFill>
                  <a:srgbClr val="1B2030"/>
                </a:solidFill>
                <a:latin typeface="Calibri" pitchFamily="34" charset="0"/>
                <a:ea typeface="Calibri" pitchFamily="34" charset="-122"/>
                <a:cs typeface="Calibri" pitchFamily="34" charset="-120"/>
              </a:rPr>
              <a:t>0.375 decision stability on 8 pairs. AAC 64k flips both. The per-minute discontinuity rate saturates on short clips.</a:t>
            </a:r>
            <a:endParaRPr lang="en-US" sz="1050" dirty="0"/>
          </a:p>
        </p:txBody>
      </p:sp>
      <p:sp>
        <p:nvSpPr>
          <p:cNvPr id="16" name="Shape 14"/>
          <p:cNvSpPr/>
          <p:nvPr/>
        </p:nvSpPr>
        <p:spPr>
          <a:xfrm>
            <a:off x="502920" y="2907792"/>
            <a:ext cx="5440680" cy="1335024"/>
          </a:xfrm>
          <a:prstGeom prst="roundRect">
            <a:avLst>
              <a:gd name="adj" fmla="val 6164"/>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17" name="Shape 15"/>
          <p:cNvSpPr/>
          <p:nvPr/>
        </p:nvSpPr>
        <p:spPr>
          <a:xfrm>
            <a:off x="704088" y="3090672"/>
            <a:ext cx="347472" cy="347472"/>
          </a:xfrm>
          <a:prstGeom prst="ellipse">
            <a:avLst/>
          </a:prstGeom>
          <a:solidFill>
            <a:srgbClr val="B06A00"/>
          </a:solidFill>
          <a:ln w="6350">
            <a:solidFill>
              <a:srgbClr val="B06A00"/>
            </a:solidFill>
            <a:prstDash val="solid"/>
          </a:ln>
        </p:spPr>
      </p:sp>
      <p:sp>
        <p:nvSpPr>
          <p:cNvPr id="18" name="Text 16"/>
          <p:cNvSpPr/>
          <p:nvPr/>
        </p:nvSpPr>
        <p:spPr>
          <a:xfrm>
            <a:off x="704088" y="30906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161288" y="3035808"/>
            <a:ext cx="4572000" cy="475488"/>
          </a:xfrm>
          <a:prstGeom prst="rect">
            <a:avLst/>
          </a:prstGeom>
          <a:noFill/>
          <a:ln/>
        </p:spPr>
        <p:txBody>
          <a:bodyPr wrap="square" lIns="0" tIns="0" rIns="0" bIns="0" rtlCol="0" anchor="t"/>
          <a:lstStyle/>
          <a:p>
            <a:pPr indent="0" marL="0">
              <a:lnSpc>
                <a:spcPts val="1500"/>
              </a:lnSpc>
              <a:buNone/>
            </a:pPr>
            <a:r>
              <a:rPr lang="en-US" sz="1200" b="1" dirty="0">
                <a:solidFill>
                  <a:srgbClr val="B06A00"/>
                </a:solidFill>
                <a:latin typeface="Calibri" pitchFamily="34" charset="0"/>
                <a:ea typeface="Calibri" pitchFamily="34" charset="-122"/>
                <a:cs typeface="Calibri" pitchFamily="34" charset="-120"/>
              </a:rPr>
              <a:t>The robustness run covered images and audio, not video</a:t>
            </a:r>
            <a:endParaRPr lang="en-US" sz="1200" dirty="0"/>
          </a:p>
        </p:txBody>
      </p:sp>
      <p:sp>
        <p:nvSpPr>
          <p:cNvPr id="20" name="Text 18"/>
          <p:cNvSpPr/>
          <p:nvPr/>
        </p:nvSpPr>
        <p:spPr>
          <a:xfrm>
            <a:off x="722376" y="3547872"/>
            <a:ext cx="5010912" cy="621792"/>
          </a:xfrm>
          <a:prstGeom prst="rect">
            <a:avLst/>
          </a:prstGeom>
          <a:noFill/>
          <a:ln/>
        </p:spPr>
        <p:txBody>
          <a:bodyPr wrap="square" lIns="0" tIns="0" rIns="0" bIns="0" rtlCol="0" anchor="t"/>
          <a:lstStyle/>
          <a:p>
            <a:pPr indent="0" marL="0">
              <a:lnSpc>
                <a:spcPts val="1300"/>
              </a:lnSpc>
              <a:buNone/>
            </a:pPr>
            <a:r>
              <a:rPr lang="en-US" sz="1050" dirty="0">
                <a:solidFill>
                  <a:srgbClr val="1B2030"/>
                </a:solidFill>
                <a:latin typeface="Calibri" pitchFamily="34" charset="0"/>
                <a:ea typeface="Calibri" pitchFamily="34" charset="-122"/>
                <a:cs typeface="Calibri" pitchFamily="34" charset="-120"/>
              </a:rPr>
              <a:t>The video transforms exist in the harness; the stored run did not exercise them. We do not claim video robustness.</a:t>
            </a:r>
            <a:endParaRPr lang="en-US" sz="1050" dirty="0"/>
          </a:p>
        </p:txBody>
      </p:sp>
      <p:sp>
        <p:nvSpPr>
          <p:cNvPr id="21" name="Shape 19"/>
          <p:cNvSpPr/>
          <p:nvPr/>
        </p:nvSpPr>
        <p:spPr>
          <a:xfrm>
            <a:off x="6217920" y="2907792"/>
            <a:ext cx="5440680" cy="1335024"/>
          </a:xfrm>
          <a:prstGeom prst="roundRect">
            <a:avLst>
              <a:gd name="adj" fmla="val 6164"/>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22" name="Shape 20"/>
          <p:cNvSpPr/>
          <p:nvPr/>
        </p:nvSpPr>
        <p:spPr>
          <a:xfrm>
            <a:off x="6419088" y="3090672"/>
            <a:ext cx="347472" cy="347472"/>
          </a:xfrm>
          <a:prstGeom prst="ellipse">
            <a:avLst/>
          </a:prstGeom>
          <a:solidFill>
            <a:srgbClr val="B06A00"/>
          </a:solidFill>
          <a:ln w="6350">
            <a:solidFill>
              <a:srgbClr val="B06A00"/>
            </a:solidFill>
            <a:prstDash val="solid"/>
          </a:ln>
        </p:spPr>
      </p:sp>
      <p:sp>
        <p:nvSpPr>
          <p:cNvPr id="23" name="Text 21"/>
          <p:cNvSpPr/>
          <p:nvPr/>
        </p:nvSpPr>
        <p:spPr>
          <a:xfrm>
            <a:off x="6419088" y="30906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p:nvPr/>
        </p:nvSpPr>
        <p:spPr>
          <a:xfrm>
            <a:off x="6876288" y="3035808"/>
            <a:ext cx="4572000" cy="475488"/>
          </a:xfrm>
          <a:prstGeom prst="rect">
            <a:avLst/>
          </a:prstGeom>
          <a:noFill/>
          <a:ln/>
        </p:spPr>
        <p:txBody>
          <a:bodyPr wrap="square" lIns="0" tIns="0" rIns="0" bIns="0" rtlCol="0" anchor="t"/>
          <a:lstStyle/>
          <a:p>
            <a:pPr indent="0" marL="0">
              <a:lnSpc>
                <a:spcPts val="1500"/>
              </a:lnSpc>
              <a:buNone/>
            </a:pPr>
            <a:r>
              <a:rPr lang="en-US" sz="1200" b="1" dirty="0">
                <a:solidFill>
                  <a:srgbClr val="B06A00"/>
                </a:solidFill>
                <a:latin typeface="Calibri" pitchFamily="34" charset="0"/>
                <a:ea typeface="Calibri" pitchFamily="34" charset="-122"/>
                <a:cs typeface="Calibri" pitchFamily="34" charset="-120"/>
              </a:rPr>
              <a:t>Identity figures are optimistic by construction</a:t>
            </a:r>
            <a:endParaRPr lang="en-US" sz="1200" dirty="0"/>
          </a:p>
        </p:txBody>
      </p:sp>
      <p:sp>
        <p:nvSpPr>
          <p:cNvPr id="25" name="Text 23"/>
          <p:cNvSpPr/>
          <p:nvPr/>
        </p:nvSpPr>
        <p:spPr>
          <a:xfrm>
            <a:off x="6437376" y="3547872"/>
            <a:ext cx="5010912" cy="621792"/>
          </a:xfrm>
          <a:prstGeom prst="rect">
            <a:avLst/>
          </a:prstGeom>
          <a:noFill/>
          <a:ln/>
        </p:spPr>
        <p:txBody>
          <a:bodyPr wrap="square" lIns="0" tIns="0" rIns="0" bIns="0" rtlCol="0" anchor="t"/>
          <a:lstStyle/>
          <a:p>
            <a:pPr indent="0" marL="0">
              <a:lnSpc>
                <a:spcPts val="1300"/>
              </a:lnSpc>
              <a:buNone/>
            </a:pPr>
            <a:r>
              <a:rPr lang="en-US" sz="1050" dirty="0">
                <a:solidFill>
                  <a:srgbClr val="1B2030"/>
                </a:solidFill>
                <a:latin typeface="Calibri" pitchFamily="34" charset="0"/>
                <a:ea typeface="Calibri" pitchFamily="34" charset="-122"/>
                <a:cs typeface="Calibri" pitchFamily="34" charset="-120"/>
              </a:rPr>
              <a:t>Pairs where no face could be detected are skipped, not counted as errors — which excludes exactly the hard cases.</a:t>
            </a:r>
            <a:endParaRPr lang="en-US" sz="1050" dirty="0"/>
          </a:p>
        </p:txBody>
      </p:sp>
      <p:sp>
        <p:nvSpPr>
          <p:cNvPr id="26" name="Shape 24"/>
          <p:cNvSpPr/>
          <p:nvPr/>
        </p:nvSpPr>
        <p:spPr>
          <a:xfrm>
            <a:off x="502920" y="4389120"/>
            <a:ext cx="5440680" cy="1335024"/>
          </a:xfrm>
          <a:prstGeom prst="roundRect">
            <a:avLst>
              <a:gd name="adj" fmla="val 6164"/>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27" name="Shape 25"/>
          <p:cNvSpPr/>
          <p:nvPr/>
        </p:nvSpPr>
        <p:spPr>
          <a:xfrm>
            <a:off x="704088" y="4572000"/>
            <a:ext cx="347472" cy="347472"/>
          </a:xfrm>
          <a:prstGeom prst="ellipse">
            <a:avLst/>
          </a:prstGeom>
          <a:solidFill>
            <a:srgbClr val="B06A00"/>
          </a:solidFill>
          <a:ln w="6350">
            <a:solidFill>
              <a:srgbClr val="B06A00"/>
            </a:solidFill>
            <a:prstDash val="solid"/>
          </a:ln>
        </p:spPr>
      </p:sp>
      <p:sp>
        <p:nvSpPr>
          <p:cNvPr id="28" name="Text 26"/>
          <p:cNvSpPr/>
          <p:nvPr/>
        </p:nvSpPr>
        <p:spPr>
          <a:xfrm>
            <a:off x="704088" y="45720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9" name="Text 27"/>
          <p:cNvSpPr/>
          <p:nvPr/>
        </p:nvSpPr>
        <p:spPr>
          <a:xfrm>
            <a:off x="1161288" y="4517136"/>
            <a:ext cx="4572000" cy="475488"/>
          </a:xfrm>
          <a:prstGeom prst="rect">
            <a:avLst/>
          </a:prstGeom>
          <a:noFill/>
          <a:ln/>
        </p:spPr>
        <p:txBody>
          <a:bodyPr wrap="square" lIns="0" tIns="0" rIns="0" bIns="0" rtlCol="0" anchor="t"/>
          <a:lstStyle/>
          <a:p>
            <a:pPr indent="0" marL="0">
              <a:lnSpc>
                <a:spcPts val="1500"/>
              </a:lnSpc>
              <a:buNone/>
            </a:pPr>
            <a:r>
              <a:rPr lang="en-US" sz="1200" b="1" dirty="0">
                <a:solidFill>
                  <a:srgbClr val="B06A00"/>
                </a:solidFill>
                <a:latin typeface="Calibri" pitchFamily="34" charset="0"/>
                <a:ea typeface="Calibri" pitchFamily="34" charset="-122"/>
                <a:cs typeface="Calibri" pitchFamily="34" charset="-120"/>
              </a:rPr>
              <a:t>A/V consistency is a heuristic, and knows it</a:t>
            </a:r>
            <a:endParaRPr lang="en-US" sz="1200" dirty="0"/>
          </a:p>
        </p:txBody>
      </p:sp>
      <p:sp>
        <p:nvSpPr>
          <p:cNvPr id="30" name="Text 28"/>
          <p:cNvSpPr/>
          <p:nvPr/>
        </p:nvSpPr>
        <p:spPr>
          <a:xfrm>
            <a:off x="722376" y="5029200"/>
            <a:ext cx="5010912" cy="621792"/>
          </a:xfrm>
          <a:prstGeom prst="rect">
            <a:avLst/>
          </a:prstGeom>
          <a:noFill/>
          <a:ln/>
        </p:spPr>
        <p:txBody>
          <a:bodyPr wrap="square" lIns="0" tIns="0" rIns="0" bIns="0" rtlCol="0" anchor="t"/>
          <a:lstStyle/>
          <a:p>
            <a:pPr indent="0" marL="0">
              <a:lnSpc>
                <a:spcPts val="1300"/>
              </a:lnSpc>
              <a:buNone/>
            </a:pPr>
            <a:r>
              <a:rPr lang="en-US" sz="1050" dirty="0">
                <a:solidFill>
                  <a:srgbClr val="1B2030"/>
                </a:solidFill>
                <a:latin typeface="Calibri" pitchFamily="34" charset="0"/>
                <a:ea typeface="Calibri" pitchFamily="34" charset="-122"/>
                <a:cs typeface="Calibri" pitchFamily="34" charset="-120"/>
              </a:rPr>
              <a:t>Face-presence versus audio-energy. It withdraws itself from risk fusion on footage that is not a talking head.</a:t>
            </a:r>
            <a:endParaRPr lang="en-US" sz="1050" dirty="0"/>
          </a:p>
        </p:txBody>
      </p:sp>
      <p:sp>
        <p:nvSpPr>
          <p:cNvPr id="31" name="Shape 29"/>
          <p:cNvSpPr/>
          <p:nvPr/>
        </p:nvSpPr>
        <p:spPr>
          <a:xfrm>
            <a:off x="6217920" y="4389120"/>
            <a:ext cx="5440680" cy="1335024"/>
          </a:xfrm>
          <a:prstGeom prst="roundRect">
            <a:avLst>
              <a:gd name="adj" fmla="val 6164"/>
            </a:avLst>
          </a:prstGeom>
          <a:solidFill>
            <a:srgbClr val="FCF1DF"/>
          </a:solidFill>
          <a:ln w="6350">
            <a:solidFill>
              <a:srgbClr val="FCF1DF"/>
            </a:solidFill>
            <a:prstDash val="solid"/>
          </a:ln>
          <a:effectLst>
            <a:outerShdw sx="100000" sy="100000" kx="0" ky="0" algn="bl" rotWithShape="0" blurRad="101600" dist="25400" dir="5400000">
              <a:srgbClr val="8A93A8">
                <a:alpha val="22000"/>
              </a:srgbClr>
            </a:outerShdw>
          </a:effectLst>
        </p:spPr>
      </p:sp>
      <p:sp>
        <p:nvSpPr>
          <p:cNvPr id="32" name="Shape 30"/>
          <p:cNvSpPr/>
          <p:nvPr/>
        </p:nvSpPr>
        <p:spPr>
          <a:xfrm>
            <a:off x="6419088" y="4572000"/>
            <a:ext cx="347472" cy="347472"/>
          </a:xfrm>
          <a:prstGeom prst="ellipse">
            <a:avLst/>
          </a:prstGeom>
          <a:solidFill>
            <a:srgbClr val="B06A00"/>
          </a:solidFill>
          <a:ln w="6350">
            <a:solidFill>
              <a:srgbClr val="B06A00"/>
            </a:solidFill>
            <a:prstDash val="solid"/>
          </a:ln>
        </p:spPr>
      </p:sp>
      <p:sp>
        <p:nvSpPr>
          <p:cNvPr id="33" name="Text 31"/>
          <p:cNvSpPr/>
          <p:nvPr/>
        </p:nvSpPr>
        <p:spPr>
          <a:xfrm>
            <a:off x="6419088" y="45720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4" name="Text 32"/>
          <p:cNvSpPr/>
          <p:nvPr/>
        </p:nvSpPr>
        <p:spPr>
          <a:xfrm>
            <a:off x="6876288" y="4517136"/>
            <a:ext cx="4572000" cy="475488"/>
          </a:xfrm>
          <a:prstGeom prst="rect">
            <a:avLst/>
          </a:prstGeom>
          <a:noFill/>
          <a:ln/>
        </p:spPr>
        <p:txBody>
          <a:bodyPr wrap="square" lIns="0" tIns="0" rIns="0" bIns="0" rtlCol="0" anchor="t"/>
          <a:lstStyle/>
          <a:p>
            <a:pPr indent="0" marL="0">
              <a:lnSpc>
                <a:spcPts val="1500"/>
              </a:lnSpc>
              <a:buNone/>
            </a:pPr>
            <a:r>
              <a:rPr lang="en-US" sz="1200" b="1" dirty="0">
                <a:solidFill>
                  <a:srgbClr val="B06A00"/>
                </a:solidFill>
                <a:latin typeface="Calibri" pitchFamily="34" charset="0"/>
                <a:ea typeface="Calibri" pitchFamily="34" charset="-122"/>
                <a:cs typeface="Calibri" pitchFamily="34" charset="-120"/>
              </a:rPr>
              <a:t>Localization overlays are visualisations, not masks</a:t>
            </a:r>
            <a:endParaRPr lang="en-US" sz="1200" dirty="0"/>
          </a:p>
        </p:txBody>
      </p:sp>
      <p:sp>
        <p:nvSpPr>
          <p:cNvPr id="35" name="Text 33"/>
          <p:cNvSpPr/>
          <p:nvPr/>
        </p:nvSpPr>
        <p:spPr>
          <a:xfrm>
            <a:off x="6437376" y="5029200"/>
            <a:ext cx="5010912" cy="621792"/>
          </a:xfrm>
          <a:prstGeom prst="rect">
            <a:avLst/>
          </a:prstGeom>
          <a:noFill/>
          <a:ln/>
        </p:spPr>
        <p:txBody>
          <a:bodyPr wrap="square" lIns="0" tIns="0" rIns="0" bIns="0" rtlCol="0" anchor="t"/>
          <a:lstStyle/>
          <a:p>
            <a:pPr indent="0" marL="0">
              <a:lnSpc>
                <a:spcPts val="1300"/>
              </a:lnSpc>
              <a:buNone/>
            </a:pPr>
            <a:r>
              <a:rPr lang="en-US" sz="1050" dirty="0">
                <a:solidFill>
                  <a:srgbClr val="1B2030"/>
                </a:solidFill>
                <a:latin typeface="Calibri" pitchFamily="34" charset="0"/>
                <a:ea typeface="Calibri" pitchFamily="34" charset="-122"/>
                <a:cs typeface="Calibri" pitchFamily="34" charset="-120"/>
              </a:rPr>
              <a:t>High-frequency residual, where blending and recompression artefacts concentrate. Stated in the payload, the UI and the PDF.</a:t>
            </a:r>
            <a:endParaRPr lang="en-US" sz="1050" dirty="0"/>
          </a:p>
        </p:txBody>
      </p:sp>
      <p:sp>
        <p:nvSpPr>
          <p:cNvPr id="36" name="Shape 34"/>
          <p:cNvSpPr/>
          <p:nvPr/>
        </p:nvSpPr>
        <p:spPr>
          <a:xfrm>
            <a:off x="502920" y="5943600"/>
            <a:ext cx="11155680" cy="566928"/>
          </a:xfrm>
          <a:prstGeom prst="roundRect">
            <a:avLst>
              <a:gd name="adj" fmla="val 14516"/>
            </a:avLst>
          </a:prstGeom>
          <a:solidFill>
            <a:srgbClr val="1E2761"/>
          </a:solidFill>
          <a:ln w="6350">
            <a:solidFill>
              <a:srgbClr val="1E2761"/>
            </a:solidFill>
            <a:prstDash val="solid"/>
          </a:ln>
          <a:effectLst>
            <a:outerShdw sx="100000" sy="100000" kx="0" ky="0" algn="bl" rotWithShape="0" blurRad="101600" dist="25400" dir="5400000">
              <a:srgbClr val="8A93A8">
                <a:alpha val="22000"/>
              </a:srgbClr>
            </a:outerShdw>
          </a:effectLst>
        </p:spPr>
      </p:sp>
      <p:sp>
        <p:nvSpPr>
          <p:cNvPr id="37" name="Text 35"/>
          <p:cNvSpPr/>
          <p:nvPr/>
        </p:nvSpPr>
        <p:spPr>
          <a:xfrm>
            <a:off x="777240" y="5943600"/>
            <a:ext cx="10607040" cy="56692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Every one of these is printed in the report the investigating officer receives, beside the score it qualifies.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150" b="1" spc="220" kern="0" dirty="0">
                <a:solidFill>
                  <a:srgbClr val="6E7A99"/>
                </a:solidFill>
                <a:latin typeface="Calibri" pitchFamily="34" charset="0"/>
                <a:ea typeface="Calibri" pitchFamily="34" charset="-122"/>
                <a:cs typeface="Calibri" pitchFamily="34" charset="-120"/>
              </a:rPr>
              <a:t>CRITERION 7</a:t>
            </a:r>
            <a:endParaRPr lang="en-US" sz="1150" dirty="0"/>
          </a:p>
        </p:txBody>
      </p:sp>
      <p:sp>
        <p:nvSpPr>
          <p:cNvPr id="3" name="Text 1"/>
          <p:cNvSpPr/>
          <p:nvPr/>
        </p:nvSpPr>
        <p:spPr>
          <a:xfrm>
            <a:off x="502920" y="530352"/>
            <a:ext cx="8503920" cy="713232"/>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Hard questions — and our answers</a:t>
            </a:r>
            <a:endParaRPr lang="en-US" sz="3200" dirty="0"/>
          </a:p>
        </p:txBody>
      </p:sp>
      <p:sp>
        <p:nvSpPr>
          <p:cNvPr id="4" name="Shape 2"/>
          <p:cNvSpPr/>
          <p:nvPr/>
        </p:nvSpPr>
        <p:spPr>
          <a:xfrm>
            <a:off x="9144000" y="329184"/>
            <a:ext cx="2514600" cy="384048"/>
          </a:xfrm>
          <a:prstGeom prst="roundRect">
            <a:avLst>
              <a:gd name="adj" fmla="val 50000"/>
            </a:avLst>
          </a:prstGeom>
          <a:solidFill>
            <a:srgbClr val="1E2761"/>
          </a:solidFill>
          <a:ln w="9525">
            <a:solidFill>
              <a:srgbClr val="1E2761"/>
            </a:solidFill>
            <a:prstDash val="solid"/>
          </a:ln>
        </p:spPr>
      </p:sp>
      <p:sp>
        <p:nvSpPr>
          <p:cNvPr id="5" name="Text 3"/>
          <p:cNvSpPr/>
          <p:nvPr/>
        </p:nvSpPr>
        <p:spPr>
          <a:xfrm>
            <a:off x="9144000" y="329184"/>
            <a:ext cx="2514600" cy="384048"/>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Criterion 7  ·  15 marks</a:t>
            </a:r>
            <a:endParaRPr lang="en-US" sz="1100" dirty="0"/>
          </a:p>
        </p:txBody>
      </p:sp>
      <p:sp>
        <p:nvSpPr>
          <p:cNvPr id="6" name="Shape 4"/>
          <p:cNvSpPr/>
          <p:nvPr/>
        </p:nvSpPr>
        <p:spPr>
          <a:xfrm>
            <a:off x="502920" y="1408176"/>
            <a:ext cx="11155680" cy="694944"/>
          </a:xfrm>
          <a:prstGeom prst="roundRect">
            <a:avLst>
              <a:gd name="adj" fmla="val 11842"/>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7" name="Text 5"/>
          <p:cNvSpPr/>
          <p:nvPr/>
        </p:nvSpPr>
        <p:spPr>
          <a:xfrm>
            <a:off x="740664" y="1444752"/>
            <a:ext cx="4114800" cy="621792"/>
          </a:xfrm>
          <a:prstGeom prst="rect">
            <a:avLst/>
          </a:prstGeom>
          <a:noFill/>
          <a:ln/>
        </p:spPr>
        <p:txBody>
          <a:bodyPr wrap="square" lIns="0" tIns="0" rIns="0" bIns="0" rtlCol="0" anchor="ctr"/>
          <a:lstStyle/>
          <a:p>
            <a:pPr indent="0" marL="0">
              <a:buNone/>
            </a:pPr>
            <a:r>
              <a:rPr lang="en-US" sz="1150" b="1" i="1" dirty="0">
                <a:solidFill>
                  <a:srgbClr val="1E2761"/>
                </a:solidFill>
                <a:latin typeface="Calibri" pitchFamily="34" charset="0"/>
                <a:ea typeface="Calibri" pitchFamily="34" charset="-122"/>
                <a:cs typeface="Calibri" pitchFamily="34" charset="-120"/>
              </a:rPr>
              <a:t>“What is your detection accuracy?”</a:t>
            </a:r>
            <a:endParaRPr lang="en-US" sz="1150" dirty="0"/>
          </a:p>
        </p:txBody>
      </p:sp>
      <p:sp>
        <p:nvSpPr>
          <p:cNvPr id="8" name="Text 6"/>
          <p:cNvSpPr/>
          <p:nvPr/>
        </p:nvSpPr>
        <p:spPr>
          <a:xfrm>
            <a:off x="5001768" y="1444752"/>
            <a:ext cx="6400800" cy="621792"/>
          </a:xfrm>
          <a:prstGeom prst="rect">
            <a:avLst/>
          </a:prstGeom>
          <a:noFill/>
          <a:ln/>
        </p:spPr>
        <p:txBody>
          <a:bodyPr wrap="square" lIns="0" tIns="0" rIns="0" bIns="0" rtlCol="0" anchor="ctr"/>
          <a:lstStyle/>
          <a:p>
            <a:pPr indent="0" marL="0">
              <a:lnSpc>
                <a:spcPts val="1300"/>
              </a:lnSpc>
              <a:buNone/>
            </a:pPr>
            <a:r>
              <a:rPr lang="en-US" sz="1050" dirty="0">
                <a:solidFill>
                  <a:srgbClr val="1B2030"/>
                </a:solidFill>
                <a:latin typeface="Calibri" pitchFamily="34" charset="0"/>
                <a:ea typeface="Calibri" pitchFamily="34" charset="-122"/>
                <a:cs typeface="Calibri" pitchFamily="34" charset="-120"/>
              </a:rPr>
              <a:t>91.5% on face identity against LFW, precision 1.00. Manipulation is 46.6% out-of-distribution and we publish that — which is why we report indicators, not verdicts.</a:t>
            </a:r>
            <a:endParaRPr lang="en-US" sz="1050" dirty="0"/>
          </a:p>
        </p:txBody>
      </p:sp>
      <p:sp>
        <p:nvSpPr>
          <p:cNvPr id="9" name="Shape 7"/>
          <p:cNvSpPr/>
          <p:nvPr/>
        </p:nvSpPr>
        <p:spPr>
          <a:xfrm>
            <a:off x="502920" y="2194560"/>
            <a:ext cx="11155680" cy="694944"/>
          </a:xfrm>
          <a:prstGeom prst="roundRect">
            <a:avLst>
              <a:gd name="adj" fmla="val 11842"/>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0" name="Text 8"/>
          <p:cNvSpPr/>
          <p:nvPr/>
        </p:nvSpPr>
        <p:spPr>
          <a:xfrm>
            <a:off x="740664" y="2231136"/>
            <a:ext cx="4114800" cy="621792"/>
          </a:xfrm>
          <a:prstGeom prst="rect">
            <a:avLst/>
          </a:prstGeom>
          <a:noFill/>
          <a:ln/>
        </p:spPr>
        <p:txBody>
          <a:bodyPr wrap="square" lIns="0" tIns="0" rIns="0" bIns="0" rtlCol="0" anchor="ctr"/>
          <a:lstStyle/>
          <a:p>
            <a:pPr indent="0" marL="0">
              <a:buNone/>
            </a:pPr>
            <a:r>
              <a:rPr lang="en-US" sz="1150" b="1" i="1" dirty="0">
                <a:solidFill>
                  <a:srgbClr val="1E2761"/>
                </a:solidFill>
                <a:latin typeface="Calibri" pitchFamily="34" charset="0"/>
                <a:ea typeface="Calibri" pitchFamily="34" charset="-122"/>
                <a:cs typeface="Calibri" pitchFamily="34" charset="-120"/>
              </a:rPr>
              <a:t>“How is this different from any deepfake detector?”</a:t>
            </a:r>
            <a:endParaRPr lang="en-US" sz="1150" dirty="0"/>
          </a:p>
        </p:txBody>
      </p:sp>
      <p:sp>
        <p:nvSpPr>
          <p:cNvPr id="11" name="Text 9"/>
          <p:cNvSpPr/>
          <p:nvPr/>
        </p:nvSpPr>
        <p:spPr>
          <a:xfrm>
            <a:off x="5001768" y="2231136"/>
            <a:ext cx="6400800" cy="621792"/>
          </a:xfrm>
          <a:prstGeom prst="rect">
            <a:avLst/>
          </a:prstGeom>
          <a:noFill/>
          <a:ln/>
        </p:spPr>
        <p:txBody>
          <a:bodyPr wrap="square" lIns="0" tIns="0" rIns="0" bIns="0" rtlCol="0" anchor="ctr"/>
          <a:lstStyle/>
          <a:p>
            <a:pPr indent="0" marL="0">
              <a:lnSpc>
                <a:spcPts val="1300"/>
              </a:lnSpc>
              <a:buNone/>
            </a:pPr>
            <a:r>
              <a:rPr lang="en-US" sz="1050" dirty="0">
                <a:solidFill>
                  <a:srgbClr val="1B2030"/>
                </a:solidFill>
                <a:latin typeface="Calibri" pitchFamily="34" charset="0"/>
                <a:ea typeface="Calibri" pitchFamily="34" charset="-122"/>
                <a:cs typeface="Calibri" pitchFamily="34" charset="-120"/>
              </a:rPr>
              <a:t>It is identity-first. We answer whether a named consented person is present, then preserve the answer as admissible-format evidence. A detector answers neither.</a:t>
            </a:r>
            <a:endParaRPr lang="en-US" sz="1050" dirty="0"/>
          </a:p>
        </p:txBody>
      </p:sp>
      <p:sp>
        <p:nvSpPr>
          <p:cNvPr id="12" name="Shape 10"/>
          <p:cNvSpPr/>
          <p:nvPr/>
        </p:nvSpPr>
        <p:spPr>
          <a:xfrm>
            <a:off x="502920" y="2980944"/>
            <a:ext cx="11155680" cy="694944"/>
          </a:xfrm>
          <a:prstGeom prst="roundRect">
            <a:avLst>
              <a:gd name="adj" fmla="val 11842"/>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3" name="Text 11"/>
          <p:cNvSpPr/>
          <p:nvPr/>
        </p:nvSpPr>
        <p:spPr>
          <a:xfrm>
            <a:off x="740664" y="3017520"/>
            <a:ext cx="4114800" cy="621792"/>
          </a:xfrm>
          <a:prstGeom prst="rect">
            <a:avLst/>
          </a:prstGeom>
          <a:noFill/>
          <a:ln/>
        </p:spPr>
        <p:txBody>
          <a:bodyPr wrap="square" lIns="0" tIns="0" rIns="0" bIns="0" rtlCol="0" anchor="ctr"/>
          <a:lstStyle/>
          <a:p>
            <a:pPr indent="0" marL="0">
              <a:buNone/>
            </a:pPr>
            <a:r>
              <a:rPr lang="en-US" sz="1150" b="1" i="1" dirty="0">
                <a:solidFill>
                  <a:srgbClr val="1E2761"/>
                </a:solidFill>
                <a:latin typeface="Calibri" pitchFamily="34" charset="0"/>
                <a:ea typeface="Calibri" pitchFamily="34" charset="-122"/>
                <a:cs typeface="Calibri" pitchFamily="34" charset="-120"/>
              </a:rPr>
              <a:t>“What happens when the media is compressed?”</a:t>
            </a:r>
            <a:endParaRPr lang="en-US" sz="1150" dirty="0"/>
          </a:p>
        </p:txBody>
      </p:sp>
      <p:sp>
        <p:nvSpPr>
          <p:cNvPr id="14" name="Text 12"/>
          <p:cNvSpPr/>
          <p:nvPr/>
        </p:nvSpPr>
        <p:spPr>
          <a:xfrm>
            <a:off x="5001768" y="3017520"/>
            <a:ext cx="6400800" cy="621792"/>
          </a:xfrm>
          <a:prstGeom prst="rect">
            <a:avLst/>
          </a:prstGeom>
          <a:noFill/>
          <a:ln/>
        </p:spPr>
        <p:txBody>
          <a:bodyPr wrap="square" lIns="0" tIns="0" rIns="0" bIns="0" rtlCol="0" anchor="ctr"/>
          <a:lstStyle/>
          <a:p>
            <a:pPr indent="0" marL="0">
              <a:lnSpc>
                <a:spcPts val="1300"/>
              </a:lnSpc>
              <a:buNone/>
            </a:pPr>
            <a:r>
              <a:rPr lang="en-US" sz="1050" dirty="0">
                <a:solidFill>
                  <a:srgbClr val="1B2030"/>
                </a:solidFill>
                <a:latin typeface="Calibri" pitchFamily="34" charset="0"/>
                <a:ea typeface="Calibri" pitchFamily="34" charset="-122"/>
                <a:cs typeface="Calibri" pitchFamily="34" charset="-120"/>
              </a:rPr>
              <a:t>87.5% of decisions survive 16 real ffmpeg transforms. Perceptual hashes still match copies. And compression pushes scores up, so the risk is false accusation — measured, not guessed.</a:t>
            </a:r>
            <a:endParaRPr lang="en-US" sz="1050" dirty="0"/>
          </a:p>
        </p:txBody>
      </p:sp>
      <p:sp>
        <p:nvSpPr>
          <p:cNvPr id="15" name="Shape 13"/>
          <p:cNvSpPr/>
          <p:nvPr/>
        </p:nvSpPr>
        <p:spPr>
          <a:xfrm>
            <a:off x="502920" y="3767328"/>
            <a:ext cx="11155680" cy="694944"/>
          </a:xfrm>
          <a:prstGeom prst="roundRect">
            <a:avLst>
              <a:gd name="adj" fmla="val 11842"/>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6" name="Text 14"/>
          <p:cNvSpPr/>
          <p:nvPr/>
        </p:nvSpPr>
        <p:spPr>
          <a:xfrm>
            <a:off x="740664" y="3803904"/>
            <a:ext cx="4114800" cy="621792"/>
          </a:xfrm>
          <a:prstGeom prst="rect">
            <a:avLst/>
          </a:prstGeom>
          <a:noFill/>
          <a:ln/>
        </p:spPr>
        <p:txBody>
          <a:bodyPr wrap="square" lIns="0" tIns="0" rIns="0" bIns="0" rtlCol="0" anchor="ctr"/>
          <a:lstStyle/>
          <a:p>
            <a:pPr indent="0" marL="0">
              <a:buNone/>
            </a:pPr>
            <a:r>
              <a:rPr lang="en-US" sz="1150" b="1" i="1" dirty="0">
                <a:solidFill>
                  <a:srgbClr val="1E2761"/>
                </a:solidFill>
                <a:latin typeface="Calibri" pitchFamily="34" charset="0"/>
                <a:ea typeface="Calibri" pitchFamily="34" charset="-122"/>
                <a:cs typeface="Calibri" pitchFamily="34" charset="-120"/>
              </a:rPr>
              <a:t>“Can this be used to falsely accuse someone?”</a:t>
            </a:r>
            <a:endParaRPr lang="en-US" sz="1150" dirty="0"/>
          </a:p>
        </p:txBody>
      </p:sp>
      <p:sp>
        <p:nvSpPr>
          <p:cNvPr id="17" name="Text 15"/>
          <p:cNvSpPr/>
          <p:nvPr/>
        </p:nvSpPr>
        <p:spPr>
          <a:xfrm>
            <a:off x="5001768" y="3803904"/>
            <a:ext cx="6400800" cy="621792"/>
          </a:xfrm>
          <a:prstGeom prst="rect">
            <a:avLst/>
          </a:prstGeom>
          <a:noFill/>
          <a:ln/>
        </p:spPr>
        <p:txBody>
          <a:bodyPr wrap="square" lIns="0" tIns="0" rIns="0" bIns="0" rtlCol="0" anchor="ctr"/>
          <a:lstStyle/>
          <a:p>
            <a:pPr indent="0" marL="0">
              <a:lnSpc>
                <a:spcPts val="1300"/>
              </a:lnSpc>
              <a:buNone/>
            </a:pPr>
            <a:r>
              <a:rPr lang="en-US" sz="1050" dirty="0">
                <a:solidFill>
                  <a:srgbClr val="1B2030"/>
                </a:solidFill>
                <a:latin typeface="Calibri" pitchFamily="34" charset="0"/>
                <a:ea typeface="Calibri" pitchFamily="34" charset="-122"/>
                <a:cs typeface="Calibri" pitchFamily="34" charset="-120"/>
              </a:rPr>
              <a:t>That is the failure mode we designed against. Zero false identity matches in 200 pairs, no verdict output, and every limitation printed beside its score.</a:t>
            </a:r>
            <a:endParaRPr lang="en-US" sz="1050" dirty="0"/>
          </a:p>
        </p:txBody>
      </p:sp>
      <p:sp>
        <p:nvSpPr>
          <p:cNvPr id="18" name="Shape 16"/>
          <p:cNvSpPr/>
          <p:nvPr/>
        </p:nvSpPr>
        <p:spPr>
          <a:xfrm>
            <a:off x="502920" y="4553712"/>
            <a:ext cx="11155680" cy="694944"/>
          </a:xfrm>
          <a:prstGeom prst="roundRect">
            <a:avLst>
              <a:gd name="adj" fmla="val 11842"/>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19" name="Text 17"/>
          <p:cNvSpPr/>
          <p:nvPr/>
        </p:nvSpPr>
        <p:spPr>
          <a:xfrm>
            <a:off x="740664" y="4590288"/>
            <a:ext cx="4114800" cy="621792"/>
          </a:xfrm>
          <a:prstGeom prst="rect">
            <a:avLst/>
          </a:prstGeom>
          <a:noFill/>
          <a:ln/>
        </p:spPr>
        <p:txBody>
          <a:bodyPr wrap="square" lIns="0" tIns="0" rIns="0" bIns="0" rtlCol="0" anchor="ctr"/>
          <a:lstStyle/>
          <a:p>
            <a:pPr indent="0" marL="0">
              <a:buNone/>
            </a:pPr>
            <a:r>
              <a:rPr lang="en-US" sz="1150" b="1" i="1" dirty="0">
                <a:solidFill>
                  <a:srgbClr val="1E2761"/>
                </a:solidFill>
                <a:latin typeface="Calibri" pitchFamily="34" charset="0"/>
                <a:ea typeface="Calibri" pitchFamily="34" charset="-122"/>
                <a:cs typeface="Calibri" pitchFamily="34" charset="-120"/>
              </a:rPr>
              <a:t>“Why SQLite and a monolith instead of real infrastructure?”</a:t>
            </a:r>
            <a:endParaRPr lang="en-US" sz="1150" dirty="0"/>
          </a:p>
        </p:txBody>
      </p:sp>
      <p:sp>
        <p:nvSpPr>
          <p:cNvPr id="20" name="Text 18"/>
          <p:cNvSpPr/>
          <p:nvPr/>
        </p:nvSpPr>
        <p:spPr>
          <a:xfrm>
            <a:off x="5001768" y="4590288"/>
            <a:ext cx="6400800" cy="621792"/>
          </a:xfrm>
          <a:prstGeom prst="rect">
            <a:avLst/>
          </a:prstGeom>
          <a:noFill/>
          <a:ln/>
        </p:spPr>
        <p:txBody>
          <a:bodyPr wrap="square" lIns="0" tIns="0" rIns="0" bIns="0" rtlCol="0" anchor="ctr"/>
          <a:lstStyle/>
          <a:p>
            <a:pPr indent="0" marL="0">
              <a:lnSpc>
                <a:spcPts val="1300"/>
              </a:lnSpc>
              <a:buNone/>
            </a:pPr>
            <a:r>
              <a:rPr lang="en-US" sz="1050" dirty="0">
                <a:solidFill>
                  <a:srgbClr val="1B2030"/>
                </a:solidFill>
                <a:latin typeface="Calibri" pitchFamily="34" charset="0"/>
                <a:ea typeface="Calibri" pitchFamily="34" charset="-122"/>
                <a:cs typeface="Calibri" pitchFamily="34" charset="-120"/>
              </a:rPr>
              <a:t>Chain of custody is easiest to prove when one process owns the file. A network hop adds attack surface, not integrity. We can scale by adding boxes, not layers.</a:t>
            </a:r>
            <a:endParaRPr lang="en-US" sz="1050" dirty="0"/>
          </a:p>
        </p:txBody>
      </p:sp>
      <p:sp>
        <p:nvSpPr>
          <p:cNvPr id="21" name="Shape 19"/>
          <p:cNvSpPr/>
          <p:nvPr/>
        </p:nvSpPr>
        <p:spPr>
          <a:xfrm>
            <a:off x="502920" y="5340096"/>
            <a:ext cx="11155680" cy="694944"/>
          </a:xfrm>
          <a:prstGeom prst="roundRect">
            <a:avLst>
              <a:gd name="adj" fmla="val 11842"/>
            </a:avLst>
          </a:prstGeom>
          <a:solidFill>
            <a:srgbClr val="EEF3FC"/>
          </a:solidFill>
          <a:ln w="6350">
            <a:solidFill>
              <a:srgbClr val="EEF3FC"/>
            </a:solidFill>
            <a:prstDash val="solid"/>
          </a:ln>
          <a:effectLst>
            <a:outerShdw sx="100000" sy="100000" kx="0" ky="0" algn="bl" rotWithShape="0" blurRad="101600" dist="25400" dir="5400000">
              <a:srgbClr val="8A93A8">
                <a:alpha val="22000"/>
              </a:srgbClr>
            </a:outerShdw>
          </a:effectLst>
        </p:spPr>
      </p:sp>
      <p:sp>
        <p:nvSpPr>
          <p:cNvPr id="22" name="Text 20"/>
          <p:cNvSpPr/>
          <p:nvPr/>
        </p:nvSpPr>
        <p:spPr>
          <a:xfrm>
            <a:off x="740664" y="5376672"/>
            <a:ext cx="4114800" cy="621792"/>
          </a:xfrm>
          <a:prstGeom prst="rect">
            <a:avLst/>
          </a:prstGeom>
          <a:noFill/>
          <a:ln/>
        </p:spPr>
        <p:txBody>
          <a:bodyPr wrap="square" lIns="0" tIns="0" rIns="0" bIns="0" rtlCol="0" anchor="ctr"/>
          <a:lstStyle/>
          <a:p>
            <a:pPr indent="0" marL="0">
              <a:buNone/>
            </a:pPr>
            <a:r>
              <a:rPr lang="en-US" sz="1150" b="1" i="1" dirty="0">
                <a:solidFill>
                  <a:srgbClr val="1E2761"/>
                </a:solidFill>
                <a:latin typeface="Calibri" pitchFamily="34" charset="0"/>
                <a:ea typeface="Calibri" pitchFamily="34" charset="-122"/>
                <a:cs typeface="Calibri" pitchFamily="34" charset="-120"/>
              </a:rPr>
              <a:t>“Is any of this mocked for the demo?”</a:t>
            </a:r>
            <a:endParaRPr lang="en-US" sz="1150" dirty="0"/>
          </a:p>
        </p:txBody>
      </p:sp>
      <p:sp>
        <p:nvSpPr>
          <p:cNvPr id="23" name="Text 21"/>
          <p:cNvSpPr/>
          <p:nvPr/>
        </p:nvSpPr>
        <p:spPr>
          <a:xfrm>
            <a:off x="5001768" y="5376672"/>
            <a:ext cx="6400800" cy="621792"/>
          </a:xfrm>
          <a:prstGeom prst="rect">
            <a:avLst/>
          </a:prstGeom>
          <a:noFill/>
          <a:ln/>
        </p:spPr>
        <p:txBody>
          <a:bodyPr wrap="square" lIns="0" tIns="0" rIns="0" bIns="0" rtlCol="0" anchor="ctr"/>
          <a:lstStyle/>
          <a:p>
            <a:pPr indent="0" marL="0">
              <a:lnSpc>
                <a:spcPts val="1300"/>
              </a:lnSpc>
              <a:buNone/>
            </a:pPr>
            <a:r>
              <a:rPr lang="en-US" sz="1050" dirty="0">
                <a:solidFill>
                  <a:srgbClr val="1B2030"/>
                </a:solidFill>
                <a:latin typeface="Calibri" pitchFamily="34" charset="0"/>
                <a:ea typeface="Calibri" pitchFamily="34" charset="-122"/>
                <a:cs typeface="Calibri" pitchFamily="34" charset="-120"/>
              </a:rPr>
              <a:t>No. Demo input files are labelled as demo input; every score, hash, timestamp and finding comes from the pipeline. Unavailable modules print Unavailable, not a success screen.</a:t>
            </a:r>
            <a:endParaRPr lang="en-US" sz="1050" dirty="0"/>
          </a:p>
        </p:txBody>
      </p:sp>
      <p:sp>
        <p:nvSpPr>
          <p:cNvPr id="24" name="Text 22"/>
          <p:cNvSpPr/>
          <p:nvPr/>
        </p:nvSpPr>
        <p:spPr>
          <a:xfrm>
            <a:off x="502920" y="6199632"/>
            <a:ext cx="11155680" cy="365760"/>
          </a:xfrm>
          <a:prstGeom prst="rect">
            <a:avLst/>
          </a:prstGeom>
          <a:noFill/>
          <a:ln/>
        </p:spPr>
        <p:txBody>
          <a:bodyPr wrap="square" lIns="0" tIns="0" rIns="0" bIns="0" rtlCol="0" anchor="ctr"/>
          <a:lstStyle/>
          <a:p>
            <a:pPr indent="0" marL="0">
              <a:buNone/>
            </a:pPr>
            <a:r>
              <a:rPr lang="en-US" sz="1250" i="1" dirty="0">
                <a:solidFill>
                  <a:srgbClr val="5A6272"/>
                </a:solidFill>
                <a:latin typeface="Calibri" pitchFamily="34" charset="0"/>
                <a:ea typeface="Calibri" pitchFamily="34" charset="-122"/>
                <a:cs typeface="Calibri" pitchFamily="34" charset="-120"/>
              </a:rPr>
              <a:t>Rule for Q&amp;A: give the number, then the caveat, then stop. Never improvise a figure — if it is not measured, say it is not measured.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45"/>
        </a:solidFill>
      </p:bgPr>
    </p:bg>
    <p:spTree>
      <p:nvGrpSpPr>
        <p:cNvPr id="1" name=""/>
        <p:cNvGrpSpPr/>
        <p:nvPr/>
      </p:nvGrpSpPr>
      <p:grpSpPr>
        <a:xfrm>
          <a:off x="0" y="0"/>
          <a:ext cx="0" cy="0"/>
          <a:chOff x="0" y="0"/>
          <a:chExt cx="0" cy="0"/>
        </a:xfrm>
      </p:grpSpPr>
      <p:sp>
        <p:nvSpPr>
          <p:cNvPr id="2" name="Text 0"/>
          <p:cNvSpPr/>
          <p:nvPr/>
        </p:nvSpPr>
        <p:spPr>
          <a:xfrm>
            <a:off x="502920" y="1737360"/>
            <a:ext cx="11155680" cy="8686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DeepTrace</a:t>
            </a:r>
            <a:endParaRPr lang="en-US" sz="5000" dirty="0"/>
          </a:p>
        </p:txBody>
      </p:sp>
      <p:sp>
        <p:nvSpPr>
          <p:cNvPr id="3" name="Text 1"/>
          <p:cNvSpPr/>
          <p:nvPr/>
        </p:nvSpPr>
        <p:spPr>
          <a:xfrm>
            <a:off x="502920" y="2670048"/>
            <a:ext cx="11155680" cy="402336"/>
          </a:xfrm>
          <a:prstGeom prst="rect">
            <a:avLst/>
          </a:prstGeom>
          <a:noFill/>
          <a:ln/>
        </p:spPr>
        <p:txBody>
          <a:bodyPr wrap="square" lIns="0" tIns="0" rIns="0" bIns="0" rtlCol="0" anchor="ctr"/>
          <a:lstStyle/>
          <a:p>
            <a:pPr indent="0" marL="0">
              <a:buNone/>
            </a:pPr>
            <a:r>
              <a:rPr lang="en-US" sz="1900" spc="60" kern="0" dirty="0">
                <a:solidFill>
                  <a:srgbClr val="CADCFC"/>
                </a:solidFill>
                <a:latin typeface="Calibri" pitchFamily="34" charset="0"/>
                <a:ea typeface="Calibri" pitchFamily="34" charset="-122"/>
                <a:cs typeface="Calibri" pitchFamily="34" charset="-120"/>
              </a:rPr>
              <a:t>Match  ·  Analyze  ·  Localize  ·  Trace  ·  Preserve  ·  Respond</a:t>
            </a:r>
            <a:endParaRPr lang="en-US" sz="1900" dirty="0"/>
          </a:p>
        </p:txBody>
      </p:sp>
      <p:sp>
        <p:nvSpPr>
          <p:cNvPr id="4" name="Text 2"/>
          <p:cNvSpPr/>
          <p:nvPr/>
        </p:nvSpPr>
        <p:spPr>
          <a:xfrm>
            <a:off x="502920" y="3383280"/>
            <a:ext cx="8412480" cy="914400"/>
          </a:xfrm>
          <a:prstGeom prst="rect">
            <a:avLst/>
          </a:prstGeom>
          <a:noFill/>
          <a:ln/>
        </p:spPr>
        <p:txBody>
          <a:bodyPr wrap="square" lIns="0" tIns="0" rIns="0" bIns="0" rtlCol="0" anchor="ctr"/>
          <a:lstStyle/>
          <a:p>
            <a:pPr indent="0" marL="0">
              <a:lnSpc>
                <a:spcPts val="2200"/>
              </a:lnSpc>
              <a:buNone/>
            </a:pPr>
            <a:r>
              <a:rPr lang="en-US" sz="1500" dirty="0">
                <a:solidFill>
                  <a:srgbClr val="8FA6D9"/>
                </a:solidFill>
                <a:latin typeface="Calibri" pitchFamily="34" charset="0"/>
                <a:ea typeface="Calibri" pitchFamily="34" charset="-122"/>
                <a:cs typeface="Calibri" pitchFamily="34" charset="-120"/>
              </a:rPr>
              <a:t>An impersonation victim needs more than a score. They need to show that the media is not them, that a copy is circulating, and that the record will hold up after they hand it over.</a:t>
            </a:r>
            <a:endParaRPr lang="en-US" sz="1500" dirty="0"/>
          </a:p>
        </p:txBody>
      </p:sp>
      <p:sp>
        <p:nvSpPr>
          <p:cNvPr id="5" name="Text 3"/>
          <p:cNvSpPr/>
          <p:nvPr/>
        </p:nvSpPr>
        <p:spPr>
          <a:xfrm>
            <a:off x="502920" y="4663440"/>
            <a:ext cx="2560320" cy="548640"/>
          </a:xfrm>
          <a:prstGeom prst="rect">
            <a:avLst/>
          </a:prstGeom>
          <a:noFill/>
          <a:ln/>
        </p:spPr>
        <p:txBody>
          <a:bodyPr wrap="square" lIns="0" tIns="0" rIns="0" bIns="0" rtlCol="0" anchor="ctr"/>
          <a:lstStyle/>
          <a:p>
            <a:pPr indent="0" marL="0">
              <a:buNone/>
            </a:pPr>
            <a:r>
              <a:rPr lang="en-US" sz="3200" b="1" dirty="0">
                <a:solidFill>
                  <a:srgbClr val="CADCFC"/>
                </a:solidFill>
                <a:latin typeface="Cambria" pitchFamily="34" charset="0"/>
                <a:ea typeface="Cambria" pitchFamily="34" charset="-122"/>
                <a:cs typeface="Cambria" pitchFamily="34" charset="-120"/>
              </a:rPr>
              <a:t>91.5%</a:t>
            </a:r>
            <a:endParaRPr lang="en-US" sz="3200" dirty="0"/>
          </a:p>
        </p:txBody>
      </p:sp>
      <p:sp>
        <p:nvSpPr>
          <p:cNvPr id="6" name="Text 4"/>
          <p:cNvSpPr/>
          <p:nvPr/>
        </p:nvSpPr>
        <p:spPr>
          <a:xfrm>
            <a:off x="502920" y="5193792"/>
            <a:ext cx="2560320" cy="274320"/>
          </a:xfrm>
          <a:prstGeom prst="rect">
            <a:avLst/>
          </a:prstGeom>
          <a:noFill/>
          <a:ln/>
        </p:spPr>
        <p:txBody>
          <a:bodyPr wrap="square" lIns="0" tIns="0" rIns="0" bIns="0" rtlCol="0" anchor="ctr"/>
          <a:lstStyle/>
          <a:p>
            <a:pPr indent="0" marL="0">
              <a:buNone/>
            </a:pPr>
            <a:r>
              <a:rPr lang="en-US" sz="1150" dirty="0">
                <a:solidFill>
                  <a:srgbClr val="8FA6D9"/>
                </a:solidFill>
                <a:latin typeface="Calibri" pitchFamily="34" charset="0"/>
                <a:ea typeface="Calibri" pitchFamily="34" charset="-122"/>
                <a:cs typeface="Calibri" pitchFamily="34" charset="-120"/>
              </a:rPr>
              <a:t>identity accuracy</a:t>
            </a:r>
            <a:endParaRPr lang="en-US" sz="1150" dirty="0"/>
          </a:p>
        </p:txBody>
      </p:sp>
      <p:sp>
        <p:nvSpPr>
          <p:cNvPr id="7" name="Text 5"/>
          <p:cNvSpPr/>
          <p:nvPr/>
        </p:nvSpPr>
        <p:spPr>
          <a:xfrm>
            <a:off x="3291840" y="4663440"/>
            <a:ext cx="2560320" cy="548640"/>
          </a:xfrm>
          <a:prstGeom prst="rect">
            <a:avLst/>
          </a:prstGeom>
          <a:noFill/>
          <a:ln/>
        </p:spPr>
        <p:txBody>
          <a:bodyPr wrap="square" lIns="0" tIns="0" rIns="0" bIns="0" rtlCol="0" anchor="ctr"/>
          <a:lstStyle/>
          <a:p>
            <a:pPr indent="0" marL="0">
              <a:buNone/>
            </a:pPr>
            <a:r>
              <a:rPr lang="en-US" sz="3200" b="1" dirty="0">
                <a:solidFill>
                  <a:srgbClr val="CADCFC"/>
                </a:solidFill>
                <a:latin typeface="Cambria" pitchFamily="34" charset="0"/>
                <a:ea typeface="Cambria" pitchFamily="34" charset="-122"/>
                <a:cs typeface="Cambria" pitchFamily="34" charset="-120"/>
              </a:rPr>
              <a:t>0</a:t>
            </a:r>
            <a:endParaRPr lang="en-US" sz="3200" dirty="0"/>
          </a:p>
        </p:txBody>
      </p:sp>
      <p:sp>
        <p:nvSpPr>
          <p:cNvPr id="8" name="Text 6"/>
          <p:cNvSpPr/>
          <p:nvPr/>
        </p:nvSpPr>
        <p:spPr>
          <a:xfrm>
            <a:off x="3291840" y="5193792"/>
            <a:ext cx="2560320" cy="274320"/>
          </a:xfrm>
          <a:prstGeom prst="rect">
            <a:avLst/>
          </a:prstGeom>
          <a:noFill/>
          <a:ln/>
        </p:spPr>
        <p:txBody>
          <a:bodyPr wrap="square" lIns="0" tIns="0" rIns="0" bIns="0" rtlCol="0" anchor="ctr"/>
          <a:lstStyle/>
          <a:p>
            <a:pPr indent="0" marL="0">
              <a:buNone/>
            </a:pPr>
            <a:r>
              <a:rPr lang="en-US" sz="1150" dirty="0">
                <a:solidFill>
                  <a:srgbClr val="8FA6D9"/>
                </a:solidFill>
                <a:latin typeface="Calibri" pitchFamily="34" charset="0"/>
                <a:ea typeface="Calibri" pitchFamily="34" charset="-122"/>
                <a:cs typeface="Calibri" pitchFamily="34" charset="-120"/>
              </a:rPr>
              <a:t>false matches / 200</a:t>
            </a:r>
            <a:endParaRPr lang="en-US" sz="1150" dirty="0"/>
          </a:p>
        </p:txBody>
      </p:sp>
      <p:sp>
        <p:nvSpPr>
          <p:cNvPr id="9" name="Text 7"/>
          <p:cNvSpPr/>
          <p:nvPr/>
        </p:nvSpPr>
        <p:spPr>
          <a:xfrm>
            <a:off x="6080760" y="4663440"/>
            <a:ext cx="2560320" cy="548640"/>
          </a:xfrm>
          <a:prstGeom prst="rect">
            <a:avLst/>
          </a:prstGeom>
          <a:noFill/>
          <a:ln/>
        </p:spPr>
        <p:txBody>
          <a:bodyPr wrap="square" lIns="0" tIns="0" rIns="0" bIns="0" rtlCol="0" anchor="ctr"/>
          <a:lstStyle/>
          <a:p>
            <a:pPr indent="0" marL="0">
              <a:buNone/>
            </a:pPr>
            <a:r>
              <a:rPr lang="en-US" sz="3200" b="1" dirty="0">
                <a:solidFill>
                  <a:srgbClr val="CADCFC"/>
                </a:solidFill>
                <a:latin typeface="Cambria" pitchFamily="34" charset="0"/>
                <a:ea typeface="Cambria" pitchFamily="34" charset="-122"/>
                <a:cs typeface="Cambria" pitchFamily="34" charset="-120"/>
              </a:rPr>
              <a:t>87.5%</a:t>
            </a:r>
            <a:endParaRPr lang="en-US" sz="3200" dirty="0"/>
          </a:p>
        </p:txBody>
      </p:sp>
      <p:sp>
        <p:nvSpPr>
          <p:cNvPr id="10" name="Text 8"/>
          <p:cNvSpPr/>
          <p:nvPr/>
        </p:nvSpPr>
        <p:spPr>
          <a:xfrm>
            <a:off x="6080760" y="5193792"/>
            <a:ext cx="2560320" cy="274320"/>
          </a:xfrm>
          <a:prstGeom prst="rect">
            <a:avLst/>
          </a:prstGeom>
          <a:noFill/>
          <a:ln/>
        </p:spPr>
        <p:txBody>
          <a:bodyPr wrap="square" lIns="0" tIns="0" rIns="0" bIns="0" rtlCol="0" anchor="ctr"/>
          <a:lstStyle/>
          <a:p>
            <a:pPr indent="0" marL="0">
              <a:buNone/>
            </a:pPr>
            <a:r>
              <a:rPr lang="en-US" sz="1150" dirty="0">
                <a:solidFill>
                  <a:srgbClr val="8FA6D9"/>
                </a:solidFill>
                <a:latin typeface="Calibri" pitchFamily="34" charset="0"/>
                <a:ea typeface="Calibri" pitchFamily="34" charset="-122"/>
                <a:cs typeface="Calibri" pitchFamily="34" charset="-120"/>
              </a:rPr>
              <a:t>compression stability</a:t>
            </a:r>
            <a:endParaRPr lang="en-US" sz="1150" dirty="0"/>
          </a:p>
        </p:txBody>
      </p:sp>
      <p:sp>
        <p:nvSpPr>
          <p:cNvPr id="11" name="Text 9"/>
          <p:cNvSpPr/>
          <p:nvPr/>
        </p:nvSpPr>
        <p:spPr>
          <a:xfrm>
            <a:off x="8869680" y="4663440"/>
            <a:ext cx="2560320" cy="548640"/>
          </a:xfrm>
          <a:prstGeom prst="rect">
            <a:avLst/>
          </a:prstGeom>
          <a:noFill/>
          <a:ln/>
        </p:spPr>
        <p:txBody>
          <a:bodyPr wrap="square" lIns="0" tIns="0" rIns="0" bIns="0" rtlCol="0" anchor="ctr"/>
          <a:lstStyle/>
          <a:p>
            <a:pPr indent="0" marL="0">
              <a:buNone/>
            </a:pPr>
            <a:r>
              <a:rPr lang="en-US" sz="3200" b="1" dirty="0">
                <a:solidFill>
                  <a:srgbClr val="CADCFC"/>
                </a:solidFill>
                <a:latin typeface="Cambria" pitchFamily="34" charset="0"/>
                <a:ea typeface="Cambria" pitchFamily="34" charset="-122"/>
                <a:cs typeface="Cambria" pitchFamily="34" charset="-120"/>
              </a:rPr>
              <a:t>23</a:t>
            </a:r>
            <a:endParaRPr lang="en-US" sz="3200" dirty="0"/>
          </a:p>
        </p:txBody>
      </p:sp>
      <p:sp>
        <p:nvSpPr>
          <p:cNvPr id="12" name="Text 10"/>
          <p:cNvSpPr/>
          <p:nvPr/>
        </p:nvSpPr>
        <p:spPr>
          <a:xfrm>
            <a:off x="8869680" y="5193792"/>
            <a:ext cx="2560320" cy="274320"/>
          </a:xfrm>
          <a:prstGeom prst="rect">
            <a:avLst/>
          </a:prstGeom>
          <a:noFill/>
          <a:ln/>
        </p:spPr>
        <p:txBody>
          <a:bodyPr wrap="square" lIns="0" tIns="0" rIns="0" bIns="0" rtlCol="0" anchor="ctr"/>
          <a:lstStyle/>
          <a:p>
            <a:pPr indent="0" marL="0">
              <a:buNone/>
            </a:pPr>
            <a:r>
              <a:rPr lang="en-US" sz="1150" dirty="0">
                <a:solidFill>
                  <a:srgbClr val="8FA6D9"/>
                </a:solidFill>
                <a:latin typeface="Calibri" pitchFamily="34" charset="0"/>
                <a:ea typeface="Calibri" pitchFamily="34" charset="-122"/>
                <a:cs typeface="Calibri" pitchFamily="34" charset="-120"/>
              </a:rPr>
              <a:t>report sections</a:t>
            </a:r>
            <a:endParaRPr lang="en-US" sz="1150" dirty="0"/>
          </a:p>
        </p:txBody>
      </p:sp>
      <p:sp>
        <p:nvSpPr>
          <p:cNvPr id="13" name="Text 11"/>
          <p:cNvSpPr/>
          <p:nvPr/>
        </p:nvSpPr>
        <p:spPr>
          <a:xfrm>
            <a:off x="502920" y="6053328"/>
            <a:ext cx="11155680" cy="310896"/>
          </a:xfrm>
          <a:prstGeom prst="rect">
            <a:avLst/>
          </a:prstGeom>
          <a:noFill/>
          <a:ln/>
        </p:spPr>
        <p:txBody>
          <a:bodyPr wrap="square" lIns="0" tIns="0" rIns="0" bIns="0" rtlCol="0" anchor="ctr"/>
          <a:lstStyle/>
          <a:p>
            <a:pPr indent="0" marL="0">
              <a:buNone/>
            </a:pPr>
            <a:r>
              <a:rPr lang="en-US" sz="1300" b="1" dirty="0">
                <a:solidFill>
                  <a:srgbClr val="8FA6D9"/>
                </a:solidFill>
                <a:latin typeface="Calibri" pitchFamily="34" charset="0"/>
                <a:ea typeface="Calibri" pitchFamily="34" charset="-122"/>
                <a:cs typeface="Calibri" pitchFamily="34" charset="-120"/>
              </a:rPr>
              <a:t>Team Algorythm  ·  SIH26_28  ·  Defence &amp; National Security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DeepTrace — SIH 2026 Round 2.2</dc:title>
  <dc:subject>PptxGenJS Presentation</dc:subject>
  <dc:creator>Team Algorythm — SIH26_28</dc:creator>
  <cp:lastModifiedBy>Team Algorythm — SIH26_28</cp:lastModifiedBy>
  <cp:revision>1</cp:revision>
  <dcterms:created xsi:type="dcterms:W3CDTF">2026-08-27T07:59:23Z</dcterms:created>
  <dcterms:modified xsi:type="dcterms:W3CDTF">2026-08-27T07:59:23Z</dcterms:modified>
</cp:coreProperties>
</file>